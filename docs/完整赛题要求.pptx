
<file path=[Content_Types].xml><?xml version="1.0" encoding="utf-8"?>
<Types xmlns="http://schemas.openxmlformats.org/package/2006/content-types">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50.svg" ContentType="image/svg+xml"/>
  <Override PartName="/ppt/media/image51.svg" ContentType="image/svg+xml"/>
  <Override PartName="/ppt/media/image52.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 id="2147483665" r:id="rId5"/>
  </p:sldMasterIdLst>
  <p:notesMasterIdLst>
    <p:notesMasterId r:id="rId8"/>
  </p:notesMasterIdLst>
  <p:sldIdLst>
    <p:sldId id="270" r:id="rId6"/>
    <p:sldId id="262" r:id="rId7"/>
    <p:sldId id="263" r:id="rId9"/>
    <p:sldId id="264" r:id="rId10"/>
    <p:sldId id="265" r:id="rId11"/>
    <p:sldId id="266" r:id="rId12"/>
    <p:sldId id="268" r:id="rId13"/>
    <p:sldId id="269"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67"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立峰" initials="立峰" lastIdx="0" clrIdx="0"/>
  <p:cmAuthor id="2" name="Mia Vida Villanueva" initials="MVV" lastIdx="0" clrIdx="1"/>
  <p:cmAuthor id="3" name="lenovo" initials="l" lastIdx="0" clrIdx="2"/>
  <p:cmAuthor id="4" name="Author" initials="A" lastIdx="0" clrIdx="3"/>
  <p:cmAuthor id="5" name="pubb" initials="p" lastIdx="0" clrIdx="4"/>
  <p:cmAuthor id="6" name="黎铁军" initials="黎" lastIdx="0" clrIdx="5"/>
  <p:cmAuthor id="7" name="fun4ken" initials="f" lastIdx="0" clrIdx="6"/>
  <p:cmAuthor id="8" name="chain" initials="c" lastIdx="0" clrIdx="7"/>
  <p:cmAuthor id="9" name="User" initials="U" lastIdx="0" clrIdx="8"/>
  <p:cmAuthor id="10" name="Windows 用户" initials="W" lastIdx="0" clrIdx="9"/>
  <p:cmAuthor id="11" name="扈益嘉" initials="扈" lastIdx="0" clrIdx="10"/>
  <p:cmAuthor id="12" name="44868" initials="4" lastIdx="0" clrIdx="11"/>
  <p:cmAuthor id="13" name="wangz" initials="w" lastIdx="0" clrIdx="12"/>
  <p:cmAuthor id="14" name="SUPERPETER YOUNG" initials="S" lastIdx="0" clrIdx="13"/>
  <p:cmAuthor id="15" name="mac" initials="m" lastIdx="0" clrIdx="14"/>
  <p:cmAuthor id="16" name="sony" initials="s" lastIdx="0" clrIdx="15"/>
  <p:cmAuthor id="17" name="RubyCC" initials="R" lastIdx="0" clrIdx="16"/>
  <p:cmAuthor id="18" name="特 皮" initials="特" lastIdx="0" clrIdx="17"/>
  <p:cmAuthor id="19" name="shaoxu li" initials="s" lastIdx="0" clrIdx="18"/>
  <p:cmAuthor id="20" name="cb" initials="c" lastIdx="0" clrIdx="19"/>
  <p:cmAuthor id="21" name="王佳然" initials="王" lastIdx="0" clrIdx="20"/>
  <p:cmAuthor id="22" name="tjky" initials="t" lastIdx="0" clrIdx="21"/>
  <p:cmAuthor id="23" name="TonyZhu" initials="T" lastIdx="0" clrIdx="22"/>
  <p:cmAuthor id="24" name="张燕" initials="张" lastIdx="0" clrIdx="23"/>
  <p:cmAuthor id="25" name="张 强" initials="张" lastIdx="0" clrIdx="24"/>
  <p:cmAuthor id="26" name="Lee" initials="L" lastIdx="0" clrIdx="25"/>
  <p:cmAuthor id="27" name="王丽（IT）" initials="王" lastIdx="0" clrIdx="26"/>
  <p:cmAuthor id="28" name="作者" initials="A" lastIdx="0" clrIdx="27"/>
  <p:cmAuthor id="29" name="Ivan" initials="I" lastIdx="0" clrIdx="28"/>
  <p:cmAuthor id="30" name="Lee Alwin" initials="LA" lastIdx="0" clrIdx="29"/>
  <p:cmAuthor id="31" name="yang" initials="y" lastIdx="0" clrIdx="30"/>
  <p:cmAuthor id="32" name="沈霄雷" initials="沈" lastIdx="0" clrIdx="31"/>
  <p:cmAuthor id="33" name="SF" initials="S" lastIdx="0" clrIdx="32"/>
  <p:cmAuthor id="34" name="sammi" initials="s" lastIdx="0" clrIdx="33"/>
  <p:cmAuthor id="35" name="15201" initials="1" lastIdx="0" clrIdx="34"/>
  <p:cmAuthor id="36" name="Jeff.Chen84@outlook.com" initials="J" lastIdx="0" clrIdx="35"/>
  <p:cmAuthor id="37" name="贺 杰" initials="贺" lastIdx="0" clrIdx="36"/>
  <p:cmAuthor id="38" name="Kewei Xiao" initials="KX" lastIdx="0" clrIdx="37"/>
  <p:cmAuthor id="39" name="Chen Jeff" initials="CJ" lastIdx="0" clrIdx="38"/>
  <p:cmAuthor id="40" name="韩 雨薇" initials="韩" lastIdx="0" clrIdx="39"/>
  <p:cmAuthor id="41" name="戴 清泺" initials="戴" lastIdx="0" clrIdx="40"/>
  <p:cmAuthor id="42" name="NN" initials="NN" lastIdx="0" clrIdx="41"/>
  <p:cmAuthor id="43" name="jialuo" initials="j" lastIdx="0" clrIdx="42"/>
  <p:cmAuthor id="44" name="毛雪峰" initials="毛" lastIdx="0" clrIdx="43"/>
  <p:cmAuthor id="45" name="szjpony" initials="s" lastIdx="0" clrIdx="44"/>
  <p:cmAuthor id="46" name="周琪" initials="周" lastIdx="0" clrIdx="45"/>
  <p:cmAuthor id="47" name="谢学斌" initials="谢" lastIdx="0" clrIdx="46"/>
  <p:cmAuthor id="48" name="qm" initials="q" lastIdx="0" clrIdx="47"/>
  <p:cmAuthor id="49" name="ida" initials="i" lastIdx="0" clrIdx="48"/>
  <p:cmAuthor id="50" name="K86099" initials="K" lastIdx="0" clrIdx="49"/>
  <p:cmAuthor id="51" name="thinkbap" initials="t" lastIdx="0" clrIdx="50"/>
  <p:cmAuthor id="52" name="清泺 戴" initials="清戴" lastIdx="0" clrIdx="51"/>
  <p:cmAuthor id="53" name="lifuyou" initials="l" lastIdx="0" clrIdx="52"/>
  <p:cmAuthor id="54" name="未知用户3" initials="未" lastIdx="0" clrIdx="53"/>
  <p:cmAuthor id="55" name="武敏" initials="武" lastIdx="0" clrIdx="54"/>
  <p:cmAuthor id="56" name="ZYSR-XY" initials="Z" lastIdx="0" clrIdx="55"/>
  <p:cmAuthor id="57" name="刘颖" initials="刘" lastIdx="0" clrIdx="56"/>
  <p:cmAuthor id="58" name="Chen, Naikang A." initials="C" lastIdx="0" clrIdx="57"/>
  <p:cmAuthor id="59" name="song song" initials="s" lastIdx="0" clrIdx="58"/>
  <p:cmAuthor id="60" name="曾阿婷" initials="曾" lastIdx="0" clrIdx="59"/>
  <p:cmAuthor id="61" name="yubaoquan" initials="y" lastIdx="0" clrIdx="60"/>
  <p:cmAuthor id="62" name="ting yue" initials="t" lastIdx="0" clrIdx="61"/>
  <p:cmAuthor id="63" name="未知用户18" initials="" lastIdx="0" clrIdx="62"/>
  <p:cmAuthor id="64" name="david bin" initials="d" lastIdx="0" clrIdx="63"/>
  <p:cmAuthor id="65" name="MLOONG" initials="M" lastIdx="0" clrIdx="64"/>
  <p:cmAuthor id="66" name="未知用户4" initials="未" lastIdx="0" clrIdx="65"/>
  <p:cmAuthor id="67" name="未知用户5" initials="未" lastIdx="0" clrIdx="66"/>
  <p:cmAuthor id="68" name="未知用户6" initials="未" lastIdx="0" clrIdx="67"/>
  <p:cmAuthor id="69" name="於宝泉" initials="於" lastIdx="0" clrIdx="68"/>
  <p:cmAuthor id="70" name="levy" initials="l" lastIdx="0" clrIdx="69"/>
  <p:cmAuthor id="71" name="grace" initials="g" lastIdx="0" clrIdx="70"/>
  <p:cmAuthor id="72" name="刘思蜀" initials="刘" lastIdx="0" clrIdx="71"/>
  <p:cmAuthor id="73" name=" " initials=" " lastIdx="0" clrIdx="72"/>
  <p:cmAuthor id="74" name="Liu Dong" initials="L" lastIdx="0" clrIdx="73"/>
  <p:cmAuthor id="75" name="Zhao Jing" initials="Z" lastIdx="0" clrIdx="74"/>
  <p:cmAuthor id="76" name="先生 叶" initials="先" lastIdx="0" clrIdx="75"/>
  <p:cmAuthor id="77" name="YANQING BAO" initials="Y" lastIdx="0" clrIdx="76"/>
  <p:cmAuthor id="78" name="方方" initials="方" lastIdx="0" clrIdx="77"/>
  <p:cmAuthor id="79" name="Roet-Reinking, Nathalie" initials="R" lastIdx="0" clrIdx="78"/>
  <p:cmAuthor id="80" name="张金龙" initials="张" lastIdx="0" clrIdx="79"/>
  <p:cmAuthor id="81" name="祝惠蓉" initials="祝" lastIdx="0" clrIdx="80"/>
  <p:cmAuthor id="82" name="zhq" initials="z" lastIdx="0" clrIdx="81"/>
  <p:cmAuthor id="83" name="张琦" initials="zq" lastIdx="0" clrIdx="82"/>
  <p:cmAuthor id="84" name="朱粒" initials="朱" lastIdx="0" clrIdx="83"/>
  <p:cmAuthor id="85" name="Sky123.Org" initials="S" lastIdx="0" clrIdx="84"/>
  <p:cmAuthor id="86" name="H1900" initials="H" lastIdx="0" clrIdx="85"/>
  <p:cmAuthor id="87" name="王航" initials="王" lastIdx="0" clrIdx="86"/>
  <p:cmAuthor id="88" name="回校" initials="回" lastIdx="0" clrIdx="87"/>
  <p:cmAuthor id="89" name="未知用户9" initials="未" lastIdx="0" clrIdx="88"/>
  <p:cmAuthor id="90" name="Tracy" initials="T" lastIdx="0" clrIdx="89"/>
  <p:cmAuthor id="91" name="yangdi" initials="y" lastIdx="0" clrIdx="90"/>
  <p:cmAuthor id="92" name="Microsoft Office 用户" initials="M" lastIdx="0" clrIdx="91"/>
  <p:cmAuthor id="93" name="sunxp002" initials="s" lastIdx="0" clrIdx="92"/>
  <p:cmAuthor id="94" name="吴晓梅" initials="吴" lastIdx="0" clrIdx="93"/>
  <p:cmAuthor id="95" name="徐 宁" initials="徐" lastIdx="0" clrIdx="94"/>
  <p:cmAuthor id="96" name="QBOSSCHEN" initials="Q" lastIdx="0" clrIdx="95"/>
  <p:cmAuthor id="97" name="未知用户33" initials="未" lastIdx="0" clrIdx="96"/>
  <p:cmAuthor id="98" name="未知用户34" initials="未" lastIdx="0" clrIdx="97"/>
  <p:cmAuthor id="99" name="pangyt" initials="p" lastIdx="0" clrIdx="98"/>
  <p:cmAuthor id="100" name="未知用户37" initials="未" lastIdx="0" clrIdx="99"/>
  <p:cmAuthor id="101" name="未知用户38" initials="未" lastIdx="0" clrIdx="100"/>
  <p:cmAuthor id="102" name="未知用户39" initials="未" lastIdx="0" clrIdx="101"/>
  <p:cmAuthor id="103" name="未知用户40" initials="未" lastIdx="0" clrIdx="102"/>
  <p:cmAuthor id="104" name="pangxw01" initials="p" lastIdx="0" clrIdx="103"/>
  <p:cmAuthor id="105" name="Calvin G" initials="C" lastIdx="0" clrIdx="104"/>
  <p:cmAuthor id="106" name="张莹" initials="张" lastIdx="0" clrIdx="105"/>
  <p:cmAuthor id="107" name="MC SYSTEM" initials="M" lastIdx="0" clrIdx="106"/>
  <p:cmAuthor id="108" name="spring_ren" initials="s" lastIdx="0" clrIdx="107"/>
  <p:cmAuthor id="109" name="viola_yang" initials="v" lastIdx="0" clrIdx="108"/>
  <p:cmAuthor id="110" name="未知用户89" initials="未" lastIdx="0" clrIdx="109"/>
  <p:cmAuthor id="111" name="李璐---寿险总公司营销管理部" initials="李" lastIdx="0" clrIdx="110"/>
  <p:cmAuthor id="112" name="xuqing" initials="x" lastIdx="0" clrIdx="111"/>
  <p:cmAuthor id="113" name="王顶" initials="王" lastIdx="0" clrIdx="112"/>
  <p:cmAuthor id="114" name="minty minty" initials="m" lastIdx="0" clrIdx="113"/>
  <p:cmAuthor id="115" name="松 李" initials="松" lastIdx="0" clrIdx="114"/>
  <p:cmAuthor id="116" name="CHEN LONG" initials="C" lastIdx="0" clrIdx="115"/>
  <p:cmAuthor id="117" name="彬 罗" initials="彬" lastIdx="0" clrIdx="116"/>
  <p:cmAuthor id="118" name="cuizijin01" initials="c" lastIdx="0" clrIdx="117"/>
  <p:cmAuthor id="119" name="罗彬" initials="罗" lastIdx="0" clrIdx="118"/>
  <p:cmAuthor id="120" name="刘盛潮" initials="刘" lastIdx="0" clrIdx="119"/>
  <p:cmAuthor id="121" name="1 mac" initials="1" lastIdx="0" clrIdx="120"/>
  <p:cmAuthor id="122" name="未知用户86" initials="未" lastIdx="0" clrIdx="121"/>
  <p:cmAuthor id="123" name="新萝卜家园" initials="新" lastIdx="0" clrIdx="122"/>
  <p:cmAuthor id="124" name="songchunhua" initials="s" lastIdx="0" clrIdx="123"/>
  <p:cmAuthor id="125" name="宋春华" initials="宋" lastIdx="0" clrIdx="124"/>
  <p:cmAuthor id="126" name="lixiaosong" initials="l" lastIdx="0" clrIdx="125"/>
  <p:cmAuthor id="127" name="未知用户78" initials="未" lastIdx="0" clrIdx="126"/>
  <p:cmAuthor id="128" name="马妍" initials="马" lastIdx="0" clrIdx="127"/>
  <p:cmAuthor id="129" name="yanqiqi-lgd" initials="y" lastIdx="0" clrIdx="128"/>
  <p:cmAuthor id="130" name="番茄花园" initials="番" lastIdx="0" clrIdx="129"/>
  <p:cmAuthor id="131" name="caoyq0624" initials="c" lastIdx="0" clrIdx="130"/>
  <p:cmAuthor id="132" name="方朝军/产品推动室/产品开发推广部/总公司" initials="方" lastIdx="0" clrIdx="131"/>
  <p:cmAuthor id="133" name="zq" initials="z" lastIdx="0" clrIdx="132"/>
  <p:cmAuthor id="134" name="未知用户28" initials="未" lastIdx="0" clrIdx="133"/>
  <p:cmAuthor id="135" name="temp" initials="t" lastIdx="0" clrIdx="134"/>
  <p:cmAuthor id="136" name="Q Q" initials="Q" lastIdx="0" clrIdx="135"/>
  <p:cmAuthor id="137" name="柳 先涛" initials="柳" lastIdx="0" clrIdx="136"/>
  <p:cmAuthor id="138" name="liquanxi" initials="l" lastIdx="0" clrIdx="137"/>
  <p:cmAuthor id="139" name="Tracy Chen" initials="T" lastIdx="0" clrIdx="138"/>
  <p:cmAuthor id="140" name="刘浩" initials="刘" lastIdx="0" clrIdx="139"/>
  <p:cmAuthor id="141" name="dongwc0205" initials="d" lastIdx="0" clrIdx="140"/>
  <p:cmAuthor id="142" name="yuancc04" initials="y" lastIdx="0" clrIdx="141"/>
  <p:cmAuthor id="143" name="he zhirui" initials="hz" lastIdx="0" clrIdx="142"/>
  <p:cmAuthor id="144" name="Xinyi" initials="X" lastIdx="0" clrIdx="143"/>
  <p:cmAuthor id="145" name="伟哥" initials="伟哥" lastIdx="0" clrIdx="144"/>
  <p:cmAuthor id="146" name="万户网络" initials="万" lastIdx="0" clrIdx="145"/>
  <p:cmAuthor id="147" name="YANGS-PC" initials="Y" lastIdx="0" clrIdx="146"/>
  <p:cmAuthor id="148" name="未知用户92" initials="未" lastIdx="0" clrIdx="147"/>
  <p:cmAuthor id="149" name="何慧丽" initials="何" lastIdx="0" clrIdx="148"/>
  <p:cmAuthor id="150" name="袁 玥挺" initials="袁" lastIdx="0" clrIdx="149"/>
  <p:cmAuthor id="151" name="未知用户19" initials="未" lastIdx="0" clrIdx="150"/>
  <p:cmAuthor id="152" name="未知用户12" initials="未" lastIdx="0" clrIdx="151"/>
  <p:cmAuthor id="153" name="hy-tkyl" initials="h" lastIdx="0" clrIdx="152"/>
  <p:cmAuthor id="154" name="49254" initials="4" lastIdx="0" clrIdx="153"/>
  <p:cmAuthor id="155" name="未知用户23" initials="未" lastIdx="0" clrIdx="154"/>
  <p:cmAuthor id="156" name="未知用户27" initials="未" lastIdx="0" clrIdx="155"/>
  <p:cmAuthor id="157" name="未知用户29" initials="未知用户29" lastIdx="0" clrIdx="156"/>
  <p:cmAuthor id="158" name="未知用户26" initials="未" lastIdx="0" clrIdx="157"/>
  <p:cmAuthor id="159" name="未知用户31" initials="未知用户31" lastIdx="0" clrIdx="158"/>
  <p:cmAuthor id="160" name="刘莎" initials="刘" lastIdx="0" clrIdx="159"/>
  <p:cmAuthor id="161" name="未知用户10" initials="未" lastIdx="0" clrIdx="160"/>
  <p:cmAuthor id="162" name="ydx2003new@163.com" initials="y" lastIdx="0" clrIdx="161"/>
  <p:cmAuthor id="163" name="岳文甲" initials="岳" lastIdx="0" clrIdx="162"/>
  <p:cmAuthor id="164" name="91huhang" initials="9" lastIdx="0" clrIdx="163"/>
  <p:cmAuthor id="165" name="Ray" initials="R" lastIdx="0" clrIdx="164"/>
  <p:cmAuthor id="166" name="Ms" initials="M" lastIdx="0" clrIdx="165"/>
  <p:cmAuthor id="167" name="未知用户80" initials="未" lastIdx="0" clrIdx="166"/>
  <p:cmAuthor id="168" name="ProMedican" initials="P" lastIdx="0" clrIdx="167"/>
  <p:cmAuthor id="169" name="侯清英" initials="侯" lastIdx="0" clrIdx="168"/>
  <p:cmAuthor id="170" name="齐登宝" initials="齐" lastIdx="0" clrIdx="169"/>
  <p:cmAuthor id="171" name="Student" initials="S" lastIdx="0" clrIdx="170"/>
  <p:cmAuthor id="172" name="未知用户47" initials="未" lastIdx="0" clrIdx="171"/>
  <p:cmAuthor id="173" name="jiansheng li" initials="j" lastIdx="0" clrIdx="172"/>
  <p:cmAuthor id="174" name="李增增" initials="李" lastIdx="0" clrIdx="173"/>
  <p:cmAuthor id="175" name="ht guo" initials="h" lastIdx="0" clrIdx="174"/>
  <p:cmAuthor id="176" name="梁潇-lhq" initials="梁" lastIdx="0" clrIdx="175"/>
  <p:cmAuthor id="177" name="超乎想象" initials="超" lastIdx="0" clrIdx="176"/>
  <p:cmAuthor id="178" name="未知用户52" initials="未" lastIdx="0" clrIdx="177"/>
  <p:cmAuthor id="179" name="未知用户85" initials="未" lastIdx="0" clrIdx="178"/>
  <p:cmAuthor id="180" name="Windows" initials="W" lastIdx="0" clrIdx="179"/>
  <p:cmAuthor id="181" name="547716734@qq.com" initials="5" lastIdx="0" clrIdx="180"/>
  <p:cmAuthor id="182" name="郭书含" initials="郭" lastIdx="0" clrIdx="181"/>
  <p:cmAuthor id="183" name="sivaram" initials="s" lastIdx="0" clrIdx="182"/>
  <p:cmAuthor id="184" name="刘淼" initials="刘" lastIdx="0" clrIdx="183"/>
  <p:cmAuthor id="185" name="Office 365" initials="O" lastIdx="0" clrIdx="184"/>
  <p:cmAuthor id="186" name="1716266060@qq.com" initials="1" lastIdx="0" clrIdx="185"/>
  <p:cmAuthor id="187" name="程学春 cxc" initials="程" lastIdx="0" clrIdx="186"/>
  <p:cmAuthor id="188" name="chenli8" initials="c" lastIdx="0" clrIdx="187"/>
  <p:cmAuthor id="189" name="448097321@qq.com" initials="4" lastIdx="0" clrIdx="188"/>
  <p:cmAuthor id="190" name="zhumin1" initials="z" lastIdx="0" clrIdx="189"/>
  <p:cmAuthor id="191" name="FS" initials="F" lastIdx="0" clrIdx="190"/>
  <p:cmAuthor id="192" name="Temp" initials="T" lastIdx="0" clrIdx="191"/>
  <p:cmAuthor id="193" name="刘岸亮" initials="刘" lastIdx="0" clrIdx="192"/>
  <p:cmAuthor id="194" name="雍中婧" initials="雍" lastIdx="0" clrIdx="193"/>
  <p:cmAuthor id="195" name="任斐" initials="任" lastIdx="0" clrIdx="194"/>
  <p:cmAuthor id="196" name="肖 雷" initials="肖" lastIdx="0" clrIdx="195"/>
  <p:cmAuthor id="197" name="lin lin" initials="l" lastIdx="0" clrIdx="196"/>
  <p:cmAuthor id="198" name="邓蓉榕" initials="邓" lastIdx="0" clrIdx="197"/>
  <p:cmAuthor id="199" name="Sky.Wang" initials="S" lastIdx="0" clrIdx="198"/>
  <p:cmAuthor id="200" name="时方赛" initials="时" lastIdx="0" clrIdx="199"/>
  <p:cmAuthor id="201" name="wangll132" initials="w" lastIdx="0" clrIdx="200"/>
  <p:cmAuthor id="202" name="BA-俞阳" initials="authorId_4447802" lastIdx="0" clrIdx="201"/>
  <p:cmAuthor id="203" name="Microsoft Office User" initials="MOU" lastIdx="0" clrIdx="202"/>
  <p:cmAuthor id="204" name="张 步伟" initials="张" lastIdx="0" clrIdx="203"/>
  <p:cmAuthor id="205" name="kylin3" initials="k" lastIdx="0" clrIdx="204"/>
  <p:cmAuthor id="206" name="未知用户93" initials="" lastIdx="0" clrIdx="205"/>
  <p:cmAuthor id="207" name="未知用户90" initials="" lastIdx="0" clrIdx="206"/>
  <p:cmAuthor id="208" name="未知用户91" initials="" lastIdx="0" clrIdx="207"/>
  <p:cmAuthor id="209" name="未知用户74" initials="" lastIdx="0" clrIdx="208"/>
  <p:cmAuthor id="210" name="未知用户75" initials="" lastIdx="0" clrIdx="209"/>
  <p:cmAuthor id="211" name="未知用户76" initials="" lastIdx="0" clrIdx="210"/>
  <p:cmAuthor id="212" name="未知用户77" initials="" lastIdx="0" clrIdx="211"/>
  <p:cmAuthor id="213" name="未知用户79" initials="" lastIdx="0" clrIdx="212"/>
  <p:cmAuthor id="214" name="Harry xu" initials="" lastIdx="0" clrIdx="213"/>
  <p:cmAuthor id="215" name="未知用户111" initials="未" lastIdx="0" clrIdx="214"/>
  <p:cmAuthor id="216" name="殷格非" initials="殷" lastIdx="0" clrIdx="215"/>
  <p:cmAuthor id="217" name="z r" initials="zr" lastIdx="0" clrIdx="216"/>
  <p:cmAuthor id="218" name="lc xue" initials="lx" lastIdx="0" clrIdx="217"/>
  <p:cmAuthor id="219" name="ma yanru" initials="my" lastIdx="0" clrIdx="218"/>
  <p:cmAuthor id="220" name="user" initials="u" lastIdx="0" clrIdx="219"/>
  <p:cmAuthor id="221" name="群智集" initials="群" lastIdx="0" clrIdx="220"/>
  <p:cmAuthor id="222" name="郏 鹏" initials="郏" lastIdx="0" clrIdx="221"/>
  <p:cmAuthor id="223" name="郏鹏" initials="M" lastIdx="0" clrIdx="222"/>
  <p:cmAuthor id="224" name="未知的使用者45" initials="" lastIdx="0" clrIdx="223"/>
  <p:cmAuthor id="225" name="LeeElva" initials="" lastIdx="0" clrIdx="224"/>
  <p:cmAuthor id="226" name="未知的使用者117" initials="" lastIdx="0" clrIdx="225"/>
  <p:cmAuthor id="227" name="未知的使用者33" initials="" lastIdx="0" clrIdx="226"/>
  <p:cmAuthor id="228" name="未知的使用者46" initials="" lastIdx="0" clrIdx="227"/>
  <p:cmAuthor id="229" name="未知的使用者9" initials="" lastIdx="0" clrIdx="228"/>
  <p:cmAuthor id="230" name="未知用户62" initials="" lastIdx="0" clrIdx="229"/>
  <p:cmAuthor id="231" name="yuanzh" initials="" lastIdx="0" clrIdx="230"/>
  <p:cmAuthor id="232" name="不明使用者57" initials="" lastIdx="0" clrIdx="231"/>
  <p:cmAuthor id="233" name="未知的使用者31" initials="" lastIdx="0" clrIdx="232"/>
  <p:cmAuthor id="234" name="不明使用者20" initials="" lastIdx="0" clrIdx="233"/>
  <p:cmAuthor id="235" name="小延魔法师" initials="小" lastIdx="0" clrIdx="234"/>
  <p:cmAuthor id="236" name="lmj lmj" initials="ll" lastIdx="0" clrIdx="235"/>
  <p:cmAuthor id="237" name="CMCC" initials="C" lastIdx="0" clrIdx="236"/>
  <p:cmAuthor id="238" name="唐可欣" initials="" lastIdx="0" clrIdx="237"/>
  <p:cmAuthor id="239" name="未知的使用者41" initials="" lastIdx="0" clrIdx="238"/>
  <p:cmAuthor id="240" name="未知的使用者72" initials="" lastIdx="0" clrIdx="239"/>
  <p:cmAuthor id="241" name="未知的使用者48" initials="" lastIdx="0" clrIdx="240"/>
  <p:cmAuthor id="242" name="未知的使用者104" initials="" lastIdx="0" clrIdx="241"/>
  <p:cmAuthor id="243" name="未知的使用者39" initials="未" lastIdx="0" clrIdx="242"/>
  <p:cmAuthor id="244" name="Shawna Strickland" initials="" lastIdx="0" clrIdx="243"/>
  <p:cmAuthor id="245" name="未知的使用者36" initials="" lastIdx="0" clrIdx="244"/>
  <p:cmAuthor id="246" name="Daniel Wuu" initials="" lastIdx="0" clrIdx="245"/>
  <p:cmAuthor id="247" name="未知用户56" initials="" lastIdx="0" clrIdx="246"/>
  <p:cmAuthor id="248" name="未知的使用者14" initials="" lastIdx="0" clrIdx="247"/>
  <p:cmAuthor id="249" name="仇怿俊" initials="仇" lastIdx="0" clrIdx="248"/>
  <p:cmAuthor id="250" name="韩雨_UBvibq63" initials="authorId_353158055" lastIdx="0" clrIdx="249"/>
  <p:cmAuthor id="251" name="赵培勋_3IVrI7J7" initials="authorId_965678369" lastIdx="0" clrIdx="250"/>
  <p:cmAuthor id="252" name="Ashley Eberenz" initials="" lastIdx="0" clrIdx="251"/>
  <p:cmAuthor id="253" name="施丽勤_uMzuu63y" initials="authorId_279398808" lastIdx="0" clrIdx="252"/>
  <p:cmAuthor id="254" name="不明使用者19" initials="" lastIdx="0" clrIdx="253"/>
  <p:cmAuthor id="255" name="peng Terry" initials="pT" lastIdx="0" clrIdx="254"/>
  <p:cmAuthor id="256" name="qiantong" initials="" lastIdx="0" clrIdx="255"/>
  <p:cmAuthor id="257" name="未知的使用者74" initials="" lastIdx="0" clrIdx="256"/>
  <p:cmAuthor id="258" name="未知的使用者23" initials="" lastIdx="0" clrIdx="257"/>
  <p:cmAuthor id="259" name="未知的使用者1" initials="" lastIdx="0" clrIdx="258"/>
  <p:cmAuthor id="260" name="116304" initials="" lastIdx="0" clrIdx="259"/>
  <p:cmAuthor id="261" name="R affer" initials="" lastIdx="0" clrIdx="260"/>
  <p:cmAuthor id="262" name="qihua-DCMS" initials="" lastIdx="0" clrIdx="261"/>
  <p:cmAuthor id="263" name="未知用户55" initials="" lastIdx="0" clrIdx="262"/>
  <p:cmAuthor id="264" name="未知的使用者95" initials="" lastIdx="0" clrIdx="263"/>
  <p:cmAuthor id="265" name="未知的使用者32" initials="" lastIdx="0" clrIdx="264"/>
  <p:cmAuthor id="266" name="未知的使用者49" initials="" lastIdx="0" clrIdx="265"/>
  <p:cmAuthor id="267" name="Unknown User26" initials="U" lastIdx="0" clrIdx="266"/>
  <p:cmAuthor id="268" name="yuexuejun" initials="" lastIdx="0" clrIdx="267"/>
  <p:cmAuthor id="269" name="未知的使用者71" initials="" lastIdx="0" clrIdx="268"/>
  <p:cmAuthor id="270" name="未知的使用者105" initials="" lastIdx="0" clrIdx="269"/>
  <p:cmAuthor id="271" name="Unknown User70" initials="" lastIdx="0" clrIdx="270"/>
  <p:cmAuthor id="272" name="clinchen" initials="" lastIdx="0" clrIdx="271"/>
  <p:cmAuthor id="273" name="hanjuncompany" initials="" lastIdx="0" clrIdx="272"/>
  <p:cmAuthor id="274" name="kathy chen" initials="" lastIdx="0" clrIdx="273"/>
  <p:cmAuthor id="275" name="黄晓平" initials="黄" lastIdx="0" clrIdx="274"/>
  <p:cmAuthor id="276" name="未知的使用者63" initials="" lastIdx="0" clrIdx="275"/>
  <p:cmAuthor id="277" name="徐琳00159163" initials="徐琳00159163" lastIdx="0" clrIdx="276"/>
  <p:cmAuthor id="278" name="未知的使用者64" initials="" lastIdx="0" clrIdx="277"/>
  <p:cmAuthor id="279" name="未知的使用者47" initials="" lastIdx="0" clrIdx="278"/>
  <p:cmAuthor id="280" name="未知的使用者60" initials="" lastIdx="0" clrIdx="279"/>
  <p:cmAuthor id="281" name="未知的使用者59" initials="" lastIdx="0" clrIdx="280"/>
  <p:cmAuthor id="282" name="未知的使用者54" initials="" lastIdx="0" clrIdx="281"/>
  <p:cmAuthor id="283" name="未知的使用者66" initials="" lastIdx="0" clrIdx="282"/>
  <p:cmAuthor id="284" name="未知的使用者65" initials="" lastIdx="0" clrIdx="283"/>
  <p:cmAuthor id="285" name="未知的使用者106" initials="" lastIdx="0" clrIdx="284"/>
  <p:cmAuthor id="286" name="未知的使用者107" initials="" lastIdx="0" clrIdx="285"/>
  <p:cmAuthor id="287" name="未知的使用者108" initials="" lastIdx="0" clrIdx="286"/>
  <p:cmAuthor id="288" name="未知的使用者86" initials="" lastIdx="0" clrIdx="287"/>
  <p:cmAuthor id="289" name="未知的使用者116" initials="" lastIdx="0" clrIdx="288"/>
  <p:cmAuthor id="290" name="未知的使用者44" initials="" lastIdx="0" clrIdx="289"/>
  <p:cmAuthor id="291" name="未知的使用者37" initials="" lastIdx="0" clrIdx="290"/>
  <p:cmAuthor id="292" name="未知的使用者126" initials="" lastIdx="0" clrIdx="291"/>
  <p:cmAuthor id="293" name="未知的使用者127" initials="" lastIdx="0" clrIdx="292"/>
  <p:cmAuthor id="294" name="未知的使用者128" initials="" lastIdx="0" clrIdx="293"/>
  <p:cmAuthor id="295" name="未知的使用者124" initials="" lastIdx="0" clrIdx="294"/>
  <p:cmAuthor id="296" name="未知的使用者125" initials="" lastIdx="0" clrIdx="295"/>
  <p:cmAuthor id="297" name="Sara Chen" initials="" lastIdx="0" clrIdx="296"/>
  <p:cmAuthor id="298" name="huang gerrard" initials="" lastIdx="0" clrIdx="297"/>
  <p:cmAuthor id="299" name="未知用户170" initials="" lastIdx="0" clrIdx="298"/>
  <p:cmAuthor id="300" name="未知用户171" initials="" lastIdx="0" clrIdx="299"/>
  <p:cmAuthor id="301" name="未知用户172" initials="" lastIdx="0" clrIdx="300"/>
  <p:cmAuthor id="302" name="未知用户173" initials="" lastIdx="0" clrIdx="301"/>
  <p:cmAuthor id="303" name="未知用户149" initials="" lastIdx="0" clrIdx="302"/>
  <p:cmAuthor id="304" name="未知用户150" initials="" lastIdx="0" clrIdx="303"/>
  <p:cmAuthor id="305" name="未知用户151" initials="" lastIdx="0" clrIdx="304"/>
  <p:cmAuthor id="306" name="未知用户152" initials="" lastIdx="0" clrIdx="305"/>
  <p:cmAuthor id="307" name="未知用户153" initials="" lastIdx="0" clrIdx="306"/>
  <p:cmAuthor id="308" name="未知用户154" initials="" lastIdx="0" clrIdx="307"/>
  <p:cmAuthor id="309" name="未知用户155" initials="" lastIdx="0" clrIdx="308"/>
  <p:cmAuthor id="310" name="未知用户41" initials="" lastIdx="0" clrIdx="309"/>
  <p:cmAuthor id="311" name="未知用户44" initials="" lastIdx="0" clrIdx="310"/>
  <p:cmAuthor id="312" name="未知用户45" initials="" lastIdx="0" clrIdx="311"/>
  <p:cmAuthor id="313" name="未知用户156" initials="" lastIdx="0" clrIdx="312"/>
  <p:cmAuthor id="314" name="未知用户64" initials="" lastIdx="0" clrIdx="313"/>
  <p:cmAuthor id="315" name="未知用户65" initials="" lastIdx="0" clrIdx="314"/>
  <p:cmAuthor id="316" name="未知用户68" initials="" lastIdx="0" clrIdx="315"/>
  <p:cmAuthor id="317" name="未知用户69" initials="" lastIdx="0" clrIdx="316"/>
  <p:cmAuthor id="318" name="未知用户70" initials="" lastIdx="0" clrIdx="317"/>
  <p:cmAuthor id="319" name="未知用户71" initials="" lastIdx="0" clrIdx="318"/>
  <p:cmAuthor id="320" name="未知用户72" initials="" lastIdx="0" clrIdx="319"/>
  <p:cmAuthor id="321" name="未知用户73" initials="" lastIdx="0" clrIdx="320"/>
  <p:cmAuthor id="322" name="未知用户49" initials="" lastIdx="0" clrIdx="321"/>
  <p:cmAuthor id="323" name="未知用户50" initials="" lastIdx="0" clrIdx="322"/>
  <p:cmAuthor id="324" name="MA15" initials="" lastIdx="0" clrIdx="323"/>
  <p:cmAuthor id="325" name="未知用户53" initials="" lastIdx="0" clrIdx="324"/>
  <p:cmAuthor id="326" name="未知用户96" initials="" lastIdx="0" clrIdx="325"/>
  <p:cmAuthor id="327" name="未知用户48" initials="" lastIdx="0" clrIdx="326"/>
  <p:cmAuthor id="328" name="Xin Wang (IB)" initials="X" lastIdx="0" clrIdx="327"/>
  <p:cmAuthor id="329" name="未知用户97" initials="" lastIdx="0" clrIdx="328"/>
  <p:cmAuthor id="330" name="未知用户43" initials="" lastIdx="0" clrIdx="329"/>
  <p:cmAuthor id="331" name="未知用户100" initials="" lastIdx="0" clrIdx="330"/>
  <p:cmAuthor id="332" name="未知用户101" initials="" lastIdx="0" clrIdx="331"/>
  <p:cmAuthor id="333" name="韩雨" initials="韩" lastIdx="0" clrIdx="332"/>
  <p:cmAuthor id="334" name="未知用户32" initials="" lastIdx="0" clrIdx="333"/>
  <p:cmAuthor id="335" name="未知用户42" initials="" lastIdx="0" clrIdx="334"/>
  <p:cmAuthor id="336" name="未知的使用者109" initials="" lastIdx="0" clrIdx="335"/>
  <p:cmAuthor id="337" name="未知的使用者122" initials="" lastIdx="0" clrIdx="336"/>
  <p:cmAuthor id="338" name="未知的使用者123" initials="" lastIdx="0" clrIdx="337"/>
  <p:cmAuthor id="339" name="施普希（菜菜）" initials="施" lastIdx="0" clrIdx="338"/>
  <p:cmAuthor id="340" name="AGK" initials="AGK" lastIdx="0" clrIdx="339"/>
  <p:cmAuthor id="341" name="曾蓓/贝贝" initials="曾" lastIdx="0" clrIdx="340"/>
  <p:cmAuthor id="342" name="Windows User" initials="WU" lastIdx="0" clrIdx="341"/>
  <p:cmAuthor id="343" name="挚爱一生♥祺" initials="挚" lastIdx="0" clrIdx="342"/>
  <p:cmAuthor id="344" name="WPS_1678941670" initials="W" lastIdx="0" clrIdx="343"/>
  <p:cmAuthor id="345" name="he wen" initials="hw" lastIdx="0" clrIdx="344"/>
  <p:cmAuthor id="346" name="未知用户35" initials="未" lastIdx="0" clrIdx="345"/>
  <p:cmAuthor id="347" name="Nova" initials="N" lastIdx="0" clrIdx="346"/>
  <p:cmAuthor id="348" name="renyina" initials="r" lastIdx="0" clrIdx="347"/>
  <p:cmAuthor id="349" name="chenmin" initials="c" lastIdx="0" clrIdx="348"/>
  <p:cmAuthor id="350" name="tianyuan@cmhi.cmcc" initials="tianyuan@cmhi.cmcc" lastIdx="0" clrIdx="349"/>
  <p:cmAuthor id="351" name="mashan@cmhi.cmcc" initials="mashan@cmhi.cmcc" lastIdx="0" clrIdx="350"/>
  <p:cmAuthor id="352" name="lvbo@cmhi.cmcc" initials="lvbo@cmhi.cmcc" lastIdx="0" clrIdx="351"/>
  <p:cmAuthor id="353" name="wangxinran" initials="w" lastIdx="0" clrIdx="352"/>
  <p:cmAuthor id="354" name="zhaoqi" initials="z" lastIdx="0" clrIdx="353"/>
  <p:cmAuthor id="355" name="zhoupeng" initials="z" lastIdx="0" clrIdx="354"/>
  <p:cmAuthor id="356" name="罗志军" initials="Microsof" lastIdx="0" clrIdx="355"/>
  <p:cmAuthor id="357" name="ztolei@163.com" initials="z" lastIdx="0" clrIdx="356"/>
  <p:cmAuthor id="358" name="@" initials="@" lastIdx="0" clrIdx="357"/>
  <p:cmAuthor id="359" name="WPS_1653443306" initials="W" lastIdx="0" clrIdx="358"/>
  <p:cmAuthor id="360" name="马一杰" initials="马" lastIdx="0" clrIdx="359"/>
  <p:cmAuthor id="361" name="X FOLD" initials="X" lastIdx="0" clrIdx="360"/>
  <p:cmAuthor id="362" name="CNPC" initials="C" lastIdx="0" clrIdx="361"/>
  <p:cmAuthor id="363" name="V" initials="V" lastIdx="0" clrIdx="362"/>
  <p:cmAuthor id="364" name="yang.yuan" initials="y" lastIdx="0" clrIdx="363"/>
  <p:cmAuthor id="365" name="于洪宇_rMRzAZZ7" initials="authorId_260024" lastIdx="0" clrIdx="364"/>
  <p:cmAuthor id="366" name="不许改名" initials="不" lastIdx="0" clrIdx="365"/>
  <p:cmAuthor id="367" name="HuangJian" initials="H" lastIdx="0" clrIdx="366"/>
  <p:cmAuthor id="368" name="hanqingchun" initials="h" lastIdx="0" clrIdx="367"/>
  <p:cmAuthor id="369" name="JY" initials="J" lastIdx="0" clrIdx="368"/>
  <p:cmAuthor id="370" name="mayer" initials="m" lastIdx="0" clrIdx="369"/>
  <p:cmAuthor id="371" name="ainstain" initials="a" lastIdx="0" clrIdx="370"/>
  <p:cmAuthor id="372" name="YXW" initials="Y" lastIdx="0" clrIdx="371"/>
  <p:cmAuthor id="373" name="粤" initials="粤" lastIdx="0" clrIdx="372"/>
  <p:cmAuthor id="374" name="季健雄" initials="季" lastIdx="0" clrIdx="373"/>
  <p:cmAuthor id="375" name="zhangxuezhi" initials="z" lastIdx="0" clrIdx="374"/>
  <p:cmAuthor id="376" name="z zc" initials="zz" lastIdx="0" clrIdx="375"/>
  <p:cmAuthor id="377" name="yzj" initials="y" lastIdx="0" clrIdx="376"/>
  <p:cmAuthor id="378" name="zd" initials="z" lastIdx="0" clrIdx="377"/>
  <p:cmAuthor id="379" name="元鹏 王" initials="元" lastIdx="0" clrIdx="378"/>
  <p:cmAuthor id="380" name="杨 伟萍" initials="杨" lastIdx="0" clrIdx="379"/>
  <p:cmAuthor id="381" name="未知用户8" initials="未" lastIdx="0" clrIdx="380"/>
  <p:cmAuthor id="382" name="王怀璋" initials="王" lastIdx="0" clrIdx="381"/>
  <p:cmAuthor id="383" name="lenovo0" initials="l" lastIdx="0" clrIdx="382"/>
  <p:cmAuthor id="384" name="WPS_1423260211_F3mya2uI" initials="authorId_1423260211" lastIdx="0" clrIdx="383"/>
  <p:cmAuthor id="385" name="尹 姣姣" initials="尹" lastIdx="0" clrIdx="384"/>
  <p:cmAuthor id="386" name="jk-an" initials="j" lastIdx="0" clrIdx="385"/>
  <p:cmAuthor id="387" name="zzz" initials="z" lastIdx="0" clrIdx="386"/>
  <p:cmAuthor id="388" name="曾慧" initials="曾" lastIdx="0" clrIdx="387"/>
  <p:cmAuthor id="389" name="刘 勇" initials="刘" lastIdx="0" clrIdx="388"/>
  <p:cmAuthor id="390" name="孟芳芳（借调）" initials="V" lastIdx="0" clrIdx="389"/>
  <p:cmAuthor id="391" name="未知用户51" initials="" lastIdx="0" clrIdx="390"/>
  <p:cmAuthor id="392" name="徐 正国" initials="徐" lastIdx="0" clrIdx="391"/>
  <p:cmAuthor id="393" name="Xiaosu Wang" initials="XW" lastIdx="0" clrIdx="392"/>
  <p:cmAuthor id="394" name="aaa" initials="a" lastIdx="0" clrIdx="393"/>
  <p:cmAuthor id="395" name="19150" initials="1" lastIdx="0" clrIdx="394"/>
  <p:cmAuthor id="396" name="gao xf" initials="gx" lastIdx="0" clrIdx="395"/>
  <p:cmAuthor id="397" name="Chiang Neo" initials="CN" lastIdx="0" clrIdx="396"/>
  <p:cmAuthor id="398" name="alluka" initials="a" lastIdx="0" clrIdx="397"/>
  <p:cmAuthor id="399" name="kylin" initials="k" lastIdx="0" clrIdx="398"/>
  <p:cmAuthor id="400" name="萍" initials="萍" lastIdx="0" clrIdx="399"/>
  <p:cmAuthor id="401" name="pc" initials="p" lastIdx="0" clrIdx="400"/>
  <p:cmAuthor id="402" name="zhang" initials="z" lastIdx="0" clrIdx="401"/>
  <p:cmAuthor id="403" name="林培峰" initials="林" lastIdx="0" clrIdx="402"/>
  <p:cmAuthor id="404" name="未知用户7" initials="未" lastIdx="0" clrIdx="403"/>
  <p:cmAuthor id="405" name="宋 磊" initials="宋" lastIdx="0" clrIdx="404"/>
  <p:cmAuthor id="406" name="Iddo Kadim" initials="I" lastIdx="0" clrIdx="405"/>
  <p:cmAuthor id="407" name="ThinkPad" initials="T" lastIdx="0" clrIdx="406"/>
  <p:cmAuthor id="408" name="whz" initials="" lastIdx="0" clrIdx="407"/>
  <p:cmAuthor id="409" name="Athene" initials="A" lastIdx="0" clrIdx="408"/>
  <p:cmAuthor id="410" name="loongson" initials="l" lastIdx="0" clrIdx="409"/>
  <p:cmAuthor id="411" name="liulili" initials="l" lastIdx="0" clrIdx="410"/>
  <p:cmAuthor id="412" name="WenWen" initials="W" lastIdx="0" clrIdx="411"/>
  <p:cmAuthor id="413" name="姜伟光" initials="姜" lastIdx="0" clrIdx="412"/>
  <p:cmAuthor id="414" name="宋洁然" initials="宋" lastIdx="0" clrIdx="413"/>
  <p:cmAuthor id="415" name="郭同彬" initials="Tony" lastIdx="0" clrIdx="414"/>
  <p:cmAuthor id="416" name="悠真" initials="悠" lastIdx="0" clrIdx="415"/>
  <p:cmAuthor id="417" name="D" initials="D" lastIdx="0" clrIdx="416"/>
  <p:cmAuthor id="418" name="于晖_zy632mY3" initials="authorId_387757713" lastIdx="0" clrIdx="417"/>
  <p:cmAuthor id="419" name="YM.Leo" initials="Y" lastIdx="0" clrIdx="418"/>
  <p:cmAuthor id="420" name="李臻_jiai6ZRr" initials="authorId_192999303" lastIdx="0" clrIdx="419"/>
  <p:cmAuthor id="421" name="robin.song" initials="r [3]" lastIdx="0" clrIdx="420"/>
  <p:cmAuthor id="422" name="孙军_a2y2UrEv" initials="authorId_524475945" lastIdx="0" clrIdx="421"/>
  <p:cmAuthor id="423" name="KSOGZD21000128" initials="K" lastIdx="0" clrIdx="422"/>
  <p:cmAuthor id="424" name="张 令旗" initials="张" lastIdx="0" clrIdx="423"/>
  <p:cmAuthor id="425" name="Liu Ym" initials="LY" lastIdx="0" clrIdx="424"/>
  <p:cmAuthor id="426" name="YANG Yaqin" initials="YY" lastIdx="0" clrIdx="425"/>
  <p:cmAuthor id="427" name="yangkun" initials="y" lastIdx="0" clrIdx="426"/>
  <p:cmAuthor id="428" name="Lijx" initials="L" lastIdx="0" clrIdx="427"/>
  <p:cmAuthor id="429" name="Chunting Guo" initials="CG" lastIdx="0" clrIdx="428"/>
  <p:cmAuthor id="430" name="JIANG DY" initials="JD" lastIdx="0" clrIdx="429"/>
  <p:cmAuthor id="431" name="angel" initials="a" lastIdx="0" clrIdx="430"/>
  <p:cmAuthor id="432" name="郝锦涛" initials="郝" lastIdx="0" clrIdx="431"/>
  <p:cmAuthor id="433" name="zhangyanshun" initials="z" lastIdx="0" clrIdx="432"/>
  <p:cmAuthor id="434" name="无痕" initials="无" lastIdx="0" clrIdx="433"/>
  <p:cmAuthor id="435" name="zys" initials="z" lastIdx="0" clrIdx="434"/>
  <p:cmAuthor id="436" name="10066351" initials="1" lastIdx="0" clrIdx="435"/>
  <p:cmAuthor id="437" name="Microsoft" initials="M" lastIdx="0" clrIdx="436"/>
  <p:cmAuthor id="438" name="lixiaolin10@gd.cmcc" initials="g" lastIdx="0" clrIdx="437"/>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DB61DB-8E41-4F6B-911D-56BE060C25D2}" styleName="补充样式9">
    <a:wholeTbl>
      <a:tcTxStyle>
        <a:fontRef idx="none">
          <a:srgbClr val="000000"/>
        </a:fontRef>
      </a:tcTxStyle>
      <a:tcStyle>
        <a:tcBdr>
          <a:left>
            <a:ln>
              <a:noFill/>
            </a:ln>
          </a:left>
          <a:right>
            <a:ln>
              <a:noFill/>
            </a:ln>
          </a:right>
          <a:top>
            <a:ln>
              <a:noFill/>
            </a:ln>
          </a:top>
          <a:bottom>
            <a:ln w="12700"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1"/>
              <a:lumOff val="89999"/>
            </a:schemeClr>
          </a:solidFill>
        </a:fill>
      </a:tcStyle>
    </a:band2H>
    <a:band1V>
      <a:tcStyle>
        <a:tcBdr/>
        <a:fill>
          <a:solidFill>
            <a:schemeClr val="accent1">
              <a:lumMod val="10001"/>
              <a:lumOff val="89999"/>
            </a:schemeClr>
          </a:solidFill>
        </a:fill>
      </a:tcStyle>
    </a:band1V>
    <a:lastCol>
      <a:tcStyle>
        <a:tcBdr/>
        <a:fill>
          <a:solidFill>
            <a:schemeClr val="accent1">
              <a:lumMod val="20002"/>
              <a:lumOff val="79998"/>
            </a:schemeClr>
          </a:solidFill>
        </a:fill>
      </a:tcStyle>
    </a:lastCol>
    <a:firstCol>
      <a:tcTxStyle b="on">
        <a:fontRef idx="none">
          <a:srgbClr val="000000"/>
        </a:fontRef>
      </a:tcTxStyle>
      <a:tcStyle>
        <a:tcBdr/>
      </a:tcStyle>
    </a:firstCol>
    <a:lastRow>
      <a:tcTxStyle b="on">
        <a:fontRef idx="none">
          <a:schemeClr val="accent1"/>
        </a:fontRef>
      </a:tcTxStyle>
      <a:tcStyle>
        <a:tcBdr>
          <a:left>
            <a:ln>
              <a:noFill/>
            </a:ln>
          </a:left>
          <a:right>
            <a:ln>
              <a:noFill/>
            </a:ln>
          </a:right>
          <a:top>
            <a:ln w="9525" cmpd="sng">
              <a:solidFill>
                <a:schemeClr val="tx1"/>
              </a:solidFill>
              <a:prstDash val="solid"/>
            </a:ln>
          </a:top>
          <a:bottom>
            <a:ln w="12700" cmpd="sng">
              <a:solidFill>
                <a:schemeClr val="accent1"/>
              </a:solidFill>
              <a:prstDash val="solid"/>
            </a:ln>
          </a:bottom>
          <a:insideH>
            <a:ln>
              <a:noFill/>
            </a:ln>
          </a:insideH>
          <a:insideV>
            <a:ln>
              <a:noFill/>
            </a:ln>
          </a:insideV>
        </a:tcBdr>
        <a:fill>
          <a:solidFill>
            <a:srgbClr val="FFFFFF"/>
          </a:solidFill>
        </a:fill>
      </a:tcStyle>
    </a:lastRow>
    <a:swCell>
      <a:tcTxStyle b="on">
        <a:fontRef idx="none">
          <a:srgbClr val="000000"/>
        </a:fontRef>
      </a:tcTxStyle>
      <a:tcStyle>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w="19050" cmpd="sng">
              <a:solidFill>
                <a:schemeClr val="bg1"/>
              </a:solidFill>
              <a:prstDash val="solid"/>
            </a:ln>
          </a:insideH>
          <a:insideV>
            <a:ln w="19050" cmpd="sng">
              <a:solidFill>
                <a:schemeClr val="bg1"/>
              </a:solidFill>
              <a:prstDash val="solid"/>
            </a:ln>
          </a:insideV>
        </a:tcBdr>
        <a:fill>
          <a:solidFill>
            <a:schemeClr val="accent1"/>
          </a:solidFill>
        </a:fill>
      </a:tcStyle>
    </a:firstRow>
    <a:nwCell>
      <a:tcStyle>
        <a:tcBdr/>
        <a:fill>
          <a:solidFill>
            <a:srgbClr val="3F3F3F"/>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notesMaster" Target="notesMasters/notesMaster1.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2400" b="1" i="0" u="none" strike="noStrike" kern="1200" baseline="0">
                <a:solidFill>
                  <a:schemeClr val="tx1">
                    <a:lumMod val="75000"/>
                    <a:lumOff val="25000"/>
                  </a:schemeClr>
                </a:solidFill>
                <a:latin typeface="+mn-lt"/>
                <a:ea typeface="+mn-ea"/>
                <a:cs typeface="+mn-cs"/>
              </a:defRPr>
            </a:pPr>
            <a:r>
              <a:rPr sz="2400"/>
              <a:t>初评评分标准</a:t>
            </a:r>
            <a:endParaRPr sz="2400"/>
          </a:p>
        </c:rich>
      </c:tx>
      <c:layout>
        <c:manualLayout>
          <c:xMode val="edge"/>
          <c:yMode val="edge"/>
          <c:x val="0.391552346570397"/>
          <c:y val="0.00429184549356223"/>
        </c:manualLayout>
      </c:layout>
      <c:overlay val="0"/>
      <c:spPr>
        <a:noFill/>
        <a:ln>
          <a:noFill/>
        </a:ln>
        <a:effectLst/>
      </c:spPr>
    </c:title>
    <c:autoTitleDeleted val="0"/>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0222820536626126"/>
          <c:y val="0.122193713919179"/>
          <c:w val="0.95914956828521"/>
          <c:h val="0.769884541372675"/>
        </c:manualLayout>
      </c:layout>
      <c:pie3DChart>
        <c:varyColors val="1"/>
        <c:ser>
          <c:idx val="0"/>
          <c:order val="0"/>
          <c:tx>
            <c:strRef>
              <c:f>Sheet1!$B$1</c:f>
              <c:strCache>
                <c:ptCount val="1"/>
                <c:pt idx="0">
                  <c:v>初评评分标准</c:v>
                </c:pt>
              </c:strCache>
            </c:strRef>
          </c:tx>
          <c:spPr>
            <a:scene3d>
              <a:camera prst="orthographicFront"/>
              <a:lightRig rig="threePt" dir="t"/>
            </a:scene3d>
            <a:sp3d contourW="9525"/>
          </c:spPr>
          <c:explosion val="0"/>
          <c:dPt>
            <c:idx val="0"/>
            <c:bubble3D val="0"/>
            <c:spPr>
              <a:solidFill>
                <a:schemeClr val="accent1"/>
              </a:solidFill>
              <a:ln>
                <a:solidFill>
                  <a:schemeClr val="bg1"/>
                </a:solidFill>
              </a:ln>
              <a:effectLst/>
              <a:scene3d>
                <a:camera prst="orthographicFront"/>
                <a:lightRig rig="threePt" dir="t"/>
              </a:scene3d>
              <a:sp3d contourW="9525"/>
            </c:spPr>
          </c:dPt>
          <c:dPt>
            <c:idx val="1"/>
            <c:bubble3D val="0"/>
            <c:spPr>
              <a:solidFill>
                <a:schemeClr val="accent2"/>
              </a:solidFill>
              <a:ln>
                <a:solidFill>
                  <a:schemeClr val="bg1"/>
                </a:solidFill>
              </a:ln>
              <a:effectLst/>
              <a:scene3d>
                <a:camera prst="orthographicFront"/>
                <a:lightRig rig="threePt" dir="t"/>
              </a:scene3d>
              <a:sp3d contourW="9525"/>
            </c:spPr>
          </c:dPt>
          <c:dPt>
            <c:idx val="2"/>
            <c:bubble3D val="0"/>
            <c:spPr>
              <a:solidFill>
                <a:schemeClr val="accent3"/>
              </a:solidFill>
              <a:ln>
                <a:solidFill>
                  <a:schemeClr val="bg1"/>
                </a:solidFill>
              </a:ln>
              <a:effectLst/>
              <a:scene3d>
                <a:camera prst="orthographicFront"/>
                <a:lightRig rig="threePt" dir="t"/>
              </a:scene3d>
              <a:sp3d contourW="9525"/>
            </c:spPr>
          </c:dPt>
          <c:dPt>
            <c:idx val="3"/>
            <c:bubble3D val="0"/>
            <c:spPr>
              <a:solidFill>
                <a:schemeClr val="accent4"/>
              </a:solidFill>
              <a:ln>
                <a:solidFill>
                  <a:schemeClr val="bg1"/>
                </a:solidFill>
              </a:ln>
              <a:effectLst/>
              <a:scene3d>
                <a:camera prst="orthographicFront"/>
                <a:lightRig rig="threePt" dir="t"/>
              </a:scene3d>
              <a:sp3d contourW="9525"/>
            </c:spPr>
          </c:dPt>
          <c:dLbls>
            <c:dLbl>
              <c:idx val="0"/>
              <c:layout>
                <c:manualLayout>
                  <c:x val="-0.0129963898916968"/>
                  <c:y val="-0.0715307582260372"/>
                </c:manualLayout>
              </c:layout>
              <c:tx>
                <c:rich>
                  <a:bodyPr rot="0" spcFirstLastPara="0" vertOverflow="ellipsis" vert="horz" wrap="square" lIns="38100" tIns="19050" rIns="38100" bIns="19050" anchor="ctr" anchorCtr="1"/>
                  <a:lstStyle/>
                  <a:p>
                    <a:pPr defTabSz="914400">
                      <a:defRPr lang="zh-CN" sz="2000" b="1" i="0" u="none" strike="noStrike" kern="1200" spc="0" baseline="0">
                        <a:solidFill>
                          <a:schemeClr val="accent1"/>
                        </a:solidFill>
                        <a:latin typeface="+mn-lt"/>
                        <a:ea typeface="+mn-ea"/>
                        <a:cs typeface="+mn-cs"/>
                      </a:defRPr>
                    </a:pPr>
                    <a:r>
                      <a:rPr sz="2000"/>
                      <a:t>技术创新性32%</a:t>
                    </a:r>
                    <a:endParaRPr sz="2000"/>
                  </a:p>
                </c:rich>
              </c:tx>
              <c:numFmt formatCode="General" sourceLinked="1"/>
              <c:spPr>
                <a:noFill/>
                <a:ln>
                  <a:noFill/>
                </a:ln>
                <a:effectLst/>
              </c:spPr>
              <c:txPr>
                <a:bodyPr rot="0" spcFirstLastPara="0" vertOverflow="ellipsis" vert="horz" wrap="square" lIns="38100" tIns="19050" rIns="38100" bIns="19050" anchor="ctr" anchorCtr="1"/>
                <a:lstStyle/>
                <a:p>
                  <a:pPr>
                    <a:defRPr lang="zh-CN" sz="2000" b="1" i="0" u="none" strike="noStrike" kern="1200" spc="0" baseline="0">
                      <a:solidFill>
                        <a:schemeClr val="accent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1"/>
              <c:layout>
                <c:manualLayout>
                  <c:x val="-0.222382671480144"/>
                  <c:y val="0"/>
                </c:manualLayout>
              </c:layout>
              <c:numFmt formatCode="General" sourceLinked="1"/>
              <c:spPr>
                <a:noFill/>
                <a:ln>
                  <a:noFill/>
                </a:ln>
                <a:effectLst/>
              </c:spPr>
              <c:txPr>
                <a:bodyPr rot="0" spcFirstLastPara="0" vertOverflow="ellipsis" vert="horz" wrap="square" lIns="38100" tIns="19050" rIns="38100" bIns="19050" anchor="ctr" anchorCtr="1"/>
                <a:lstStyle/>
                <a:p>
                  <a:pPr>
                    <a:defRPr lang="zh-CN" sz="2000" b="1" i="0" u="none" strike="noStrike" kern="1200" spc="0" baseline="0">
                      <a:solidFill>
                        <a:schemeClr val="accent2"/>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2"/>
              <c:layout>
                <c:manualLayout>
                  <c:x val="-0.0166064981949458"/>
                  <c:y val="0.00858369098712446"/>
                </c:manualLayout>
              </c:layout>
              <c:numFmt formatCode="General" sourceLinked="1"/>
              <c:spPr>
                <a:noFill/>
                <a:ln>
                  <a:noFill/>
                </a:ln>
                <a:effectLst/>
              </c:spPr>
              <c:txPr>
                <a:bodyPr rot="0" spcFirstLastPara="0" vertOverflow="ellipsis" vert="horz" wrap="square" lIns="38100" tIns="19050" rIns="38100" bIns="19050" anchor="ctr" anchorCtr="1"/>
                <a:lstStyle/>
                <a:p>
                  <a:pPr>
                    <a:defRPr lang="zh-CN" sz="2000" b="1" i="0" u="none" strike="noStrike" kern="1200" spc="0" baseline="0">
                      <a:solidFill>
                        <a:schemeClr val="accent3"/>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3"/>
              <c:layout>
                <c:manualLayout>
                  <c:x val="-0.0404332129963899"/>
                  <c:y val="0.0200286123032904"/>
                </c:manualLayout>
              </c:layout>
              <c:numFmt formatCode="General" sourceLinked="1"/>
              <c:spPr>
                <a:noFill/>
                <a:ln>
                  <a:noFill/>
                </a:ln>
                <a:effectLst/>
              </c:spPr>
              <c:txPr>
                <a:bodyPr rot="0" spcFirstLastPara="0" vertOverflow="ellipsis" vert="horz" wrap="square" lIns="38100" tIns="19050" rIns="38100" bIns="19050" anchor="ctr" anchorCtr="1"/>
                <a:lstStyle/>
                <a:p>
                  <a:pPr>
                    <a:defRPr lang="zh-CN" sz="2000" b="1" i="0" u="none" strike="noStrike" kern="1200" spc="0" baseline="0">
                      <a:solidFill>
                        <a:schemeClr val="accent4"/>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2000" b="1" i="0" u="none" strike="noStrike" kern="1200" spc="0" baseline="0">
                    <a:solidFill>
                      <a:schemeClr val="accent1"/>
                    </a:solidFill>
                    <a:latin typeface="+mn-lt"/>
                    <a:ea typeface="+mn-ea"/>
                    <a:cs typeface="+mn-cs"/>
                  </a:defRPr>
                </a:pPr>
              </a:p>
            </c:txPr>
            <c:dLblPos val="out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技术创新性</c:v>
                </c:pt>
                <c:pt idx="1">
                  <c:v>方案可行性</c:v>
                </c:pt>
                <c:pt idx="2">
                  <c:v>性能指标</c:v>
                </c:pt>
                <c:pt idx="3">
                  <c:v>实用性</c:v>
                </c:pt>
              </c:strCache>
            </c:strRef>
          </c:cat>
          <c:val>
            <c:numRef>
              <c:f>Sheet1!$B$2:$B$5</c:f>
              <c:numCache>
                <c:formatCode>General</c:formatCode>
                <c:ptCount val="4"/>
                <c:pt idx="0">
                  <c:v>30</c:v>
                </c:pt>
                <c:pt idx="1">
                  <c:v>30</c:v>
                </c:pt>
                <c:pt idx="2">
                  <c:v>25</c:v>
                </c:pt>
                <c:pt idx="3">
                  <c:v>10</c:v>
                </c:pt>
              </c:numCache>
            </c:numRef>
          </c:val>
        </c:ser>
        <c:dLbls>
          <c:showLegendKey val="0"/>
          <c:showVal val="1"/>
          <c:showCatName val="0"/>
          <c:showSerName val="0"/>
          <c:showPercent val="0"/>
          <c:showBubbleSize val="0"/>
        </c:dLbls>
      </c:pie3DChart>
      <c:spPr>
        <a:noFill/>
        <a:ln>
          <a:noFill/>
        </a:ln>
        <a:effectLst/>
      </c:spPr>
    </c:plotArea>
    <c:legend>
      <c:legendPos val="r"/>
      <c:legendEntry>
        <c:idx val="0"/>
        <c:txPr>
          <a:bodyPr rot="0" spcFirstLastPara="0" vertOverflow="ellipsis" vert="horz" wrap="square" anchor="ctr" anchorCtr="1"/>
          <a:lstStyle/>
          <a:p>
            <a:pPr>
              <a:defRPr lang="zh-CN" sz="20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zh-CN" sz="20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0" vertOverflow="ellipsis" vert="horz" wrap="square" anchor="ctr" anchorCtr="1"/>
          <a:lstStyle/>
          <a:p>
            <a:pPr>
              <a:defRPr lang="zh-CN" sz="20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0" vertOverflow="ellipsis" vert="horz" wrap="square" anchor="ctr" anchorCtr="1"/>
          <a:lstStyle/>
          <a:p>
            <a:pPr>
              <a:defRPr lang="zh-CN" sz="20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801555453589613"/>
          <c:y val="0.612326231645868"/>
        </c:manualLayout>
      </c:layout>
      <c:overlay val="0"/>
      <c:spPr>
        <a:noFill/>
        <a:ln>
          <a:noFill/>
        </a:ln>
        <a:effectLst/>
      </c:spPr>
      <c:txPr>
        <a:bodyPr rot="0" spcFirstLastPara="0" vertOverflow="ellipsis" vert="horz" wrap="square" anchor="ctr" anchorCtr="1"/>
        <a:lstStyle/>
        <a:p>
          <a:pPr>
            <a:defRPr lang="zh-CN" sz="20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1e02bdbf-2576-4e76-86d8-564159738fb2}"/>
      </c:ext>
    </c:extLst>
  </c:chart>
  <c:spPr>
    <a:noFill/>
    <a:ln>
      <a:noFill/>
    </a:ln>
    <a:effectLst/>
  </c:spPr>
  <c:txPr>
    <a:bodyPr/>
    <a:lstStyle/>
    <a:p>
      <a:pPr>
        <a:defRPr lang="zh-CN" sz="2000"/>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93">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cs:styleClr val="auto"/>
    </cs:fontRef>
    <cs:defRPr sz="1000" b="1" i="0" u="none" strike="noStrike" kern="1200" spc="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擂台赛是在国家大力推进科技创新和新质生产力发展的背景下举办的。赛事旨在搭建一个平台，让青年人才的智慧能够精准对接产业需求。我们聚焦八大前沿领域，精选了103个真实的科技榜题，并提供丰厚的奖励，希望能吸引最优秀的青年力量参与其中，共同攻克技术难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非常自豪地宣布，我们麒麟软件的技术需求也成功入选了本次擂台赛的赛题。我们秉持着“英雄不问出处，创新不问出身”的理念，相信在这个擂台上，实力是唯一的通行证。我们期待各位同学能够勇敢地揭榜，挑战我们提出的技术难题，用你们的智慧和才华，与我们共同成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详细了解一下学生赛道的竞赛规则。本次比赛面向40岁以下的全日制在校学生。大家可以以个人或团队形式参赛，团队最多10人，并且支持跨校、跨专业组队。我们希望通过灵活的组队方式，激发不同背景学生的创新火花，共同完成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激励大家，我们设立了极具吸引力的奖励体系。本次赛题共设20个获奖名额，其中最高荣誉“擂主”将获得10万元的税后奖金！此外，其他奖项也都有丰厚的现金奖励。更重要的是，获奖团队的成员将有机会获得我们麒麟软件的优先推荐，为你们的职业生涯开启一扇大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是报名流程，请大家务必记好。首先，登录“挑战杯”官网注册报名，填写信息后下载报名表。然后，需要在报名表上加盖学校或单位的公章。最后，将盖章后的扫描件上传回系统等待审核。整个报名时间是从5月30日到6月30日，请大家不要错过报名时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赛题背景与需求</a:t>
            </a:r>
            <a:endParaRPr lang="zh-CN" altLang="en-US"/>
          </a:p>
          <a:p>
            <a:pPr marL="171450" indent="-171450">
              <a:buFont typeface="Arial" panose="020B0604020202020204" pitchFamily="34" charset="0"/>
              <a:buChar char="•"/>
            </a:pPr>
            <a:r>
              <a:rPr lang="zh-CN" altLang="en-US"/>
              <a:t>赛题简介与业务场景深度解析</a:t>
            </a:r>
            <a:endParaRPr lang="zh-CN" altLang="en-US"/>
          </a:p>
          <a:p>
            <a:pPr marL="171450" indent="-171450">
              <a:buFont typeface="Arial" panose="020B0604020202020204" pitchFamily="34" charset="0"/>
              <a:buChar char="•"/>
            </a:pPr>
            <a:r>
              <a:rPr lang="zh-CN" altLang="en-US"/>
              <a:t>核心功能需求分析与拆解。</a:t>
            </a:r>
            <a:endParaRPr lang="zh-CN" altLang="en-US"/>
          </a:p>
          <a:p>
            <a:pPr marL="171450" indent="-171450">
              <a:buFont typeface="Arial" panose="020B0604020202020204" pitchFamily="34" charset="0"/>
              <a:buChar char="•"/>
            </a:pPr>
            <a:r>
              <a:rPr lang="zh-CN" altLang="en-US"/>
              <a:t>非功能性需求说明与约束。</a:t>
            </a:r>
            <a:endParaRPr lang="zh-CN" altLang="en-US"/>
          </a:p>
        </p:txBody>
      </p:sp>
      <p:sp>
        <p:nvSpPr>
          <p:cNvPr id="4" name="灯片编号占位符 3"/>
          <p:cNvSpPr>
            <a:spLocks noGrp="1"/>
          </p:cNvSpPr>
          <p:nvPr>
            <p:ph type="sldNum" sz="quarter" idx="10"/>
          </p:nvPr>
        </p:nvSpPr>
        <p:spPr/>
        <p:txBody>
          <a:bodyPr/>
          <a:lstStyle/>
          <a:p>
            <a:fld id="{00E52758-9C1D-4854-89A4-EEBAC02601F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功能要求：</a:t>
            </a:r>
            <a:endParaRPr lang="zh-CN" altLang="en-US"/>
          </a:p>
          <a:p>
            <a:r>
              <a:rPr lang="zh-CN" altLang="en-US">
                <a:sym typeface="+mn-ea"/>
              </a:rPr>
              <a:t>支持本地大模型服务部署或调用云端大模型服务，具备 </a:t>
            </a:r>
            <a:r>
              <a:rPr lang="en-US" altLang="zh-CN">
                <a:sym typeface="+mn-ea"/>
              </a:rPr>
              <a:t>PC Web </a:t>
            </a:r>
            <a:r>
              <a:rPr lang="zh-CN" altLang="en-US">
                <a:sym typeface="+mn-ea"/>
              </a:rPr>
              <a:t>或 </a:t>
            </a:r>
            <a:r>
              <a:rPr lang="en-US" altLang="zh-CN">
                <a:sym typeface="+mn-ea"/>
              </a:rPr>
              <a:t>App </a:t>
            </a:r>
            <a:r>
              <a:rPr lang="zh-CN" altLang="en-US">
                <a:sym typeface="+mn-ea"/>
              </a:rPr>
              <a:t>可视化界面，方便用户访问与操作。</a:t>
            </a:r>
            <a:endParaRPr lang="zh-CN" altLang="en-US"/>
          </a:p>
          <a:p>
            <a:r>
              <a:rPr lang="zh-CN" altLang="en-US">
                <a:sym typeface="+mn-ea"/>
              </a:rPr>
              <a:t>1、双角色注册与文档上传</a:t>
            </a:r>
            <a:endParaRPr lang="zh-CN" altLang="en-US"/>
          </a:p>
          <a:p>
            <a:r>
              <a:rPr lang="zh-CN" altLang="en-US">
                <a:sym typeface="+mn-ea"/>
              </a:rPr>
              <a:t>支持个人用户与企业用户分别注册与登录。核心功能为允许双方直接上传</a:t>
            </a:r>
            <a:r>
              <a:rPr lang="en-US" altLang="zh-CN">
                <a:sym typeface="+mn-ea"/>
              </a:rPr>
              <a:t>DOC、PDF</a:t>
            </a:r>
            <a:r>
              <a:rPr lang="zh-CN" altLang="en-US">
                <a:sym typeface="+mn-ea"/>
              </a:rPr>
              <a:t>格式的文档，作为人才数据和职位数据输入的起点。</a:t>
            </a:r>
            <a:endParaRPr lang="zh-CN" altLang="en-US"/>
          </a:p>
          <a:p>
            <a:r>
              <a:rPr lang="zh-CN" altLang="en-US">
                <a:sym typeface="+mn-ea"/>
              </a:rPr>
              <a:t>► 个人用户可提供简历等材料</a:t>
            </a:r>
            <a:endParaRPr lang="zh-CN" altLang="en-US"/>
          </a:p>
          <a:p>
            <a:r>
              <a:rPr lang="zh-CN" altLang="en-US">
                <a:sym typeface="+mn-ea"/>
              </a:rPr>
              <a:t>► 企业用户可提供职位要求等材料</a:t>
            </a:r>
            <a:endParaRPr lang="zh-CN" altLang="en-US"/>
          </a:p>
          <a:p>
            <a:r>
              <a:rPr lang="zh-CN" altLang="en-US">
                <a:sym typeface="+mn-ea"/>
              </a:rPr>
              <a:t>2、文档智能解析与结构化</a:t>
            </a:r>
            <a:endParaRPr lang="zh-CN" altLang="en-US"/>
          </a:p>
          <a:p>
            <a:r>
              <a:rPr lang="zh-CN" altLang="en-US">
                <a:sym typeface="+mn-ea"/>
              </a:rPr>
              <a:t>系统对上传的</a:t>
            </a:r>
            <a:r>
              <a:rPr lang="en-US" altLang="zh-CN">
                <a:sym typeface="+mn-ea"/>
              </a:rPr>
              <a:t>DOC、PDF</a:t>
            </a:r>
            <a:r>
              <a:rPr lang="zh-CN" altLang="en-US">
                <a:sym typeface="+mn-ea"/>
              </a:rPr>
              <a:t>文档进行自动解析，智能提取关键信息。例如，从简历中提取技能、经历，从职位说明中提取要求、职责，并将其转化为结构化的数据库字段，为后续分析奠定基础。</a:t>
            </a:r>
            <a:endParaRPr lang="zh-CN" altLang="en-US"/>
          </a:p>
          <a:p>
            <a:r>
              <a:rPr lang="zh-CN" altLang="en-US">
                <a:sym typeface="+mn-ea"/>
              </a:rPr>
              <a:t>3、能力图谱构建与可视化</a:t>
            </a:r>
            <a:endParaRPr lang="zh-CN" altLang="en-US"/>
          </a:p>
          <a:p>
            <a:r>
              <a:rPr lang="zh-CN" altLang="en-US">
                <a:sym typeface="+mn-ea"/>
              </a:rPr>
              <a:t>基于解析后的结构化数据，自动为个人构建“个人能力图谱”，为企业职位构建“职位能力图谱”，并以可视化形式进行可视化展示，实现能力与需求的图形化透视。</a:t>
            </a:r>
            <a:endParaRPr lang="zh-CN" altLang="en-US"/>
          </a:p>
          <a:p>
            <a:r>
              <a:rPr lang="zh-CN" altLang="en-US">
                <a:sym typeface="+mn-ea"/>
              </a:rPr>
              <a:t>4、智能双向匹配与推荐</a:t>
            </a:r>
            <a:endParaRPr lang="zh-CN" altLang="en-US"/>
          </a:p>
          <a:p>
            <a:r>
              <a:rPr lang="zh-CN" altLang="en-US">
                <a:sym typeface="+mn-ea"/>
              </a:rPr>
              <a:t>实现人才与职位的双向智能推荐。系统根据能力图谱，为个人推荐匹配的职位，同时为企业职位推荐符合条件的候选人，并提供匹配度评分与依据，提升招聘与求职效率。</a:t>
            </a:r>
            <a:endParaRPr lang="zh-CN" altLang="en-US"/>
          </a:p>
          <a:p>
            <a:r>
              <a:rPr lang="zh-CN" altLang="en-US">
                <a:sym typeface="+mn-ea"/>
              </a:rPr>
              <a:t>额外功能：多维度匹配，如：居住城市、意向城市等可加分</a:t>
            </a:r>
            <a:endParaRPr lang="zh-CN" altLang="en-US"/>
          </a:p>
          <a:p>
            <a:r>
              <a:rPr lang="zh-CN" altLang="en-US">
                <a:sym typeface="+mn-ea"/>
              </a:rPr>
              <a:t>5、平台管理与监控后台</a:t>
            </a:r>
            <a:endParaRPr lang="zh-CN" altLang="en-US"/>
          </a:p>
          <a:p>
            <a:r>
              <a:rPr lang="zh-CN" altLang="en-US">
                <a:sym typeface="+mn-ea"/>
              </a:rPr>
              <a:t>提供一个综合的后台管理系统，支持管理员进行用户管理、数据维护等操作，确保平台有序运行，并满足基本的运营与监控需求。</a:t>
            </a:r>
            <a:endParaRPr lang="zh-CN" altLang="en-US"/>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支持本地大模型服务部署或调用云端大模型服务，具备 </a:t>
            </a:r>
            <a:r>
              <a:rPr lang="en-US" altLang="zh-CN">
                <a:sym typeface="+mn-ea"/>
              </a:rPr>
              <a:t>PC Web </a:t>
            </a:r>
            <a:r>
              <a:rPr lang="zh-CN" altLang="en-US">
                <a:sym typeface="+mn-ea"/>
              </a:rPr>
              <a:t>或 </a:t>
            </a:r>
            <a:r>
              <a:rPr lang="en-US" altLang="zh-CN">
                <a:sym typeface="+mn-ea"/>
              </a:rPr>
              <a:t>App </a:t>
            </a:r>
            <a:r>
              <a:rPr lang="zh-CN" altLang="en-US">
                <a:sym typeface="+mn-ea"/>
              </a:rPr>
              <a:t>可视化界面，方便用户访问与操作。</a:t>
            </a:r>
            <a:endParaRPr lang="zh-CN" altLang="en-US" dirty="0"/>
          </a:p>
          <a:p>
            <a:r>
              <a:rPr lang="en-US" altLang="zh-CN" dirty="0"/>
              <a:t>1.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双角色注册与文档上传</a:t>
            </a:r>
            <a:endParaRPr lang="zh-CN" altLang="en-US" dirty="0"/>
          </a:p>
          <a:p>
            <a:r>
              <a:rPr lang="zh-CN" altLang="en-US">
                <a:solidFill>
                  <a:schemeClr val="dk1"/>
                </a:solidFill>
                <a:latin typeface="黑体" panose="02010609060101010101" charset="-122"/>
                <a:ea typeface="黑体" panose="02010609060101010101" charset="-122"/>
                <a:cs typeface="黑体" panose="02010609060101010101" charset="-122"/>
                <a:sym typeface="+mn-ea"/>
              </a:rPr>
              <a:t>核心功能为允许双方直接上传DOC、PDF格式的文档，作为人才数据和职位数据输入的起点。</a:t>
            </a:r>
            <a:endParaRPr lang="zh-CN" altLang="en-US">
              <a:solidFill>
                <a:schemeClr val="dk1"/>
              </a:solidFill>
              <a:latin typeface="黑体" panose="02010609060101010101" charset="-122"/>
              <a:ea typeface="黑体" panose="02010609060101010101" charset="-122"/>
              <a:cs typeface="黑体" panose="02010609060101010101" charset="-122"/>
              <a:sym typeface="+mn-ea"/>
            </a:endParaRPr>
          </a:p>
          <a:p>
            <a:pPr marL="171450" indent="-171450" algn="l">
              <a:lnSpc>
                <a:spcPct val="120000"/>
              </a:lnSpc>
              <a:buFont typeface="Arial" panose="020B0604020202020204" pitchFamily="34" charset="0"/>
              <a:buChar char="•"/>
            </a:pPr>
            <a:r>
              <a:rPr lang="zh-CN" altLang="zh-CN">
                <a:solidFill>
                  <a:srgbClr val="FFFFFF"/>
                </a:solidFill>
                <a:latin typeface="微软雅黑" panose="020B0503020204020204" charset="-122"/>
                <a:ea typeface="微软雅黑" panose="020B0503020204020204" charset="-122"/>
                <a:cs typeface="微软雅黑" panose="020B0503020204020204" charset="-122"/>
                <a:sym typeface="+mn-ea"/>
              </a:rPr>
              <a:t>个人用户可提供简历等材料；</a:t>
            </a:r>
            <a:endParaRPr lang="zh-CN" altLang="zh-CN">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0000"/>
              </a:lnSpc>
              <a:buFont typeface="Arial" panose="020B0604020202020204" pitchFamily="34" charset="0"/>
              <a:buChar char="•"/>
            </a:pPr>
            <a:r>
              <a:rPr lang="zh-CN" altLang="zh-CN">
                <a:solidFill>
                  <a:srgbClr val="FFFFFF"/>
                </a:solidFill>
                <a:latin typeface="微软雅黑" panose="020B0503020204020204" charset="-122"/>
                <a:ea typeface="微软雅黑" panose="020B0503020204020204" charset="-122"/>
                <a:cs typeface="微软雅黑" panose="020B0503020204020204" charset="-122"/>
                <a:sym typeface="+mn-ea"/>
              </a:rPr>
              <a:t>企业用户可提供职位要求等材料</a:t>
            </a:r>
            <a:endParaRPr lang="zh-CN" altLang="en-US" dirty="0"/>
          </a:p>
          <a:p>
            <a:r>
              <a:rPr lang="en-US" altLang="zh-CN" dirty="0"/>
              <a:t>2.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文档智能解析与结构化</a:t>
            </a:r>
            <a:endParaRPr lang="zh-CN" altLang="en-US" dirty="0"/>
          </a:p>
          <a:p>
            <a:r>
              <a:rPr lang="zh-CN" altLang="en-US">
                <a:solidFill>
                  <a:schemeClr val="dk1"/>
                </a:solidFill>
                <a:latin typeface="等线" panose="02010600030101010101" charset="-122"/>
                <a:ea typeface="等线" panose="02010600030101010101" charset="-122"/>
                <a:cs typeface="微软雅黑" panose="020B0503020204020204" charset="-122"/>
                <a:sym typeface="+mn-ea"/>
              </a:rPr>
              <a:t>例如，从简历中提取技能、经历，从职位说明中提取要求、职责，并将其转化为结构化的</a:t>
            </a:r>
            <a:r>
              <a:rPr lang="zh-CN" altLang="en-US">
                <a:solidFill>
                  <a:schemeClr val="dk1"/>
                </a:solidFill>
                <a:latin typeface="黑体" panose="02010609060101010101" charset="-122"/>
                <a:ea typeface="黑体" panose="02010609060101010101" charset="-122"/>
                <a:cs typeface="黑体" panose="02010609060101010101" charset="-122"/>
                <a:sym typeface="+mn-ea"/>
              </a:rPr>
              <a:t>数据库</a:t>
            </a:r>
            <a:r>
              <a:rPr lang="zh-CN" altLang="en-US">
                <a:solidFill>
                  <a:schemeClr val="dk1"/>
                </a:solidFill>
                <a:latin typeface="等线" panose="02010600030101010101" charset="-122"/>
                <a:ea typeface="等线" panose="02010600030101010101" charset="-122"/>
                <a:cs typeface="微软雅黑" panose="020B0503020204020204" charset="-122"/>
                <a:sym typeface="+mn-ea"/>
              </a:rPr>
              <a:t>字段，为后续分析奠定基础</a:t>
            </a:r>
            <a:endParaRPr lang="zh-CN" altLang="en-US">
              <a:solidFill>
                <a:schemeClr val="dk1"/>
              </a:solidFill>
              <a:latin typeface="等线" panose="02010600030101010101" charset="-122"/>
              <a:ea typeface="等线" panose="02010600030101010101" charset="-122"/>
              <a:cs typeface="微软雅黑" panose="020B0503020204020204" charset="-122"/>
              <a:sym typeface="+mn-ea"/>
            </a:endParaRPr>
          </a:p>
          <a:p>
            <a:pPr marL="171450" indent="-171450">
              <a:buFont typeface="Arial" panose="020B0604020202020204" pitchFamily="34" charset="0"/>
              <a:buChar char="•"/>
            </a:pPr>
            <a:r>
              <a:rPr lang="en-US">
                <a:solidFill>
                  <a:srgbClr val="2F2F2F">
                    <a:alpha val="100000"/>
                  </a:srgbClr>
                </a:solidFill>
                <a:latin typeface="微软雅黑" panose="020B0503020204020204" charset="-122"/>
                <a:ea typeface="微软雅黑" panose="020B0503020204020204" charset="-122"/>
                <a:cs typeface="微软雅黑" panose="020B0503020204020204" charset="-122"/>
                <a:sym typeface="+mn-ea"/>
              </a:rPr>
              <a:t>根据职位要求图谱，系统为企业推荐符合条件的候选人列表，并附上匹配度评分。</a:t>
            </a:r>
            <a:endParaRPr lang="en-US">
              <a:solidFill>
                <a:srgbClr val="2F2F2F">
                  <a:alpha val="100000"/>
                </a:srgbClr>
              </a:solidFill>
              <a:latin typeface="微软雅黑" panose="020B0503020204020204" charset="-122"/>
              <a:ea typeface="微软雅黑" panose="020B0503020204020204" charset="-122"/>
              <a:cs typeface="微软雅黑" panose="020B0503020204020204" charset="-122"/>
              <a:sym typeface="+mn-ea"/>
            </a:endParaRPr>
          </a:p>
          <a:p>
            <a:pPr marL="171450" indent="-171450">
              <a:buFont typeface="Arial" panose="020B0604020202020204" pitchFamily="34" charset="0"/>
              <a:buChar char="•"/>
            </a:pPr>
            <a:r>
              <a:rPr lang="zh-CN" altLang="en-US">
                <a:solidFill>
                  <a:srgbClr val="2F2F2F">
                    <a:alpha val="100000"/>
                  </a:srgbClr>
                </a:solidFill>
                <a:latin typeface="微软雅黑" panose="020B0503020204020204" charset="-122"/>
                <a:ea typeface="微软雅黑" panose="020B0503020204020204" charset="-122"/>
                <a:cs typeface="微软雅黑" panose="020B0503020204020204" charset="-122"/>
                <a:sym typeface="+mn-ea"/>
              </a:rPr>
              <a:t>根据简历经历，系统为求职者推荐最对应的岗位，附上匹配度评分。</a:t>
            </a:r>
            <a:endParaRPr lang="zh-CN" altLang="en-US" dirty="0"/>
          </a:p>
          <a:p>
            <a:r>
              <a:rPr lang="en-US" altLang="zh-CN" dirty="0"/>
              <a:t>3.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能力图谱构建与可视化</a:t>
            </a:r>
            <a:endParaRPr lang="zh-CN" altLang="en-US" b="1">
              <a:solidFill>
                <a:schemeClr val="dk1"/>
              </a:solidFill>
              <a:latin typeface="等线 Light" panose="02010600030101010101" charset="-122"/>
              <a:ea typeface="等线 Light" panose="02010600030101010101" charset="-122"/>
              <a:cs typeface="微软雅黑" panose="020B0503020204020204" charset="-122"/>
            </a:endParaRPr>
          </a:p>
          <a:p>
            <a:r>
              <a:rPr lang="zh-CN" altLang="en-US">
                <a:solidFill>
                  <a:schemeClr val="dk1"/>
                </a:solidFill>
                <a:latin typeface="等线" panose="02010600030101010101" charset="-122"/>
                <a:ea typeface="等线" panose="02010600030101010101" charset="-122"/>
                <a:cs typeface="微软雅黑" panose="020B0503020204020204" charset="-122"/>
                <a:sym typeface="+mn-ea"/>
              </a:rPr>
              <a:t>基于解析后的结构化数据，自动为个人构建“个人能力图谱”，为企业职位构建“职位能力图谱”，并以可视化形式进行可视化展示，实现能力与需求的图形化透视。</a:t>
            </a:r>
            <a:endParaRPr lang="zh-CN" altLang="en-US" dirty="0"/>
          </a:p>
          <a:p>
            <a:r>
              <a:rPr lang="en-US" altLang="zh-CN" dirty="0"/>
              <a:t>4.</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智能双向匹配与推荐</a:t>
            </a:r>
            <a:endParaRPr lang="zh-CN" altLang="en-US" dirty="0"/>
          </a:p>
          <a:p>
            <a:r>
              <a:rPr lang="zh-CN" altLang="en-US">
                <a:solidFill>
                  <a:schemeClr val="dk1"/>
                </a:solidFill>
                <a:latin typeface="等线" panose="02010600030101010101" charset="-122"/>
                <a:ea typeface="等线" panose="02010600030101010101" charset="-122"/>
                <a:cs typeface="微软雅黑" panose="020B0503020204020204" charset="-122"/>
                <a:sym typeface="+mn-ea"/>
              </a:rPr>
              <a:t>系统根据能力图谱，为个人推荐匹配的职位，同时为企业职位推荐符合条件的候选人，并提供匹配度评分与依据，提升招聘与求职效率。</a:t>
            </a:r>
            <a:endParaRPr lang="en-US" altLang="zh-CN">
              <a:solidFill>
                <a:schemeClr val="dk1"/>
              </a:solidFill>
              <a:latin typeface="等线" panose="02010600030101010101" charset="-122"/>
              <a:ea typeface="等线" panose="02010600030101010101" charset="-122"/>
              <a:cs typeface="微软雅黑" panose="020B0503020204020204" charset="-122"/>
            </a:endParaRPr>
          </a:p>
          <a:p>
            <a:pPr algn="l">
              <a:lnSpc>
                <a:spcPct val="120000"/>
              </a:lnSpc>
            </a:pPr>
            <a:r>
              <a:rPr lang="zh-CN" altLang="zh-CN">
                <a:solidFill>
                  <a:schemeClr val="dk1"/>
                </a:solidFill>
                <a:latin typeface="微软雅黑" panose="020B0503020204020204" charset="-122"/>
                <a:ea typeface="微软雅黑" panose="020B0503020204020204" charset="-122"/>
                <a:cs typeface="微软雅黑" panose="020B0503020204020204" charset="-122"/>
                <a:sym typeface="+mn-ea"/>
              </a:rPr>
              <a:t>额外功能：多维度匹配，如：居住城市、意向城市等可加分</a:t>
            </a:r>
            <a:endParaRPr lang="zh-CN" altLang="zh-CN">
              <a:solidFill>
                <a:schemeClr val="dk1"/>
              </a:solidFill>
              <a:latin typeface="微软雅黑" panose="020B0503020204020204" charset="-122"/>
              <a:ea typeface="微软雅黑" panose="020B0503020204020204" charset="-122"/>
              <a:cs typeface="微软雅黑" panose="020B0503020204020204" charset="-122"/>
              <a:sym typeface="+mn-ea"/>
            </a:endParaRPr>
          </a:p>
          <a:p>
            <a:pPr algn="l">
              <a:lnSpc>
                <a:spcPct val="120000"/>
              </a:lnSpc>
            </a:pPr>
            <a:r>
              <a:rPr lang="en-US" altLang="zh-CN">
                <a:solidFill>
                  <a:schemeClr val="dk1"/>
                </a:solidFill>
                <a:latin typeface="等线 Light" panose="02010600030101010101" charset="-122"/>
                <a:ea typeface="等线 Light" panose="02010600030101010101" charset="-122"/>
                <a:cs typeface="微软雅黑" panose="020B0503020204020204" charset="-122"/>
                <a:sym typeface="+mn-ea"/>
              </a:rPr>
              <a:t>5.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平台管理与监控后台</a:t>
            </a:r>
            <a:endParaRPr lang="zh-CN" altLang="zh-CN">
              <a:solidFill>
                <a:schemeClr val="dk1"/>
              </a:solidFill>
              <a:latin typeface="微软雅黑" panose="020B0503020204020204" charset="-122"/>
              <a:ea typeface="微软雅黑" panose="020B0503020204020204" charset="-122"/>
              <a:cs typeface="微软雅黑" panose="020B0503020204020204" charset="-122"/>
              <a:sym typeface="+mn-ea"/>
            </a:endParaRPr>
          </a:p>
          <a:p>
            <a:pPr algn="l">
              <a:lnSpc>
                <a:spcPct val="120000"/>
              </a:lnSpc>
            </a:pPr>
            <a:r>
              <a:rPr lang="zh-CN" altLang="en-US">
                <a:solidFill>
                  <a:schemeClr val="dk1"/>
                </a:solidFill>
                <a:latin typeface="等线" panose="02010600030101010101" charset="-122"/>
                <a:ea typeface="等线" panose="02010600030101010101" charset="-122"/>
                <a:cs typeface="微软雅黑" panose="020B0503020204020204" charset="-122"/>
                <a:sym typeface="+mn-ea"/>
              </a:rPr>
              <a:t>支持管理员进行用户管理、数据维护等操作，确保平台有序运行，并满足基本的运营与监控需求。</a:t>
            </a:r>
            <a:endParaRPr lang="zh-CN" altLang="en-US">
              <a:solidFill>
                <a:schemeClr val="dk1"/>
              </a:solidFill>
              <a:latin typeface="等线" panose="02010600030101010101" charset="-122"/>
              <a:ea typeface="等线" panose="02010600030101010101" charset="-122"/>
              <a:cs typeface="微软雅黑" panose="020B0503020204020204" charset="-122"/>
            </a:endParaRPr>
          </a:p>
          <a:p>
            <a:pPr algn="l">
              <a:lnSpc>
                <a:spcPct val="120000"/>
              </a:lnSpc>
            </a:pPr>
            <a:endParaRPr lang="zh-CN" altLang="zh-CN">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技术实现与架构</a:t>
            </a:r>
            <a:endParaRPr lang="zh-CN" altLang="en-US"/>
          </a:p>
          <a:p>
            <a:pPr marL="171450" indent="-171450">
              <a:buFont typeface="Arial" panose="020B0604020202020204" pitchFamily="34" charset="0"/>
              <a:buChar char="•"/>
            </a:pPr>
            <a:r>
              <a:rPr lang="zh-CN" altLang="en-US"/>
              <a:t>运行环境与实现条件配置</a:t>
            </a:r>
            <a:endParaRPr lang="zh-CN" altLang="en-US"/>
          </a:p>
          <a:p>
            <a:pPr marL="171450" indent="-171450">
              <a:buFont typeface="Arial" panose="020B0604020202020204" pitchFamily="34" charset="0"/>
              <a:buChar char="•"/>
            </a:pPr>
            <a:r>
              <a:rPr lang="zh-CN" altLang="en-US"/>
              <a:t>推荐技术栈与框架选型</a:t>
            </a:r>
            <a:endParaRPr lang="zh-CN" altLang="en-US"/>
          </a:p>
          <a:p>
            <a:pPr marL="171450" indent="-171450">
              <a:buFont typeface="Arial" panose="020B0604020202020204" pitchFamily="34" charset="0"/>
              <a:buChar char="•"/>
            </a:pPr>
            <a:r>
              <a:rPr lang="zh-CN" altLang="en-US"/>
              <a:t>知识图谱与</a:t>
            </a:r>
            <a:r>
              <a:rPr lang="en-US" altLang="zh-CN"/>
              <a:t>NLP</a:t>
            </a:r>
            <a:r>
              <a:rPr lang="zh-CN" altLang="en-US"/>
              <a:t>技术应用</a:t>
            </a:r>
            <a:endParaRPr lang="zh-CN" altLang="en-US"/>
          </a:p>
        </p:txBody>
      </p:sp>
      <p:sp>
        <p:nvSpPr>
          <p:cNvPr id="4" name="灯片编号占位符 3"/>
          <p:cNvSpPr>
            <a:spLocks noGrp="1"/>
          </p:cNvSpPr>
          <p:nvPr>
            <p:ph type="sldNum" sz="quarter" idx="10"/>
          </p:nvPr>
        </p:nvSpPr>
        <p:spPr/>
        <p:txBody>
          <a:bodyPr/>
          <a:lstStyle/>
          <a:p>
            <a:fld id="{00E52758-9C1D-4854-89A4-EEBAC02601F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评分标准与提交</a:t>
            </a:r>
            <a:endParaRPr lang="zh-CN" altLang="en-US"/>
          </a:p>
          <a:p>
            <a:pPr marL="171450" indent="-171450">
              <a:buFont typeface="Arial" panose="020B0604020202020204" pitchFamily="34" charset="0"/>
              <a:buChar char="•"/>
            </a:pPr>
            <a:r>
              <a:rPr lang="zh-CN" altLang="en-US"/>
              <a:t>评分项及占比详解</a:t>
            </a:r>
            <a:endParaRPr lang="zh-CN" altLang="en-US"/>
          </a:p>
          <a:p>
            <a:pPr marL="171450" indent="-171450">
              <a:buFont typeface="Arial" panose="020B0604020202020204" pitchFamily="34" charset="0"/>
              <a:buChar char="•"/>
            </a:pPr>
            <a:r>
              <a:rPr lang="zh-CN" altLang="en-US"/>
              <a:t>初赛作品提交清单核对</a:t>
            </a:r>
            <a:endParaRPr lang="zh-CN" altLang="en-US"/>
          </a:p>
          <a:p>
            <a:pPr marL="171450" indent="-171450">
              <a:buFont typeface="Arial" panose="020B0604020202020204" pitchFamily="34" charset="0"/>
              <a:buChar char="•"/>
            </a:pPr>
            <a:r>
              <a:rPr lang="zh-CN" altLang="en-US"/>
              <a:t>目 文档规范要求与格式标准</a:t>
            </a:r>
            <a:endParaRPr lang="zh-CN" altLang="en-US"/>
          </a:p>
        </p:txBody>
      </p:sp>
      <p:sp>
        <p:nvSpPr>
          <p:cNvPr id="4" name="灯片编号占位符 3"/>
          <p:cNvSpPr>
            <a:spLocks noGrp="1"/>
          </p:cNvSpPr>
          <p:nvPr>
            <p:ph type="sldNum" sz="quarter" idx="10"/>
          </p:nvPr>
        </p:nvSpPr>
        <p:spPr/>
        <p:txBody>
          <a:bodyPr/>
          <a:lstStyle/>
          <a:p>
            <a:fld id="{00E52758-9C1D-4854-89A4-EEBAC02601F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a:p>
            <a:r>
              <a:rPr lang="zh-CN" altLang="en-US"/>
              <a:t>功能完整性(30%)</a:t>
            </a:r>
            <a:endParaRPr lang="zh-CN" altLang="en-US"/>
          </a:p>
          <a:p>
            <a:endParaRPr lang="en-US" altLang="zh-CN"/>
          </a:p>
          <a:p>
            <a:r>
              <a:rPr lang="zh-CN" altLang="en-US"/>
              <a:t>用户体验(20%)</a:t>
            </a:r>
            <a:endParaRPr lang="zh-CN" altLang="en-US"/>
          </a:p>
          <a:p>
            <a:endParaRPr lang="en-US" altLang="zh-CN"/>
          </a:p>
          <a:p>
            <a:r>
              <a:rPr lang="zh-CN" altLang="en-US"/>
              <a:t>创新与实用性(20%)</a:t>
            </a:r>
            <a:endParaRPr lang="zh-CN" altLang="en-US"/>
          </a:p>
          <a:p>
            <a:endParaRPr lang="en-US" altLang="zh-CN"/>
          </a:p>
          <a:p>
            <a:r>
              <a:rPr lang="zh-CN" altLang="en-US"/>
              <a:t>文档与演示(20%)</a:t>
            </a:r>
            <a:endParaRPr lang="zh-CN" altLang="en-US"/>
          </a:p>
          <a:p>
            <a:endParaRPr lang="en-US" altLang="zh-CN"/>
          </a:p>
          <a:p>
            <a:r>
              <a:rPr lang="zh-CN" altLang="en-US"/>
              <a:t>商业可行性(10%)</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评分标准与提交</a:t>
            </a:r>
            <a:endParaRPr lang="zh-CN" altLang="en-US"/>
          </a:p>
          <a:p>
            <a:pPr marL="171450" indent="-171450">
              <a:buFont typeface="Arial" panose="020B0604020202020204" pitchFamily="34" charset="0"/>
              <a:buChar char="•"/>
            </a:pPr>
            <a:r>
              <a:rPr lang="zh-CN" altLang="en-US"/>
              <a:t>评分项及占比详解</a:t>
            </a:r>
            <a:endParaRPr lang="zh-CN" altLang="en-US"/>
          </a:p>
          <a:p>
            <a:pPr marL="171450" indent="-171450">
              <a:buFont typeface="Arial" panose="020B0604020202020204" pitchFamily="34" charset="0"/>
              <a:buChar char="•"/>
            </a:pPr>
            <a:r>
              <a:rPr lang="zh-CN" altLang="en-US"/>
              <a:t>初赛作品提交清单核对</a:t>
            </a:r>
            <a:endParaRPr lang="zh-CN" altLang="en-US"/>
          </a:p>
          <a:p>
            <a:pPr marL="171450" indent="-171450">
              <a:buFont typeface="Arial" panose="020B0604020202020204" pitchFamily="34" charset="0"/>
              <a:buChar char="•"/>
            </a:pPr>
            <a:r>
              <a:rPr lang="zh-CN" altLang="en-US"/>
              <a:t>目 文档规范要求与格式标准</a:t>
            </a:r>
            <a:endParaRPr lang="zh-CN" altLang="en-US"/>
          </a:p>
        </p:txBody>
      </p:sp>
      <p:sp>
        <p:nvSpPr>
          <p:cNvPr id="4" name="灯片编号占位符 3"/>
          <p:cNvSpPr>
            <a:spLocks noGrp="1"/>
          </p:cNvSpPr>
          <p:nvPr>
            <p:ph type="sldNum" sz="quarter" idx="10"/>
          </p:nvPr>
        </p:nvSpPr>
        <p:spPr/>
        <p:txBody>
          <a:bodyPr/>
          <a:lstStyle/>
          <a:p>
            <a:fld id="{00E52758-9C1D-4854-89A4-EEBAC02601F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支持本地大模型服务部署或调用云端大模型服务，具备 </a:t>
            </a:r>
            <a:r>
              <a:rPr lang="en-US" altLang="zh-CN">
                <a:sym typeface="+mn-ea"/>
              </a:rPr>
              <a:t>PC Web </a:t>
            </a:r>
            <a:r>
              <a:rPr lang="zh-CN" altLang="en-US">
                <a:sym typeface="+mn-ea"/>
              </a:rPr>
              <a:t>或 </a:t>
            </a:r>
            <a:r>
              <a:rPr lang="en-US" altLang="zh-CN">
                <a:sym typeface="+mn-ea"/>
              </a:rPr>
              <a:t>App </a:t>
            </a:r>
            <a:r>
              <a:rPr lang="zh-CN" altLang="en-US">
                <a:sym typeface="+mn-ea"/>
              </a:rPr>
              <a:t>可视化界面，方便用户访问与操作。</a:t>
            </a:r>
            <a:endParaRPr lang="zh-CN" altLang="en-US" dirty="0"/>
          </a:p>
          <a:p>
            <a:r>
              <a:rPr lang="en-US" altLang="zh-CN" dirty="0"/>
              <a:t>1.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双角色注册与文档上传</a:t>
            </a:r>
            <a:endParaRPr lang="zh-CN" altLang="en-US" dirty="0"/>
          </a:p>
          <a:p>
            <a:r>
              <a:rPr lang="zh-CN" altLang="en-US">
                <a:solidFill>
                  <a:schemeClr val="dk1"/>
                </a:solidFill>
                <a:latin typeface="黑体" panose="02010609060101010101" charset="-122"/>
                <a:ea typeface="黑体" panose="02010609060101010101" charset="-122"/>
                <a:cs typeface="黑体" panose="02010609060101010101" charset="-122"/>
                <a:sym typeface="+mn-ea"/>
              </a:rPr>
              <a:t>核心功能为允许双方直接上传DOC、PDF格式的文档，作为人才数据和职位数据输入的起点。</a:t>
            </a:r>
            <a:endParaRPr lang="zh-CN" altLang="en-US">
              <a:solidFill>
                <a:schemeClr val="dk1"/>
              </a:solidFill>
              <a:latin typeface="黑体" panose="02010609060101010101" charset="-122"/>
              <a:ea typeface="黑体" panose="02010609060101010101" charset="-122"/>
              <a:cs typeface="黑体" panose="02010609060101010101" charset="-122"/>
              <a:sym typeface="+mn-ea"/>
            </a:endParaRPr>
          </a:p>
          <a:p>
            <a:pPr marL="171450" indent="-171450" algn="l">
              <a:lnSpc>
                <a:spcPct val="120000"/>
              </a:lnSpc>
              <a:buFont typeface="Arial" panose="020B0604020202020204" pitchFamily="34" charset="0"/>
              <a:buChar char="•"/>
            </a:pPr>
            <a:r>
              <a:rPr lang="zh-CN" altLang="zh-CN">
                <a:solidFill>
                  <a:srgbClr val="FFFFFF"/>
                </a:solidFill>
                <a:latin typeface="微软雅黑" panose="020B0503020204020204" charset="-122"/>
                <a:ea typeface="微软雅黑" panose="020B0503020204020204" charset="-122"/>
                <a:cs typeface="微软雅黑" panose="020B0503020204020204" charset="-122"/>
                <a:sym typeface="+mn-ea"/>
              </a:rPr>
              <a:t>个人用户可提供简历等材料；</a:t>
            </a:r>
            <a:endParaRPr lang="zh-CN" altLang="zh-CN">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0000"/>
              </a:lnSpc>
              <a:buFont typeface="Arial" panose="020B0604020202020204" pitchFamily="34" charset="0"/>
              <a:buChar char="•"/>
            </a:pPr>
            <a:r>
              <a:rPr lang="zh-CN" altLang="zh-CN">
                <a:solidFill>
                  <a:srgbClr val="FFFFFF"/>
                </a:solidFill>
                <a:latin typeface="微软雅黑" panose="020B0503020204020204" charset="-122"/>
                <a:ea typeface="微软雅黑" panose="020B0503020204020204" charset="-122"/>
                <a:cs typeface="微软雅黑" panose="020B0503020204020204" charset="-122"/>
                <a:sym typeface="+mn-ea"/>
              </a:rPr>
              <a:t>企业用户可提供职位要求等材料</a:t>
            </a:r>
            <a:endParaRPr lang="zh-CN" altLang="en-US" dirty="0"/>
          </a:p>
          <a:p>
            <a:r>
              <a:rPr lang="en-US" altLang="zh-CN" dirty="0"/>
              <a:t>2.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文档智能解析与结构化</a:t>
            </a:r>
            <a:endParaRPr lang="zh-CN" altLang="en-US" dirty="0"/>
          </a:p>
          <a:p>
            <a:r>
              <a:rPr lang="zh-CN" altLang="en-US">
                <a:solidFill>
                  <a:schemeClr val="dk1"/>
                </a:solidFill>
                <a:latin typeface="等线" panose="02010600030101010101" charset="-122"/>
                <a:ea typeface="等线" panose="02010600030101010101" charset="-122"/>
                <a:cs typeface="微软雅黑" panose="020B0503020204020204" charset="-122"/>
                <a:sym typeface="+mn-ea"/>
              </a:rPr>
              <a:t>例如，从简历中提取技能、经历，从职位说明中提取要求、职责，并将其转化为结构化的</a:t>
            </a:r>
            <a:r>
              <a:rPr lang="zh-CN" altLang="en-US">
                <a:solidFill>
                  <a:schemeClr val="dk1"/>
                </a:solidFill>
                <a:latin typeface="黑体" panose="02010609060101010101" charset="-122"/>
                <a:ea typeface="黑体" panose="02010609060101010101" charset="-122"/>
                <a:cs typeface="黑体" panose="02010609060101010101" charset="-122"/>
                <a:sym typeface="+mn-ea"/>
              </a:rPr>
              <a:t>数据库</a:t>
            </a:r>
            <a:r>
              <a:rPr lang="zh-CN" altLang="en-US">
                <a:solidFill>
                  <a:schemeClr val="dk1"/>
                </a:solidFill>
                <a:latin typeface="等线" panose="02010600030101010101" charset="-122"/>
                <a:ea typeface="等线" panose="02010600030101010101" charset="-122"/>
                <a:cs typeface="微软雅黑" panose="020B0503020204020204" charset="-122"/>
                <a:sym typeface="+mn-ea"/>
              </a:rPr>
              <a:t>字段，为后续分析奠定基础</a:t>
            </a:r>
            <a:endParaRPr lang="zh-CN" altLang="en-US">
              <a:solidFill>
                <a:schemeClr val="dk1"/>
              </a:solidFill>
              <a:latin typeface="等线" panose="02010600030101010101" charset="-122"/>
              <a:ea typeface="等线" panose="02010600030101010101" charset="-122"/>
              <a:cs typeface="微软雅黑" panose="020B0503020204020204" charset="-122"/>
              <a:sym typeface="+mn-ea"/>
            </a:endParaRPr>
          </a:p>
          <a:p>
            <a:pPr marL="171450" indent="-171450">
              <a:buFont typeface="Arial" panose="020B0604020202020204" pitchFamily="34" charset="0"/>
              <a:buChar char="•"/>
            </a:pPr>
            <a:r>
              <a:rPr lang="en-US">
                <a:solidFill>
                  <a:srgbClr val="2F2F2F">
                    <a:alpha val="100000"/>
                  </a:srgbClr>
                </a:solidFill>
                <a:latin typeface="微软雅黑" panose="020B0503020204020204" charset="-122"/>
                <a:ea typeface="微软雅黑" panose="020B0503020204020204" charset="-122"/>
                <a:cs typeface="微软雅黑" panose="020B0503020204020204" charset="-122"/>
                <a:sym typeface="+mn-ea"/>
              </a:rPr>
              <a:t>根据职位要求图谱，系统为企业推荐符合条件的候选人列表，并附上匹配度评分。</a:t>
            </a:r>
            <a:endParaRPr lang="en-US">
              <a:solidFill>
                <a:srgbClr val="2F2F2F">
                  <a:alpha val="100000"/>
                </a:srgbClr>
              </a:solidFill>
              <a:latin typeface="微软雅黑" panose="020B0503020204020204" charset="-122"/>
              <a:ea typeface="微软雅黑" panose="020B0503020204020204" charset="-122"/>
              <a:cs typeface="微软雅黑" panose="020B0503020204020204" charset="-122"/>
              <a:sym typeface="+mn-ea"/>
            </a:endParaRPr>
          </a:p>
          <a:p>
            <a:pPr marL="171450" indent="-171450">
              <a:buFont typeface="Arial" panose="020B0604020202020204" pitchFamily="34" charset="0"/>
              <a:buChar char="•"/>
            </a:pPr>
            <a:r>
              <a:rPr lang="zh-CN" altLang="en-US">
                <a:solidFill>
                  <a:srgbClr val="2F2F2F">
                    <a:alpha val="100000"/>
                  </a:srgbClr>
                </a:solidFill>
                <a:latin typeface="微软雅黑" panose="020B0503020204020204" charset="-122"/>
                <a:ea typeface="微软雅黑" panose="020B0503020204020204" charset="-122"/>
                <a:cs typeface="微软雅黑" panose="020B0503020204020204" charset="-122"/>
                <a:sym typeface="+mn-ea"/>
              </a:rPr>
              <a:t>根据简历经历，系统为求职者推荐最对应的岗位，附上匹配度评分。</a:t>
            </a:r>
            <a:endParaRPr lang="zh-CN" altLang="en-US" dirty="0"/>
          </a:p>
          <a:p>
            <a:r>
              <a:rPr lang="en-US" altLang="zh-CN" dirty="0"/>
              <a:t>3.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能力图谱构建与可视化</a:t>
            </a:r>
            <a:endParaRPr lang="zh-CN" altLang="en-US" b="1">
              <a:solidFill>
                <a:schemeClr val="dk1"/>
              </a:solidFill>
              <a:latin typeface="等线 Light" panose="02010600030101010101" charset="-122"/>
              <a:ea typeface="等线 Light" panose="02010600030101010101" charset="-122"/>
              <a:cs typeface="微软雅黑" panose="020B0503020204020204" charset="-122"/>
            </a:endParaRPr>
          </a:p>
          <a:p>
            <a:r>
              <a:rPr lang="zh-CN" altLang="en-US">
                <a:solidFill>
                  <a:schemeClr val="dk1"/>
                </a:solidFill>
                <a:latin typeface="等线" panose="02010600030101010101" charset="-122"/>
                <a:ea typeface="等线" panose="02010600030101010101" charset="-122"/>
                <a:cs typeface="微软雅黑" panose="020B0503020204020204" charset="-122"/>
                <a:sym typeface="+mn-ea"/>
              </a:rPr>
              <a:t>基于解析后的结构化数据，自动为个人构建“个人能力图谱”，为企业职位构建“职位能力图谱”，并以可视化形式进行可视化展示，实现能力与需求的图形化透视。</a:t>
            </a:r>
            <a:endParaRPr lang="zh-CN" altLang="en-US" dirty="0"/>
          </a:p>
          <a:p>
            <a:r>
              <a:rPr lang="en-US" altLang="zh-CN" dirty="0"/>
              <a:t>4.</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智能双向匹配与推荐</a:t>
            </a:r>
            <a:endParaRPr lang="zh-CN" altLang="en-US" dirty="0"/>
          </a:p>
          <a:p>
            <a:r>
              <a:rPr lang="zh-CN" altLang="en-US">
                <a:solidFill>
                  <a:schemeClr val="dk1"/>
                </a:solidFill>
                <a:latin typeface="等线" panose="02010600030101010101" charset="-122"/>
                <a:ea typeface="等线" panose="02010600030101010101" charset="-122"/>
                <a:cs typeface="微软雅黑" panose="020B0503020204020204" charset="-122"/>
                <a:sym typeface="+mn-ea"/>
              </a:rPr>
              <a:t>系统根据能力图谱，为个人推荐匹配的职位，同时为企业职位推荐符合条件的候选人，并提供匹配度评分与依据，提升招聘与求职效率。</a:t>
            </a:r>
            <a:endParaRPr lang="en-US" altLang="zh-CN">
              <a:solidFill>
                <a:schemeClr val="dk1"/>
              </a:solidFill>
              <a:latin typeface="等线" panose="02010600030101010101" charset="-122"/>
              <a:ea typeface="等线" panose="02010600030101010101" charset="-122"/>
              <a:cs typeface="微软雅黑" panose="020B0503020204020204" charset="-122"/>
            </a:endParaRPr>
          </a:p>
          <a:p>
            <a:pPr algn="l">
              <a:lnSpc>
                <a:spcPct val="120000"/>
              </a:lnSpc>
            </a:pPr>
            <a:r>
              <a:rPr lang="zh-CN" altLang="zh-CN">
                <a:solidFill>
                  <a:schemeClr val="dk1"/>
                </a:solidFill>
                <a:latin typeface="微软雅黑" panose="020B0503020204020204" charset="-122"/>
                <a:ea typeface="微软雅黑" panose="020B0503020204020204" charset="-122"/>
                <a:cs typeface="微软雅黑" panose="020B0503020204020204" charset="-122"/>
                <a:sym typeface="+mn-ea"/>
              </a:rPr>
              <a:t>额外功能：多维度匹配，如：居住城市、意向城市等可加分</a:t>
            </a:r>
            <a:endParaRPr lang="zh-CN" altLang="zh-CN">
              <a:solidFill>
                <a:schemeClr val="dk1"/>
              </a:solidFill>
              <a:latin typeface="微软雅黑" panose="020B0503020204020204" charset="-122"/>
              <a:ea typeface="微软雅黑" panose="020B0503020204020204" charset="-122"/>
              <a:cs typeface="微软雅黑" panose="020B0503020204020204" charset="-122"/>
              <a:sym typeface="+mn-ea"/>
            </a:endParaRPr>
          </a:p>
          <a:p>
            <a:pPr algn="l">
              <a:lnSpc>
                <a:spcPct val="120000"/>
              </a:lnSpc>
            </a:pPr>
            <a:r>
              <a:rPr lang="en-US" altLang="zh-CN">
                <a:solidFill>
                  <a:schemeClr val="dk1"/>
                </a:solidFill>
                <a:latin typeface="等线 Light" panose="02010600030101010101" charset="-122"/>
                <a:ea typeface="等线 Light" panose="02010600030101010101" charset="-122"/>
                <a:cs typeface="微软雅黑" panose="020B0503020204020204" charset="-122"/>
                <a:sym typeface="+mn-ea"/>
              </a:rPr>
              <a:t>5. </a:t>
            </a:r>
            <a:r>
              <a:rPr lang="zh-CN" altLang="en-US" b="1">
                <a:solidFill>
                  <a:schemeClr val="dk1"/>
                </a:solidFill>
                <a:latin typeface="等线 Light" panose="02010600030101010101" charset="-122"/>
                <a:ea typeface="等线 Light" panose="02010600030101010101" charset="-122"/>
                <a:cs typeface="微软雅黑" panose="020B0503020204020204" charset="-122"/>
                <a:sym typeface="+mn-ea"/>
              </a:rPr>
              <a:t>平台管理与监控后台</a:t>
            </a:r>
            <a:endParaRPr lang="zh-CN" altLang="zh-CN">
              <a:solidFill>
                <a:schemeClr val="dk1"/>
              </a:solidFill>
              <a:latin typeface="微软雅黑" panose="020B0503020204020204" charset="-122"/>
              <a:ea typeface="微软雅黑" panose="020B0503020204020204" charset="-122"/>
              <a:cs typeface="微软雅黑" panose="020B0503020204020204" charset="-122"/>
              <a:sym typeface="+mn-ea"/>
            </a:endParaRPr>
          </a:p>
          <a:p>
            <a:pPr algn="l">
              <a:lnSpc>
                <a:spcPct val="120000"/>
              </a:lnSpc>
            </a:pPr>
            <a:r>
              <a:rPr lang="zh-CN" altLang="en-US">
                <a:solidFill>
                  <a:schemeClr val="dk1"/>
                </a:solidFill>
                <a:latin typeface="等线" panose="02010600030101010101" charset="-122"/>
                <a:ea typeface="等线" panose="02010600030101010101" charset="-122"/>
                <a:cs typeface="微软雅黑" panose="020B0503020204020204" charset="-122"/>
                <a:sym typeface="+mn-ea"/>
              </a:rPr>
              <a:t>支持管理员进行用户管理、数据维护等操作，确保平台有序运行，并满足基本的运营与监控需求。</a:t>
            </a:r>
            <a:endParaRPr lang="zh-CN" altLang="en-US">
              <a:solidFill>
                <a:schemeClr val="dk1"/>
              </a:solidFill>
              <a:latin typeface="等线" panose="02010600030101010101" charset="-122"/>
              <a:ea typeface="等线" panose="02010600030101010101" charset="-122"/>
              <a:cs typeface="微软雅黑" panose="020B0503020204020204" charset="-122"/>
            </a:endParaRPr>
          </a:p>
          <a:p>
            <a:pPr algn="l">
              <a:lnSpc>
                <a:spcPct val="120000"/>
              </a:lnSpc>
            </a:pPr>
            <a:endParaRPr lang="zh-CN" altLang="zh-CN">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F9A27470-5F8E-F74D-9950-23D3799BF17F}"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第五部分，我们来解答一些大家最关心的高频问题。首先是三个基础问题。第一，OS Agent和ChatGPT、Siri有什么区别？简单说，OS Agent更强大，它会用工具、会做规划、还会记忆，而不仅仅是聊天。第二，偏好记忆和知识记忆的区别？偏好更像用户的个人口味，比如你爱喝咖啡；而知识是客观事实，比如咖啡机怎么用。第三，这道题是不是就是RAG？答案是：不是。RAG主要解决知识检索问题，而本题还要求解决偏好提取、版本化、冲突处理和遗忘等一系列RAG不涉及的复杂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再次感谢各位同学的聆听。创新的舞台已经搭就，我们期待你们的精彩表现。如果在报名或备赛过程中有任何疑问，欢迎随时通过我们的官网或服务热线联系我们。预祝大家取得优异成绩！谢谢！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descr="logo不带R"/>
          <p:cNvPicPr>
            <a:picLocks noChangeAspect="1"/>
          </p:cNvPicPr>
          <p:nvPr userDrawn="1"/>
        </p:nvPicPr>
        <p:blipFill>
          <a:blip r:embed="rId2"/>
          <a:stretch>
            <a:fillRect/>
          </a:stretch>
        </p:blipFill>
        <p:spPr>
          <a:xfrm>
            <a:off x="11128889" y="293444"/>
            <a:ext cx="774190" cy="463303"/>
          </a:xfrm>
          <a:prstGeom prst="rect">
            <a:avLst/>
          </a:prstGeom>
        </p:spPr>
      </p:pic>
      <p:sp>
        <p:nvSpPr>
          <p:cNvPr id="3" name="矩形 2"/>
          <p:cNvSpPr/>
          <p:nvPr userDrawn="1"/>
        </p:nvSpPr>
        <p:spPr>
          <a:xfrm>
            <a:off x="557657" y="416582"/>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竖排标题与文本">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8501" y="179723"/>
            <a:ext cx="1213613" cy="723755"/>
          </a:xfrm>
          <a:prstGeom prst="rect">
            <a:avLst/>
          </a:prstGeom>
        </p:spPr>
      </p:pic>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5" Type="http://schemas.openxmlformats.org/officeDocument/2006/relationships/theme" Target="../theme/theme4.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png"/><Relationship Id="rId2" Type="http://schemas.openxmlformats.org/officeDocument/2006/relationships/image" Target="../media/image4.emf"/><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2.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image" Target="../media/image22.sv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24.svg"/><Relationship Id="rId3" Type="http://schemas.openxmlformats.org/officeDocument/2006/relationships/image" Target="../media/image23.png"/><Relationship Id="rId26" Type="http://schemas.openxmlformats.org/officeDocument/2006/relationships/notesSlide" Target="../notesSlides/notesSlide5.xml"/><Relationship Id="rId25" Type="http://schemas.openxmlformats.org/officeDocument/2006/relationships/slideLayout" Target="../slideLayouts/slideLayout12.xml"/><Relationship Id="rId24" Type="http://schemas.openxmlformats.org/officeDocument/2006/relationships/tags" Target="../tags/tag16.xml"/><Relationship Id="rId23" Type="http://schemas.openxmlformats.org/officeDocument/2006/relationships/tags" Target="../tags/tag15.xml"/><Relationship Id="rId22" Type="http://schemas.openxmlformats.org/officeDocument/2006/relationships/image" Target="../media/image30.svg"/><Relationship Id="rId21" Type="http://schemas.openxmlformats.org/officeDocument/2006/relationships/image" Target="../media/image29.png"/><Relationship Id="rId20" Type="http://schemas.openxmlformats.org/officeDocument/2006/relationships/tags" Target="../tags/tag14.xml"/><Relationship Id="rId2" Type="http://schemas.openxmlformats.org/officeDocument/2006/relationships/tags" Target="../tags/tag2.xml"/><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image" Target="../media/image28.svg"/><Relationship Id="rId15" Type="http://schemas.openxmlformats.org/officeDocument/2006/relationships/image" Target="../media/image27.png"/><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image" Target="../media/image26.sv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1.png"/><Relationship Id="rId2" Type="http://schemas.openxmlformats.org/officeDocument/2006/relationships/image" Target="../media/image4.emf"/><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2" Type="http://schemas.openxmlformats.org/officeDocument/2006/relationships/notesSlide" Target="../notesSlides/notesSlide8.xml"/><Relationship Id="rId21" Type="http://schemas.openxmlformats.org/officeDocument/2006/relationships/slideLayout" Target="../slideLayouts/slideLayout18.xml"/><Relationship Id="rId20" Type="http://schemas.openxmlformats.org/officeDocument/2006/relationships/tags" Target="../tags/tag36.xml"/><Relationship Id="rId2" Type="http://schemas.openxmlformats.org/officeDocument/2006/relationships/tags" Target="../tags/tag18.xml"/><Relationship Id="rId19" Type="http://schemas.openxmlformats.org/officeDocument/2006/relationships/tags" Target="../tags/tag35.xml"/><Relationship Id="rId18" Type="http://schemas.openxmlformats.org/officeDocument/2006/relationships/tags" Target="../tags/tag34.xml"/><Relationship Id="rId17" Type="http://schemas.openxmlformats.org/officeDocument/2006/relationships/tags" Target="../tags/tag33.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6.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image" Target="../media/image1.png"/><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6.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1.png"/><Relationship Id="rId1" Type="http://schemas.openxmlformats.org/officeDocument/2006/relationships/tags" Target="../tags/tag40.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7.xml"/><Relationship Id="rId6" Type="http://schemas.openxmlformats.org/officeDocument/2006/relationships/hyperlink" Target="https://gitee.com/openkylin/kylin-coreai-embedding/blob/openkylin/nile-sp2/test/testEmbeddingApi.cpp" TargetMode="External"/><Relationship Id="rId5" Type="http://schemas.openxmlformats.org/officeDocument/2006/relationships/hyperlink" Target="https://gitee.com/openkylin/libkysdk-vector-engine-client/tree/openkylin/nile-sp2/demo/client" TargetMode="Externa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image" Target="../media/image1.png"/><Relationship Id="rId1" Type="http://schemas.openxmlformats.org/officeDocument/2006/relationships/tags" Target="../tags/tag43.xml"/></Relationships>
</file>

<file path=ppt/slides/_rels/slide14.xml.rels><?xml version="1.0" encoding="UTF-8" standalone="yes"?>
<Relationships xmlns="http://schemas.openxmlformats.org/package/2006/relationships"><Relationship Id="rId9" Type="http://schemas.openxmlformats.org/officeDocument/2006/relationships/image" Target="../media/image33.svg"/><Relationship Id="rId8" Type="http://schemas.openxmlformats.org/officeDocument/2006/relationships/image" Target="../media/image32.png"/><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2" Type="http://schemas.openxmlformats.org/officeDocument/2006/relationships/notesSlide" Target="../notesSlides/notesSlide12.xml"/><Relationship Id="rId41" Type="http://schemas.openxmlformats.org/officeDocument/2006/relationships/slideLayout" Target="../slideLayouts/slideLayout16.xml"/><Relationship Id="rId40" Type="http://schemas.openxmlformats.org/officeDocument/2006/relationships/tags" Target="../tags/tag74.xml"/><Relationship Id="rId4" Type="http://schemas.openxmlformats.org/officeDocument/2006/relationships/tags" Target="../tags/tag48.xml"/><Relationship Id="rId39" Type="http://schemas.openxmlformats.org/officeDocument/2006/relationships/tags" Target="../tags/tag73.xml"/><Relationship Id="rId38" Type="http://schemas.openxmlformats.org/officeDocument/2006/relationships/tags" Target="../tags/tag72.xml"/><Relationship Id="rId37" Type="http://schemas.openxmlformats.org/officeDocument/2006/relationships/image" Target="../media/image41.svg"/><Relationship Id="rId36" Type="http://schemas.openxmlformats.org/officeDocument/2006/relationships/image" Target="../media/image40.png"/><Relationship Id="rId35" Type="http://schemas.openxmlformats.org/officeDocument/2006/relationships/tags" Target="../tags/tag71.xml"/><Relationship Id="rId34" Type="http://schemas.openxmlformats.org/officeDocument/2006/relationships/tags" Target="../tags/tag70.xml"/><Relationship Id="rId33" Type="http://schemas.openxmlformats.org/officeDocument/2006/relationships/tags" Target="../tags/tag69.xml"/><Relationship Id="rId32" Type="http://schemas.openxmlformats.org/officeDocument/2006/relationships/tags" Target="../tags/tag68.xml"/><Relationship Id="rId31" Type="http://schemas.openxmlformats.org/officeDocument/2006/relationships/tags" Target="../tags/tag67.xml"/><Relationship Id="rId30" Type="http://schemas.openxmlformats.org/officeDocument/2006/relationships/image" Target="../media/image39.svg"/><Relationship Id="rId3" Type="http://schemas.openxmlformats.org/officeDocument/2006/relationships/tags" Target="../tags/tag47.xml"/><Relationship Id="rId29" Type="http://schemas.openxmlformats.org/officeDocument/2006/relationships/image" Target="../media/image38.png"/><Relationship Id="rId28" Type="http://schemas.openxmlformats.org/officeDocument/2006/relationships/tags" Target="../tags/tag66.xml"/><Relationship Id="rId27" Type="http://schemas.openxmlformats.org/officeDocument/2006/relationships/tags" Target="../tags/tag65.xml"/><Relationship Id="rId26" Type="http://schemas.openxmlformats.org/officeDocument/2006/relationships/tags" Target="../tags/tag64.xml"/><Relationship Id="rId25" Type="http://schemas.openxmlformats.org/officeDocument/2006/relationships/tags" Target="../tags/tag63.xml"/><Relationship Id="rId24" Type="http://schemas.openxmlformats.org/officeDocument/2006/relationships/tags" Target="../tags/tag62.xml"/><Relationship Id="rId23" Type="http://schemas.openxmlformats.org/officeDocument/2006/relationships/image" Target="../media/image37.svg"/><Relationship Id="rId22" Type="http://schemas.openxmlformats.org/officeDocument/2006/relationships/image" Target="../media/image36.png"/><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image" Target="../media/image1.png"/><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image" Target="../media/image35.svg"/><Relationship Id="rId15" Type="http://schemas.openxmlformats.org/officeDocument/2006/relationships/image" Target="../media/image34.png"/><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6.xml"/></Relationships>
</file>

<file path=ppt/slides/_rels/slide15.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2" Type="http://schemas.openxmlformats.org/officeDocument/2006/relationships/notesSlide" Target="../notesSlides/notesSlide13.xml"/><Relationship Id="rId21" Type="http://schemas.openxmlformats.org/officeDocument/2006/relationships/slideLayout" Target="../slideLayouts/slideLayout18.xml"/><Relationship Id="rId20" Type="http://schemas.openxmlformats.org/officeDocument/2006/relationships/tags" Target="../tags/tag94.xml"/><Relationship Id="rId2" Type="http://schemas.openxmlformats.org/officeDocument/2006/relationships/tags" Target="../tags/tag76.xml"/><Relationship Id="rId19" Type="http://schemas.openxmlformats.org/officeDocument/2006/relationships/tags" Target="../tags/tag93.xml"/><Relationship Id="rId18" Type="http://schemas.openxmlformats.org/officeDocument/2006/relationships/tags" Target="../tags/tag92.xml"/><Relationship Id="rId17" Type="http://schemas.openxmlformats.org/officeDocument/2006/relationships/tags" Target="../tags/tag91.xml"/><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tags" Target="../tags/tag75.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image" Target="../media/image1.png"/><Relationship Id="rId10" Type="http://schemas.openxmlformats.org/officeDocument/2006/relationships/notesSlide" Target="../notesSlides/notesSlide14.xml"/><Relationship Id="rId1" Type="http://schemas.openxmlformats.org/officeDocument/2006/relationships/tags" Target="../tags/tag95.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image" Target="../media/image1.png"/><Relationship Id="rId10" Type="http://schemas.openxmlformats.org/officeDocument/2006/relationships/notesSlide" Target="../notesSlides/notesSlide15.xml"/><Relationship Id="rId1" Type="http://schemas.openxmlformats.org/officeDocument/2006/relationships/tags" Target="../tags/tag98.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6.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image" Target="../media/image1.png"/><Relationship Id="rId1" Type="http://schemas.openxmlformats.org/officeDocument/2006/relationships/tags" Target="../tags/tag101.xml"/></Relationships>
</file>

<file path=ppt/slides/_rels/slide19.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2" Type="http://schemas.openxmlformats.org/officeDocument/2006/relationships/notesSlide" Target="../notesSlides/notesSlide17.xml"/><Relationship Id="rId21" Type="http://schemas.openxmlformats.org/officeDocument/2006/relationships/slideLayout" Target="../slideLayouts/slideLayout18.xml"/><Relationship Id="rId20" Type="http://schemas.openxmlformats.org/officeDocument/2006/relationships/tags" Target="../tags/tag123.xml"/><Relationship Id="rId2" Type="http://schemas.openxmlformats.org/officeDocument/2006/relationships/tags" Target="../tags/tag105.xml"/><Relationship Id="rId19" Type="http://schemas.openxmlformats.org/officeDocument/2006/relationships/tags" Target="../tags/tag122.xml"/><Relationship Id="rId18" Type="http://schemas.openxmlformats.org/officeDocument/2006/relationships/tags" Target="../tags/tag121.xml"/><Relationship Id="rId17" Type="http://schemas.openxmlformats.org/officeDocument/2006/relationships/tags" Target="../tags/tag120.xml"/><Relationship Id="rId16" Type="http://schemas.openxmlformats.org/officeDocument/2006/relationships/tags" Target="../tags/tag119.xml"/><Relationship Id="rId15" Type="http://schemas.openxmlformats.org/officeDocument/2006/relationships/tags" Target="../tags/tag118.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7.xml"/><Relationship Id="rId4" Type="http://schemas.openxmlformats.org/officeDocument/2006/relationships/image" Target="../media/image1.png"/><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chart" Target="../charts/chart1.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7.xml"/><Relationship Id="rId3" Type="http://schemas.openxmlformats.org/officeDocument/2006/relationships/image" Target="../media/image1.png"/><Relationship Id="rId2" Type="http://schemas.openxmlformats.org/officeDocument/2006/relationships/tags" Target="../tags/tag127.xml"/><Relationship Id="rId1" Type="http://schemas.openxmlformats.org/officeDocument/2006/relationships/tags" Target="../tags/tag126.xml"/></Relationships>
</file>

<file path=ppt/slides/_rels/slide22.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2" Type="http://schemas.openxmlformats.org/officeDocument/2006/relationships/notesSlide" Target="../notesSlides/notesSlide20.xml"/><Relationship Id="rId21" Type="http://schemas.openxmlformats.org/officeDocument/2006/relationships/slideLayout" Target="../slideLayouts/slideLayout18.xml"/><Relationship Id="rId20" Type="http://schemas.openxmlformats.org/officeDocument/2006/relationships/tags" Target="../tags/tag147.xml"/><Relationship Id="rId2" Type="http://schemas.openxmlformats.org/officeDocument/2006/relationships/tags" Target="../tags/tag129.xml"/><Relationship Id="rId19" Type="http://schemas.openxmlformats.org/officeDocument/2006/relationships/tags" Target="../tags/tag146.xml"/><Relationship Id="rId18" Type="http://schemas.openxmlformats.org/officeDocument/2006/relationships/tags" Target="../tags/tag145.xml"/><Relationship Id="rId17" Type="http://schemas.openxmlformats.org/officeDocument/2006/relationships/tags" Target="../tags/tag144.xml"/><Relationship Id="rId16" Type="http://schemas.openxmlformats.org/officeDocument/2006/relationships/tags" Target="../tags/tag143.xml"/><Relationship Id="rId15" Type="http://schemas.openxmlformats.org/officeDocument/2006/relationships/tags" Target="../tags/tag142.xml"/><Relationship Id="rId14" Type="http://schemas.openxmlformats.org/officeDocument/2006/relationships/tags" Target="../tags/tag141.xml"/><Relationship Id="rId13" Type="http://schemas.openxmlformats.org/officeDocument/2006/relationships/tags" Target="../tags/tag140.xml"/><Relationship Id="rId12" Type="http://schemas.openxmlformats.org/officeDocument/2006/relationships/tags" Target="../tags/tag139.xml"/><Relationship Id="rId11" Type="http://schemas.openxmlformats.org/officeDocument/2006/relationships/tags" Target="../tags/tag138.xml"/><Relationship Id="rId10" Type="http://schemas.openxmlformats.org/officeDocument/2006/relationships/tags" Target="../tags/tag137.xml"/><Relationship Id="rId1" Type="http://schemas.openxmlformats.org/officeDocument/2006/relationships/tags" Target="../tags/tag128.xml"/></Relationships>
</file>

<file path=ppt/slides/_rels/slide23.xml.rels><?xml version="1.0" encoding="UTF-8" standalone="yes"?>
<Relationships xmlns="http://schemas.openxmlformats.org/package/2006/relationships"><Relationship Id="rId9" Type="http://schemas.openxmlformats.org/officeDocument/2006/relationships/image" Target="../media/image50.svg"/><Relationship Id="rId8" Type="http://schemas.openxmlformats.org/officeDocument/2006/relationships/image" Target="../media/image32.png"/><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8" Type="http://schemas.openxmlformats.org/officeDocument/2006/relationships/notesSlide" Target="../notesSlides/notesSlide21.xml"/><Relationship Id="rId27" Type="http://schemas.openxmlformats.org/officeDocument/2006/relationships/slideLayout" Target="../slideLayouts/slideLayout16.xml"/><Relationship Id="rId26" Type="http://schemas.openxmlformats.org/officeDocument/2006/relationships/tags" Target="../tags/tag166.xml"/><Relationship Id="rId25" Type="http://schemas.openxmlformats.org/officeDocument/2006/relationships/tags" Target="../tags/tag165.xml"/><Relationship Id="rId24" Type="http://schemas.openxmlformats.org/officeDocument/2006/relationships/tags" Target="../tags/tag164.xml"/><Relationship Id="rId23" Type="http://schemas.openxmlformats.org/officeDocument/2006/relationships/image" Target="../media/image52.svg"/><Relationship Id="rId22" Type="http://schemas.openxmlformats.org/officeDocument/2006/relationships/image" Target="../media/image36.png"/><Relationship Id="rId21" Type="http://schemas.openxmlformats.org/officeDocument/2006/relationships/tags" Target="../tags/tag163.xml"/><Relationship Id="rId20" Type="http://schemas.openxmlformats.org/officeDocument/2006/relationships/tags" Target="../tags/tag162.xml"/><Relationship Id="rId2" Type="http://schemas.openxmlformats.org/officeDocument/2006/relationships/image" Target="../media/image1.png"/><Relationship Id="rId19" Type="http://schemas.openxmlformats.org/officeDocument/2006/relationships/tags" Target="../tags/tag161.xml"/><Relationship Id="rId18" Type="http://schemas.openxmlformats.org/officeDocument/2006/relationships/tags" Target="../tags/tag160.xml"/><Relationship Id="rId17" Type="http://schemas.openxmlformats.org/officeDocument/2006/relationships/tags" Target="../tags/tag159.xml"/><Relationship Id="rId16" Type="http://schemas.openxmlformats.org/officeDocument/2006/relationships/image" Target="../media/image51.svg"/><Relationship Id="rId15" Type="http://schemas.openxmlformats.org/officeDocument/2006/relationships/image" Target="../media/image34.png"/><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8.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5.xml"/><Relationship Id="rId2" Type="http://schemas.openxmlformats.org/officeDocument/2006/relationships/image" Target="../media/image54.png"/><Relationship Id="rId1"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2.xml"/><Relationship Id="rId4" Type="http://schemas.openxmlformats.org/officeDocument/2006/relationships/image" Target="../media/image55.png"/><Relationship Id="rId3" Type="http://schemas.openxmlformats.org/officeDocument/2006/relationships/image" Target="../media/image3.png"/><Relationship Id="rId2" Type="http://schemas.openxmlformats.org/officeDocument/2006/relationships/image" Target="../media/image53.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0" y="-5"/>
            <a:ext cx="12192000" cy="6863047"/>
          </a:xfrm>
          <a:prstGeom prst="rect">
            <a:avLst/>
          </a:prstGeom>
        </p:spPr>
      </p:pic>
      <p:sp>
        <p:nvSpPr>
          <p:cNvPr id="7" name="矩形 6"/>
          <p:cNvSpPr/>
          <p:nvPr/>
        </p:nvSpPr>
        <p:spPr>
          <a:xfrm>
            <a:off x="830580" y="1223010"/>
            <a:ext cx="10316845" cy="2784475"/>
          </a:xfrm>
          <a:prstGeom prst="rect">
            <a:avLst/>
          </a:prstGeom>
        </p:spPr>
        <p:txBody>
          <a:bodyPr wrap="square">
            <a:spAutoFit/>
          </a:bodyPr>
          <a:lstStyle/>
          <a:p>
            <a:pPr indent="0" algn="l">
              <a:lnSpc>
                <a:spcPct val="108000"/>
              </a:lnSpc>
              <a:defRPr/>
            </a:pPr>
            <a:r>
              <a:rPr lang="en-US" sz="4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2026年度中国青年科技创新</a:t>
            </a:r>
            <a:endParaRPr lang="en-US" sz="4000">
              <a:solidFill>
                <a:schemeClr val="bg1"/>
              </a:solidFill>
            </a:endParaRPr>
          </a:p>
          <a:p>
            <a:pPr indent="0" algn="l">
              <a:lnSpc>
                <a:spcPct val="108000"/>
              </a:lnSpc>
            </a:pPr>
            <a:r>
              <a:rPr lang="en-US" sz="4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“揭榜挂帅”擂台赛</a:t>
            </a:r>
            <a:endParaRPr lang="en-US" sz="4000" b="1" i="0" u="none" strike="noStrik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spcBef>
                <a:spcPts val="2000"/>
              </a:spcBef>
            </a:pPr>
            <a:r>
              <a:rPr lang="en-US" sz="3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28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OS Agent </a:t>
            </a:r>
            <a:r>
              <a:rPr lang="zh-CN" altLang="en-US" sz="28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记忆优化及高效应用研究– 赛题解读</a:t>
            </a:r>
            <a:r>
              <a:rPr lang="en-US" sz="3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3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defTabSz="913765"/>
            <a:endParaRPr lang="en-US" altLang="en-US" sz="3200" b="0" i="0" u="none" strike="noStrike" spc="3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图片 8"/>
          <p:cNvPicPr>
            <a:picLocks noChangeAspect="1"/>
          </p:cNvPicPr>
          <p:nvPr/>
        </p:nvPicPr>
        <p:blipFill>
          <a:blip r:embed="rId2"/>
          <a:stretch>
            <a:fillRect/>
          </a:stretch>
        </p:blipFill>
        <p:spPr>
          <a:xfrm>
            <a:off x="821803" y="5324295"/>
            <a:ext cx="10548395" cy="444143"/>
          </a:xfrm>
          <a:prstGeom prst="rect">
            <a:avLst/>
          </a:prstGeom>
        </p:spPr>
      </p:pic>
      <p:sp>
        <p:nvSpPr>
          <p:cNvPr id="10" name="矩形 9"/>
          <p:cNvSpPr/>
          <p:nvPr/>
        </p:nvSpPr>
        <p:spPr>
          <a:xfrm>
            <a:off x="839475" y="5903239"/>
            <a:ext cx="4627879" cy="400110"/>
          </a:xfrm>
          <a:prstGeom prst="rect">
            <a:avLst/>
          </a:prstGeom>
        </p:spPr>
        <p:txBody>
          <a:bodyPr wrap="square">
            <a:spAutoFit/>
          </a:bodyPr>
          <a:lstStyle/>
          <a:p>
            <a:pPr defTabSz="913765"/>
            <a:r>
              <a:rPr lang="en-US" altLang="zh-CN" sz="2000" dirty="0">
                <a:solidFill>
                  <a:srgbClr val="139BEE"/>
                </a:solidFill>
                <a:latin typeface="黑体" panose="02010609060101010101" charset="-122"/>
                <a:ea typeface="黑体" panose="02010609060101010101" charset="-122"/>
                <a:cs typeface="Arial" panose="020B0604020202020204" pitchFamily="34" charset="0"/>
              </a:rPr>
              <a:t>kylinos.cn</a:t>
            </a:r>
            <a:endParaRPr lang="en-US" altLang="zh-CN" sz="2000" dirty="0">
              <a:solidFill>
                <a:srgbClr val="139BEE"/>
              </a:solidFill>
              <a:latin typeface="黑体" panose="02010609060101010101" charset="-122"/>
              <a:ea typeface="黑体" panose="02010609060101010101" charset="-122"/>
              <a:cs typeface="Arial" panose="020B0604020202020204" pitchFamily="34" charset="0"/>
            </a:endParaRPr>
          </a:p>
        </p:txBody>
      </p:sp>
      <p:sp>
        <p:nvSpPr>
          <p:cNvPr id="12" name="矩形 11"/>
          <p:cNvSpPr/>
          <p:nvPr/>
        </p:nvSpPr>
        <p:spPr>
          <a:xfrm>
            <a:off x="9690195" y="5960287"/>
            <a:ext cx="1751325" cy="306705"/>
          </a:xfrm>
          <a:prstGeom prst="rect">
            <a:avLst/>
          </a:prstGeom>
        </p:spPr>
        <p:txBody>
          <a:bodyPr wrap="square">
            <a:spAutoFit/>
          </a:bodyPr>
          <a:lstStyle/>
          <a:p>
            <a:pPr algn="r" defTabSz="913765"/>
            <a:r>
              <a:rPr lang="en-US" altLang="zh-CN" dirty="0">
                <a:solidFill>
                  <a:srgbClr val="139BEE"/>
                </a:solidFill>
                <a:latin typeface="黑体" panose="02010609060101010101" charset="-122"/>
                <a:ea typeface="黑体" panose="02010609060101010101" charset="-122"/>
                <a:cs typeface="Arial" panose="020B0604020202020204" pitchFamily="34" charset="0"/>
              </a:rPr>
              <a:t>2026.05</a:t>
            </a:r>
            <a:endParaRPr lang="zh-CN" altLang="en-US" dirty="0">
              <a:solidFill>
                <a:srgbClr val="139BEE"/>
              </a:solidFill>
              <a:latin typeface="黑体" panose="02010609060101010101" charset="-122"/>
              <a:ea typeface="黑体" panose="02010609060101010101" charset="-122"/>
              <a:cs typeface="Arial" panose="020B0604020202020204" pitchFamily="34" charset="0"/>
            </a:endParaRPr>
          </a:p>
        </p:txBody>
      </p:sp>
      <p:sp>
        <p:nvSpPr>
          <p:cNvPr id="2" name="圆角矩形 1"/>
          <p:cNvSpPr/>
          <p:nvPr/>
        </p:nvSpPr>
        <p:spPr>
          <a:xfrm>
            <a:off x="10194966" y="6333631"/>
            <a:ext cx="541679" cy="61973"/>
          </a:xfrm>
          <a:prstGeom prst="roundRect">
            <a:avLst>
              <a:gd name="adj"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kumimoji="1" lang="zh-CN" altLang="en-US">
              <a:solidFill>
                <a:prstClr val="white"/>
              </a:solidFill>
              <a:latin typeface="黑体" panose="02010609060101010101" charset="-122"/>
              <a:ea typeface="黑体" panose="02010609060101010101" charset="-122"/>
            </a:endParaRPr>
          </a:p>
        </p:txBody>
      </p:sp>
      <p:sp>
        <p:nvSpPr>
          <p:cNvPr id="13" name="圆角矩形 12"/>
          <p:cNvSpPr/>
          <p:nvPr/>
        </p:nvSpPr>
        <p:spPr>
          <a:xfrm>
            <a:off x="10810846" y="6333631"/>
            <a:ext cx="541679" cy="61973"/>
          </a:xfrm>
          <a:prstGeom prst="roundRect">
            <a:avLst>
              <a:gd name="adj" fmla="val 50000"/>
            </a:avLst>
          </a:prstGeom>
          <a:solidFill>
            <a:srgbClr val="159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kumimoji="1" lang="zh-CN" altLang="en-US">
              <a:solidFill>
                <a:prstClr val="white"/>
              </a:solidFill>
              <a:latin typeface="黑体" panose="02010609060101010101" charset="-122"/>
              <a:ea typeface="黑体" panose="02010609060101010101" charset="-122"/>
            </a:endParaRPr>
          </a:p>
        </p:txBody>
      </p:sp>
      <p:sp>
        <p:nvSpPr>
          <p:cNvPr id="3" name="文本框 2"/>
          <p:cNvSpPr txBox="1"/>
          <p:nvPr/>
        </p:nvSpPr>
        <p:spPr>
          <a:xfrm>
            <a:off x="821803" y="4816529"/>
            <a:ext cx="3435237" cy="368300"/>
          </a:xfrm>
          <a:prstGeom prst="rect">
            <a:avLst/>
          </a:prstGeom>
          <a:noFill/>
        </p:spPr>
        <p:txBody>
          <a:bodyPr wrap="square" rtlCol="0">
            <a:spAutoFit/>
          </a:bodyPr>
          <a:lstStyle/>
          <a:p>
            <a:pPr algn="dist" defTabSz="913765"/>
            <a:r>
              <a:rPr lang="zh-CN" altLang="en-US" b="1" dirty="0">
                <a:solidFill>
                  <a:srgbClr val="ED2B3B"/>
                </a:solidFill>
                <a:latin typeface="黑体" panose="02010609060101010101" charset="-122"/>
                <a:ea typeface="黑体" panose="02010609060101010101" charset="-122"/>
                <a:cs typeface="微软雅黑" panose="020B0503020204020204" charset="-122"/>
              </a:rPr>
              <a:t>打造世界级操作系统中国品牌</a:t>
            </a:r>
            <a:endParaRPr lang="zh-CN" altLang="en-US" b="1" dirty="0">
              <a:solidFill>
                <a:srgbClr val="ED2B3B"/>
              </a:solidFill>
              <a:latin typeface="黑体" panose="02010609060101010101" charset="-122"/>
              <a:ea typeface="黑体" panose="02010609060101010101" charset="-122"/>
              <a:cs typeface="微软雅黑" panose="020B0503020204020204" charset="-122"/>
            </a:endParaRPr>
          </a:p>
        </p:txBody>
      </p:sp>
      <p:pic>
        <p:nvPicPr>
          <p:cNvPr id="4" name="图片 3" descr="logo不带R"/>
          <p:cNvPicPr>
            <a:picLocks noChangeAspect="1"/>
          </p:cNvPicPr>
          <p:nvPr userDrawn="1"/>
        </p:nvPicPr>
        <p:blipFill>
          <a:blip r:embed="rId3"/>
          <a:stretch>
            <a:fillRect/>
          </a:stretch>
        </p:blipFill>
        <p:spPr>
          <a:xfrm>
            <a:off x="10465805" y="303069"/>
            <a:ext cx="1406313" cy="8415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58800" y="393700"/>
            <a:ext cx="88900" cy="4191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825500" y="317500"/>
            <a:ext cx="762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111827"/>
                </a:solidFill>
                <a:latin typeface="微软雅黑" panose="020B0503020204020204" charset="-122"/>
                <a:ea typeface="微软雅黑" panose="020B0503020204020204" charset="-122"/>
                <a:cs typeface="微软雅黑" panose="020B0503020204020204" charset="-122"/>
                <a:sym typeface="微软雅黑" panose="020B0503020204020204" charset="-122"/>
              </a:rPr>
              <a:t>赛事背景：中国青年科技创新“揭榜挂帅”擂台赛</a:t>
            </a:r>
            <a:endParaRPr lang="en-US" sz="1100"/>
          </a:p>
        </p:txBody>
      </p:sp>
      <p:pic>
        <p:nvPicPr>
          <p:cNvPr id="4" name="Picture 4"/>
          <p:cNvPicPr>
            <a:picLocks noChangeAspect="1"/>
          </p:cNvPicPr>
          <p:nvPr/>
        </p:nvPicPr>
        <p:blipFill>
          <a:blip r:embed="rId1"/>
          <a:srcRect t="127" b="127"/>
          <a:stretch>
            <a:fillRect/>
          </a:stretch>
        </p:blipFill>
        <p:spPr>
          <a:xfrm>
            <a:off x="10668000" y="381000"/>
            <a:ext cx="863600" cy="508000"/>
          </a:xfrm>
          <a:prstGeom prst="rect">
            <a:avLst/>
          </a:prstGeom>
          <a:noFill/>
          <a:ln w="25400" cap="flat" cmpd="sng">
            <a:noFill/>
            <a:prstDash val="solid"/>
            <a:round/>
          </a:ln>
        </p:spPr>
      </p:pic>
      <p:sp>
        <p:nvSpPr>
          <p:cNvPr id="5" name="AutoShape 5"/>
          <p:cNvSpPr/>
          <p:nvPr/>
        </p:nvSpPr>
        <p:spPr>
          <a:xfrm>
            <a:off x="558800" y="1079500"/>
            <a:ext cx="1117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以“新质生产力”为帆，凝聚青年力量，在中国式现代化新征程中挺膺担当！</a:t>
            </a:r>
            <a:endParaRPr lang="en-US" sz="1100"/>
          </a:p>
        </p:txBody>
      </p:sp>
      <p:sp>
        <p:nvSpPr>
          <p:cNvPr id="6" name="AutoShape 6"/>
          <p:cNvSpPr/>
          <p:nvPr/>
        </p:nvSpPr>
        <p:spPr>
          <a:xfrm>
            <a:off x="558800" y="1587500"/>
            <a:ext cx="11176000" cy="952500"/>
          </a:xfrm>
          <a:prstGeom prst="roundRect">
            <a:avLst>
              <a:gd name="adj" fmla="val 13333"/>
            </a:avLst>
          </a:prstGeom>
          <a:solidFill>
            <a:srgbClr val="F3F4F6">
              <a:alpha val="100000"/>
            </a:srgbClr>
          </a:solidFill>
          <a:ln w="25400" cap="flat" cmpd="sng">
            <a:noFill/>
            <a:prstDash val="solid"/>
            <a:round/>
          </a:ln>
        </p:spPr>
        <p:txBody>
          <a:bodyPr vert="horz" wrap="square" lIns="190500" tIns="152400" rIns="190500" bIns="152400" rtlCol="0" anchor="ctr" anchorCtr="0"/>
          <a:lstStyle/>
          <a:p>
            <a:pPr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深入贯彻落实党的二十大精神及“十五五”规划战略部署，加快高水平科技自立自强，我们正式启幕2026年度中国青年科技创新“揭榜挂帅”擂台赛。赛事旨在动员广大青年扎根科研攻关一线，打破高校与产业的壁垒，助力科技创新和产业创新深度融合，让青年人才成为推动高质量发展的生力军。</a:t>
            </a:r>
            <a:endParaRPr lang="en-US" sz="1100"/>
          </a:p>
        </p:txBody>
      </p:sp>
      <p:sp>
        <p:nvSpPr>
          <p:cNvPr id="7" name="AutoShape 7"/>
          <p:cNvSpPr/>
          <p:nvPr/>
        </p:nvSpPr>
        <p:spPr>
          <a:xfrm>
            <a:off x="558800" y="2667000"/>
            <a:ext cx="1117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赛事核心亮点：聚焦真问题，比拼真本事，落地真成果</a:t>
            </a:r>
            <a:endParaRPr lang="en-US" sz="1100"/>
          </a:p>
        </p:txBody>
      </p:sp>
      <p:sp>
        <p:nvSpPr>
          <p:cNvPr id="8" name="AutoShape 8"/>
          <p:cNvSpPr/>
          <p:nvPr/>
        </p:nvSpPr>
        <p:spPr>
          <a:xfrm>
            <a:off x="558800" y="3175000"/>
            <a:ext cx="5308600" cy="1587500"/>
          </a:xfrm>
          <a:prstGeom prst="roundRect">
            <a:avLst>
              <a:gd name="adj" fmla="val 960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3327400"/>
            <a:ext cx="355600" cy="355600"/>
          </a:xfrm>
          <a:prstGeom prst="rect">
            <a:avLst/>
          </a:prstGeom>
        </p:spPr>
      </p:pic>
      <p:sp>
        <p:nvSpPr>
          <p:cNvPr id="10" name="AutoShape 10"/>
          <p:cNvSpPr/>
          <p:nvPr/>
        </p:nvSpPr>
        <p:spPr>
          <a:xfrm>
            <a:off x="1206500" y="3302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锁定八大前沿战略领域</a:t>
            </a:r>
            <a:endParaRPr lang="en-US" sz="1100"/>
          </a:p>
        </p:txBody>
      </p:sp>
      <p:sp>
        <p:nvSpPr>
          <p:cNvPr id="11" name="AutoShape 11"/>
          <p:cNvSpPr/>
          <p:nvPr/>
        </p:nvSpPr>
        <p:spPr>
          <a:xfrm>
            <a:off x="762000" y="3810000"/>
            <a:ext cx="4953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精准聚焦新一代信息技术、人工智能、新能源、新材料、高端装备、机器人、生物医药、种业科技（海洋科技），紧扣国家战略发展方向，布局未来产业制高点。</a:t>
            </a:r>
            <a:endParaRPr lang="en-US" sz="1100"/>
          </a:p>
        </p:txBody>
      </p:sp>
      <p:sp>
        <p:nvSpPr>
          <p:cNvPr id="12" name="AutoShape 12"/>
          <p:cNvSpPr/>
          <p:nvPr/>
        </p:nvSpPr>
        <p:spPr>
          <a:xfrm>
            <a:off x="6032500" y="3175000"/>
            <a:ext cx="5308600" cy="1587500"/>
          </a:xfrm>
          <a:prstGeom prst="roundRect">
            <a:avLst>
              <a:gd name="adj" fmla="val 960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3000" y="3327400"/>
            <a:ext cx="355600" cy="355600"/>
          </a:xfrm>
          <a:prstGeom prst="rect">
            <a:avLst/>
          </a:prstGeom>
        </p:spPr>
      </p:pic>
      <p:sp>
        <p:nvSpPr>
          <p:cNvPr id="14" name="AutoShape 14"/>
          <p:cNvSpPr/>
          <p:nvPr/>
        </p:nvSpPr>
        <p:spPr>
          <a:xfrm>
            <a:off x="6667500" y="3302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103项产业一线真实榜题</a:t>
            </a:r>
            <a:endParaRPr lang="en-US" sz="1100"/>
          </a:p>
        </p:txBody>
      </p:sp>
      <p:sp>
        <p:nvSpPr>
          <p:cNvPr id="15" name="AutoShape 15"/>
          <p:cNvSpPr/>
          <p:nvPr/>
        </p:nvSpPr>
        <p:spPr>
          <a:xfrm>
            <a:off x="6223000" y="3810000"/>
            <a:ext cx="4953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拒绝“空中楼阁”，严选来自行业龙头企业的103个真实技术痛点与卡脖子难题。以问题为导向，让青年科研智慧精准对接企业实际需求，打通产学研用“最后一公里”。</a:t>
            </a:r>
            <a:endParaRPr lang="en-US" sz="1100"/>
          </a:p>
        </p:txBody>
      </p:sp>
      <p:sp>
        <p:nvSpPr>
          <p:cNvPr id="16" name="AutoShape 16"/>
          <p:cNvSpPr/>
          <p:nvPr/>
        </p:nvSpPr>
        <p:spPr>
          <a:xfrm>
            <a:off x="558800" y="4826000"/>
            <a:ext cx="10782300" cy="1206500"/>
          </a:xfrm>
          <a:prstGeom prst="roundRect">
            <a:avLst>
              <a:gd name="adj" fmla="val 10526"/>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5016500"/>
            <a:ext cx="406400" cy="406400"/>
          </a:xfrm>
          <a:prstGeom prst="rect">
            <a:avLst/>
          </a:prstGeom>
        </p:spPr>
      </p:pic>
      <p:sp>
        <p:nvSpPr>
          <p:cNvPr id="18" name="AutoShape 18"/>
          <p:cNvSpPr/>
          <p:nvPr/>
        </p:nvSpPr>
        <p:spPr>
          <a:xfrm>
            <a:off x="1270000" y="49784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高额激励 + 全链条落地孵化，8城联动打擂</a:t>
            </a:r>
            <a:endParaRPr lang="en-US" sz="1100"/>
          </a:p>
        </p:txBody>
      </p:sp>
      <p:sp>
        <p:nvSpPr>
          <p:cNvPr id="19" name="AutoShape 19"/>
          <p:cNvSpPr/>
          <p:nvPr/>
        </p:nvSpPr>
        <p:spPr>
          <a:xfrm>
            <a:off x="762000" y="5461000"/>
            <a:ext cx="10287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丰厚的奖金池与创业孵化、导师指导、资源对接等全方位配套支持。赛事将在8个产业集聚城市（区）分设主擂台，通过集中打擂、现场比拼、交流展示，择优孵化优秀项目，加速科技成果从“实验室”走向“生产线”。</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27" b="127"/>
          <a:stretch>
            <a:fillRect/>
          </a:stretch>
        </p:blipFill>
        <p:spPr>
          <a:xfrm>
            <a:off x="10782300" y="381000"/>
            <a:ext cx="863600" cy="508000"/>
          </a:xfrm>
          <a:prstGeom prst="rect">
            <a:avLst/>
          </a:prstGeom>
          <a:noFill/>
          <a:ln w="25400" cap="flat" cmpd="sng">
            <a:noFill/>
            <a:prstDash val="solid"/>
            <a:round/>
          </a:ln>
        </p:spPr>
      </p:pic>
      <p:sp>
        <p:nvSpPr>
          <p:cNvPr id="4" name="AutoShape 4"/>
          <p:cNvSpPr/>
          <p:nvPr/>
        </p:nvSpPr>
        <p:spPr>
          <a:xfrm>
            <a:off x="10579100" y="254000"/>
            <a:ext cx="1257300" cy="863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58800" y="393700"/>
            <a:ext cx="88900" cy="4191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25500" y="355600"/>
            <a:ext cx="8890000" cy="635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defRPr/>
            </a:pPr>
            <a:r>
              <a:rPr lang="en-US" sz="2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麒麟软件</a:t>
            </a:r>
            <a:r>
              <a:rPr lang="zh-CN" altLang="en-US" sz="2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连续三年</a:t>
            </a:r>
            <a:r>
              <a:rPr lang="en-US" sz="2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入选</a:t>
            </a:r>
            <a:r>
              <a:rPr lang="zh-CN" altLang="en-US" sz="2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发榜单位</a:t>
            </a:r>
            <a:endParaRPr lang="zh-CN" altLang="en-US" sz="2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35000" y="4275455"/>
            <a:ext cx="10922000" cy="2311400"/>
          </a:xfrm>
          <a:prstGeom prst="roundRect">
            <a:avLst>
              <a:gd name="adj" fmla="val 0"/>
            </a:avLst>
          </a:prstGeom>
          <a:noFill/>
          <a:ln w="25400" cap="flat" cmpd="sng">
            <a:noFill/>
            <a:prstDash val="solid"/>
            <a:round/>
          </a:ln>
        </p:spPr>
        <p:txBody>
          <a:bodyPr vert="horz" wrap="square" lIns="63500" tIns="101600" rIns="63500" bIns="101600" rtlCol="0" anchor="t" anchorCtr="0"/>
          <a:lstStyle/>
          <a:p>
            <a:pPr indent="0" algn="just">
              <a:lnSpc>
                <a:spcPct val="15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始终坚信，真正的创新力量从来都不被背景所定义，而是源于每一个怀揣梦想、手握技术的追光者。为此，我们特意为青年才俊搭建了一个零门槛、全开放的竞技舞台——在这里，没有预设的能力标尺，没有固化的评价体系，唯有对技术的纯粹热爱、对突破的坚定决心，才是决定胜负的唯一准则。</a:t>
            </a:r>
            <a:endParaRPr lang="en-US" sz="1100"/>
          </a:p>
          <a:p>
            <a:pPr indent="0" algn="just">
              <a:lnSpc>
                <a:spcPct val="150000"/>
              </a:lnSpc>
            </a:pP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国产操作系统的领军企业，麒麟软件始终致力于推动行业技术的创新与突破。此次，我们的核心技术需求也成功入选了本次赛题，这是我们向所有青年人才发出的诚挚邀约。我们翘首以盼，期待看到真正有能力、有想法的青年才俊勇敢站出，揭榜攻关，用实力展现自我，与我们并肩同行，共同推动中国操作系统事业向着更高远的未来稳步迈进。</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 name="图片 2" descr="ScreenShot_2025-12-03_091811_357"/>
          <p:cNvPicPr>
            <a:picLocks noChangeAspect="1"/>
          </p:cNvPicPr>
          <p:nvPr/>
        </p:nvPicPr>
        <p:blipFill>
          <a:blip r:embed="rId2"/>
          <a:srcRect l="15268" r="11722"/>
          <a:stretch>
            <a:fillRect/>
          </a:stretch>
        </p:blipFill>
        <p:spPr>
          <a:xfrm flipH="1">
            <a:off x="3237230" y="812800"/>
            <a:ext cx="4955540" cy="30143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27" b="127"/>
          <a:stretch>
            <a:fillRect/>
          </a:stretch>
        </p:blipFill>
        <p:spPr>
          <a:xfrm>
            <a:off x="10782300" y="381000"/>
            <a:ext cx="863600" cy="508000"/>
          </a:xfrm>
          <a:prstGeom prst="rect">
            <a:avLst/>
          </a:prstGeom>
          <a:noFill/>
          <a:ln w="25400" cap="flat" cmpd="sng">
            <a:noFill/>
            <a:prstDash val="solid"/>
            <a:round/>
          </a:ln>
        </p:spPr>
      </p:pic>
      <p:sp>
        <p:nvSpPr>
          <p:cNvPr id="4" name="AutoShape 4"/>
          <p:cNvSpPr/>
          <p:nvPr/>
        </p:nvSpPr>
        <p:spPr>
          <a:xfrm>
            <a:off x="10579100" y="254000"/>
            <a:ext cx="1257300" cy="863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58800" y="393700"/>
            <a:ext cx="88900" cy="4191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85750"/>
            <a:ext cx="3034665"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竞赛规则：学生赛道</a:t>
            </a:r>
            <a:endParaRPr lang="en-US" sz="1100"/>
          </a:p>
        </p:txBody>
      </p:sp>
      <p:sp>
        <p:nvSpPr>
          <p:cNvPr id="7" name="AutoShape 7"/>
          <p:cNvSpPr/>
          <p:nvPr/>
        </p:nvSpPr>
        <p:spPr>
          <a:xfrm>
            <a:off x="990600" y="1079500"/>
            <a:ext cx="11176000" cy="508000"/>
          </a:xfrm>
          <a:prstGeom prst="roundRect">
            <a:avLst>
              <a:gd name="adj" fmla="val 0"/>
            </a:avLst>
          </a:prstGeom>
          <a:noFill/>
          <a:ln w="25400" cap="flat" cmpd="sng">
            <a:noFill/>
            <a:prstDash val="solid"/>
            <a:round/>
          </a:ln>
        </p:spPr>
        <p:txBody>
          <a:bodyPr vert="horz" wrap="square" lIns="0" tIns="50800" rIns="88900" bIns="50800" rtlCol="0" anchor="t" anchorCtr="0"/>
          <a:lstStyle/>
          <a:p>
            <a:pPr indent="0" algn="ctr">
              <a:lnSpc>
                <a:spcPct val="125000"/>
              </a:lnSpc>
              <a:defRPr/>
            </a:pPr>
            <a:r>
              <a:rPr lang="en-US" sz="1500" b="0"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明确参赛准入门槛与灵活组队机制，为青年学子搭建公平、开放的创新竞技平台。</a:t>
            </a:r>
            <a:endParaRPr lang="en-US" sz="1100"/>
          </a:p>
        </p:txBody>
      </p:sp>
      <p:sp>
        <p:nvSpPr>
          <p:cNvPr id="8" name="AutoShape 8"/>
          <p:cNvSpPr/>
          <p:nvPr/>
        </p:nvSpPr>
        <p:spPr>
          <a:xfrm>
            <a:off x="558800" y="1778000"/>
            <a:ext cx="5080000" cy="3937000"/>
          </a:xfrm>
          <a:prstGeom prst="roundRect">
            <a:avLst>
              <a:gd name="adj" fmla="val 3870"/>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1968500"/>
            <a:ext cx="4699000" cy="4445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   参赛对象：谁能参与？</a:t>
            </a:r>
            <a:endParaRPr lang="en-US" sz="1100"/>
          </a:p>
        </p:txBody>
      </p:sp>
      <p:sp>
        <p:nvSpPr>
          <p:cNvPr id="10" name="AutoShape 10"/>
          <p:cNvSpPr/>
          <p:nvPr/>
        </p:nvSpPr>
        <p:spPr>
          <a:xfrm>
            <a:off x="762000" y="2540000"/>
            <a:ext cx="4699000" cy="2921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面向2026年6月1日前正式注册的全日制在校专科生、本科生、硕博研究生（不含在职研究生）。</a:t>
            </a:r>
            <a:endParaRPr lang="en-US" sz="1100"/>
          </a:p>
          <a:p>
            <a:pPr indent="0" algn="ctr">
              <a:lnSpc>
                <a:spcPct val="117000"/>
              </a:lnSpc>
            </a:pPr>
          </a:p>
          <a:p>
            <a:pPr indent="0" algn="ctr">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同时需满足年龄限制：参赛人员需为1986年6月1日（含）以后出生，即年龄在40周岁以下，鼓励青年一代踊跃参与创新挑战。</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17000"/>
              </a:lnSpc>
            </a:pPr>
          </a:p>
          <a:p>
            <a:pPr indent="0" algn="ctr">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注：在职攻读的研究生学历不在本次学生赛道申报范围内，可关注社会赛道相关规则。</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842000" y="1778000"/>
            <a:ext cx="5270500" cy="3937000"/>
          </a:xfrm>
          <a:prstGeom prst="roundRect">
            <a:avLst>
              <a:gd name="adj" fmla="val 387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032500" y="1968500"/>
            <a:ext cx="4953000" cy="4445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   参赛形式：如何组队？</a:t>
            </a:r>
            <a:endParaRPr lang="en-US" sz="1100"/>
          </a:p>
        </p:txBody>
      </p:sp>
      <p:sp>
        <p:nvSpPr>
          <p:cNvPr id="13" name="AutoShape 13"/>
          <p:cNvSpPr/>
          <p:nvPr/>
        </p:nvSpPr>
        <p:spPr>
          <a:xfrm>
            <a:off x="6032500" y="2540000"/>
            <a:ext cx="4953000" cy="3048000"/>
          </a:xfrm>
          <a:prstGeom prst="roundRect">
            <a:avLst>
              <a:gd name="adj" fmla="val 0"/>
            </a:avLst>
          </a:prstGeom>
          <a:noFill/>
          <a:ln w="25400" cap="flat" cmpd="sng">
            <a:noFill/>
            <a:prstDash val="solid"/>
            <a:round/>
          </a:ln>
        </p:spPr>
        <p:txBody>
          <a:bodyPr vert="horz" wrap="square" lIns="0" tIns="0" rIns="0" bIns="0" rtlCol="0" anchor="t" anchorCtr="0"/>
          <a:lstStyle/>
          <a:p>
            <a:pPr marL="165100" indent="-165100" algn="ctr">
              <a:lnSpc>
                <a:spcPct val="125000"/>
              </a:lnSpc>
              <a:buClr>
                <a:srgbClr val="374151"/>
              </a:buClr>
              <a:buChar char="•"/>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灵活组队：</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支持个人独立参赛，也可组建团队；团队规模上限为10人，每件作品可配不超过3名指导老师。</a:t>
            </a:r>
            <a:endParaRPr lang="en-US" sz="1100"/>
          </a:p>
          <a:p>
            <a:pPr marL="165100" indent="-165100" algn="ctr">
              <a:lnSpc>
                <a:spcPct val="125000"/>
              </a:lnSpc>
              <a:buClr>
                <a:srgbClr val="374151"/>
              </a:buClr>
              <a:buChar cha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跨界融合：</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允许跨专业、跨学校、跨单位、跨地域组队，打破学科与地域壁垒，激发多元创新思维。</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ctr">
              <a:lnSpc>
                <a:spcPct val="125000"/>
              </a:lnSpc>
              <a:buClr>
                <a:srgbClr val="374151"/>
              </a:buClr>
              <a:buChar cha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申报规范：</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每件作品仅能以1所高等院校、科研院所或企业作为单一主体提交，确保申报信息的唯一性与合规性。</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58800" y="406400"/>
            <a:ext cx="76200" cy="4572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87400" y="330200"/>
            <a:ext cx="762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参赛奖励：重奖优秀 · 鼓励创新</a:t>
            </a:r>
            <a:endParaRPr lang="en-US" sz="1100"/>
          </a:p>
        </p:txBody>
      </p:sp>
      <p:sp>
        <p:nvSpPr>
          <p:cNvPr id="4" name="AutoShape 4"/>
          <p:cNvSpPr/>
          <p:nvPr/>
        </p:nvSpPr>
        <p:spPr>
          <a:xfrm>
            <a:off x="787400" y="9398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总计20个获奖名额，打造从“擂主”到“三等奖”的梯队式荣誉体系，助力青年技术人才圆梦！</a:t>
            </a:r>
            <a:endParaRPr lang="en-US" sz="1100"/>
          </a:p>
        </p:txBody>
      </p:sp>
      <p:sp>
        <p:nvSpPr>
          <p:cNvPr id="5" name="AutoShape 5"/>
          <p:cNvSpPr/>
          <p:nvPr/>
        </p:nvSpPr>
        <p:spPr>
          <a:xfrm>
            <a:off x="558800" y="1460500"/>
            <a:ext cx="110744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为激励青年学子勇攀技术高峰，大赛组委会特别设立了极具吸引力的奖金池与职业发展绿色通道。我们不仅以真金白银奖励优秀成果，更为获奖团队成员提供优先推荐</a:t>
            </a: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岗位</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的宝贵机会，让每一份努力都能成为职业发展的基石。</a:t>
            </a:r>
            <a:endParaRPr lang="en-US" sz="1100"/>
          </a:p>
        </p:txBody>
      </p:sp>
      <p:sp>
        <p:nvSpPr>
          <p:cNvPr id="6" name="AutoShape 6"/>
          <p:cNvSpPr/>
          <p:nvPr/>
        </p:nvSpPr>
        <p:spPr>
          <a:xfrm>
            <a:off x="558800" y="2159000"/>
            <a:ext cx="11074400" cy="1143000"/>
          </a:xfrm>
          <a:prstGeom prst="roundRect">
            <a:avLst>
              <a:gd name="adj" fmla="val 11111"/>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800" y="2349500"/>
            <a:ext cx="457200" cy="457200"/>
          </a:xfrm>
          <a:prstGeom prst="rect">
            <a:avLst/>
          </a:prstGeom>
        </p:spPr>
      </p:pic>
      <p:sp>
        <p:nvSpPr>
          <p:cNvPr id="8" name="AutoShape 8"/>
          <p:cNvSpPr/>
          <p:nvPr/>
        </p:nvSpPr>
        <p:spPr>
          <a:xfrm>
            <a:off x="1397000" y="23114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 重磅殊荣 · 擂主大奖（1名） —— 从</a:t>
            </a:r>
            <a:r>
              <a:rPr lang="zh-CN" altLang="en-US" sz="16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前十名</a:t>
            </a:r>
            <a:r>
              <a:rPr lang="en-US" sz="16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中脱颖而出的巅峰王者</a:t>
            </a:r>
            <a:endParaRPr lang="en-US" sz="1100"/>
          </a:p>
        </p:txBody>
      </p:sp>
      <p:sp>
        <p:nvSpPr>
          <p:cNvPr id="9" name="AutoShape 9"/>
          <p:cNvSpPr/>
          <p:nvPr/>
        </p:nvSpPr>
        <p:spPr>
          <a:xfrm>
            <a:off x="1397000" y="2794000"/>
            <a:ext cx="952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奖金：</a:t>
            </a:r>
            <a:r>
              <a:rPr lang="en-US" sz="15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100,000元</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特权：独享最高荣誉，是对技术创新能力的终极认可，更是职业生涯的高光起点！</a:t>
            </a:r>
            <a:endParaRPr lang="en-US" sz="1100"/>
          </a:p>
        </p:txBody>
      </p:sp>
      <p:sp>
        <p:nvSpPr>
          <p:cNvPr id="10" name="AutoShape 10"/>
          <p:cNvSpPr/>
          <p:nvPr/>
        </p:nvSpPr>
        <p:spPr>
          <a:xfrm>
            <a:off x="558800" y="3429000"/>
            <a:ext cx="5397500" cy="1333500"/>
          </a:xfrm>
          <a:prstGeom prst="roundRect">
            <a:avLst>
              <a:gd name="adj" fmla="val 7619"/>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581400"/>
            <a:ext cx="355600" cy="355600"/>
          </a:xfrm>
          <a:prstGeom prst="rect">
            <a:avLst/>
          </a:prstGeom>
        </p:spPr>
      </p:pic>
      <p:sp>
        <p:nvSpPr>
          <p:cNvPr id="12" name="AutoShape 12"/>
          <p:cNvSpPr/>
          <p:nvPr/>
        </p:nvSpPr>
        <p:spPr>
          <a:xfrm>
            <a:off x="1219200" y="3581400"/>
            <a:ext cx="457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特等奖（5名）—— 技术创新的标杆典范</a:t>
            </a:r>
            <a:endParaRPr lang="en-US" sz="1100"/>
          </a:p>
        </p:txBody>
      </p:sp>
      <p:sp>
        <p:nvSpPr>
          <p:cNvPr id="13" name="AutoShape 13"/>
          <p:cNvSpPr/>
          <p:nvPr/>
        </p:nvSpPr>
        <p:spPr>
          <a:xfrm>
            <a:off x="762000" y="4089400"/>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奖金：20,000元   | 荣誉加持：以突破性的技术方案征服评委，收获行业内的高度关注与认可。</a:t>
            </a:r>
            <a:endParaRPr lang="en-US" sz="1100"/>
          </a:p>
        </p:txBody>
      </p:sp>
      <p:sp>
        <p:nvSpPr>
          <p:cNvPr id="14" name="AutoShape 14"/>
          <p:cNvSpPr/>
          <p:nvPr/>
        </p:nvSpPr>
        <p:spPr>
          <a:xfrm>
            <a:off x="6108700" y="3429000"/>
            <a:ext cx="5397500" cy="1333500"/>
          </a:xfrm>
          <a:prstGeom prst="roundRect">
            <a:avLst>
              <a:gd name="adj" fmla="val 7619"/>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9200" y="3581400"/>
            <a:ext cx="355600" cy="355600"/>
          </a:xfrm>
          <a:prstGeom prst="rect">
            <a:avLst/>
          </a:prstGeom>
        </p:spPr>
      </p:pic>
      <p:sp>
        <p:nvSpPr>
          <p:cNvPr id="16" name="AutoShape 16"/>
          <p:cNvSpPr/>
          <p:nvPr/>
        </p:nvSpPr>
        <p:spPr>
          <a:xfrm>
            <a:off x="6731000" y="3581400"/>
            <a:ext cx="457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 一等奖（5名）—— 硬核实力的最佳证明</a:t>
            </a:r>
            <a:endParaRPr lang="en-US" sz="1100"/>
          </a:p>
        </p:txBody>
      </p:sp>
      <p:sp>
        <p:nvSpPr>
          <p:cNvPr id="17" name="AutoShape 17"/>
          <p:cNvSpPr/>
          <p:nvPr/>
        </p:nvSpPr>
        <p:spPr>
          <a:xfrm>
            <a:off x="6299200" y="4089400"/>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奖金：10,000元     | 实力见证：成功攻克核心技术难点，展现出扎实且深厚的研发工程功底。</a:t>
            </a:r>
            <a:endParaRPr lang="en-US" sz="1100"/>
          </a:p>
        </p:txBody>
      </p:sp>
      <p:sp>
        <p:nvSpPr>
          <p:cNvPr id="18" name="AutoShape 18"/>
          <p:cNvSpPr/>
          <p:nvPr/>
        </p:nvSpPr>
        <p:spPr>
          <a:xfrm>
            <a:off x="558800" y="4889500"/>
            <a:ext cx="5397500" cy="1333500"/>
          </a:xfrm>
          <a:prstGeom prst="roundRect">
            <a:avLst>
              <a:gd name="adj" fmla="val 7619"/>
            </a:avLst>
          </a:prstGeom>
          <a:solidFill>
            <a:srgbClr val="FFFB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041900"/>
            <a:ext cx="355600" cy="355600"/>
          </a:xfrm>
          <a:prstGeom prst="rect">
            <a:avLst/>
          </a:prstGeom>
        </p:spPr>
      </p:pic>
      <p:sp>
        <p:nvSpPr>
          <p:cNvPr id="20" name="AutoShape 20"/>
          <p:cNvSpPr/>
          <p:nvPr/>
        </p:nvSpPr>
        <p:spPr>
          <a:xfrm>
            <a:off x="1219200" y="5041900"/>
            <a:ext cx="457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 二等奖（5名）—— 潜力无限的明日之星</a:t>
            </a:r>
            <a:endParaRPr lang="en-US" sz="1100"/>
          </a:p>
        </p:txBody>
      </p:sp>
      <p:sp>
        <p:nvSpPr>
          <p:cNvPr id="21" name="AutoShape 21"/>
          <p:cNvSpPr/>
          <p:nvPr/>
        </p:nvSpPr>
        <p:spPr>
          <a:xfrm>
            <a:off x="762000" y="5524500"/>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奖金：5,000元     | 进阶认可：方案兼具创意与落地可行性，彰显出未来不可限量的发展潜力。</a:t>
            </a:r>
            <a:endParaRPr lang="en-US" sz="1100"/>
          </a:p>
        </p:txBody>
      </p:sp>
      <p:sp>
        <p:nvSpPr>
          <p:cNvPr id="22" name="AutoShape 22"/>
          <p:cNvSpPr/>
          <p:nvPr/>
        </p:nvSpPr>
        <p:spPr>
          <a:xfrm>
            <a:off x="6108700" y="4889500"/>
            <a:ext cx="5397500" cy="1333500"/>
          </a:xfrm>
          <a:prstGeom prst="roundRect">
            <a:avLst>
              <a:gd name="adj" fmla="val 7619"/>
            </a:avLst>
          </a:prstGeom>
          <a:solidFill>
            <a:srgbClr val="F5F3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99200" y="5041900"/>
            <a:ext cx="355600" cy="355600"/>
          </a:xfrm>
          <a:prstGeom prst="rect">
            <a:avLst/>
          </a:prstGeom>
        </p:spPr>
      </p:pic>
      <p:sp>
        <p:nvSpPr>
          <p:cNvPr id="24" name="AutoShape 24"/>
          <p:cNvSpPr/>
          <p:nvPr/>
        </p:nvSpPr>
        <p:spPr>
          <a:xfrm>
            <a:off x="6731000" y="5041900"/>
            <a:ext cx="457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C1D95"/>
                </a:solidFill>
                <a:latin typeface="Noto Sans SC" panose="020B0200000000000000" charset="-122"/>
                <a:ea typeface="Noto Sans SC" panose="020B0200000000000000" charset="-122"/>
                <a:cs typeface="Noto Sans SC" panose="020B0200000000000000" charset="-122"/>
                <a:sym typeface="Noto Sans SC" panose="020B0200000000000000" charset="-122"/>
              </a:rPr>
              <a:t>📜 三等奖（5名）—— 探索之路的闪耀起点</a:t>
            </a:r>
            <a:endParaRPr lang="en-US" sz="1100"/>
          </a:p>
        </p:txBody>
      </p:sp>
      <p:sp>
        <p:nvSpPr>
          <p:cNvPr id="25" name="AutoShape 25"/>
          <p:cNvSpPr/>
          <p:nvPr/>
        </p:nvSpPr>
        <p:spPr>
          <a:xfrm>
            <a:off x="6299200" y="5524500"/>
            <a:ext cx="495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奖金：2,000元    | 起步荣耀：迈出技术探索的关键一步，每一个认真的尝试都值得被看见。</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558800" y="431800"/>
            <a:ext cx="88900" cy="457200"/>
          </a:xfrm>
          <a:prstGeom prst="roundRect">
            <a:avLst>
              <a:gd name="adj" fmla="val 0"/>
            </a:avLst>
          </a:prstGeom>
          <a:solidFill>
            <a:srgbClr val="D92D2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58800" y="317500"/>
            <a:ext cx="2301240"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报名流程指引</a:t>
            </a:r>
            <a:endParaRPr lang="en-US" sz="1100"/>
          </a:p>
        </p:txBody>
      </p:sp>
      <p:sp>
        <p:nvSpPr>
          <p:cNvPr id="7" name="AutoShape 7"/>
          <p:cNvSpPr/>
          <p:nvPr/>
        </p:nvSpPr>
        <p:spPr>
          <a:xfrm>
            <a:off x="825500" y="1143000"/>
            <a:ext cx="10922000" cy="4445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25000"/>
              </a:lnSpc>
              <a:defRPr/>
            </a:pPr>
            <a:r>
              <a:rPr lang="en-US" sz="15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从账号注册到材料审核，四步完成参赛报名，请注意报名截止时间，避免错过机会。</a:t>
            </a:r>
            <a:endParaRPr lang="en-US" sz="1100"/>
          </a:p>
        </p:txBody>
      </p:sp>
      <p:sp>
        <p:nvSpPr>
          <p:cNvPr id="8" name="AutoShape 8"/>
          <p:cNvSpPr/>
          <p:nvPr>
            <p:custDataLst>
              <p:tags r:id="rId1"/>
            </p:custDataLst>
          </p:nvPr>
        </p:nvSpPr>
        <p:spPr>
          <a:xfrm>
            <a:off x="825500" y="1778000"/>
            <a:ext cx="5143500" cy="1968500"/>
          </a:xfrm>
          <a:prstGeom prst="roundRect">
            <a:avLst>
              <a:gd name="adj" fmla="val 6451"/>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355600" cy="355600"/>
          </a:xfrm>
          <a:prstGeom prst="rect">
            <a:avLst/>
          </a:prstGeom>
        </p:spPr>
      </p:pic>
      <p:sp>
        <p:nvSpPr>
          <p:cNvPr id="10" name="AutoShape 10"/>
          <p:cNvSpPr/>
          <p:nvPr>
            <p:custDataLst>
              <p:tags r:id="rId5"/>
            </p:custDataLst>
          </p:nvPr>
        </p:nvSpPr>
        <p:spPr>
          <a:xfrm>
            <a:off x="1460500" y="19304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 注册报名：填写信息，下载表格</a:t>
            </a:r>
            <a:endParaRPr lang="en-US" sz="1100"/>
          </a:p>
        </p:txBody>
      </p:sp>
      <p:sp>
        <p:nvSpPr>
          <p:cNvPr id="11" name="AutoShape 11"/>
          <p:cNvSpPr/>
          <p:nvPr>
            <p:custDataLst>
              <p:tags r:id="rId6"/>
            </p:custDataLst>
          </p:nvPr>
        </p:nvSpPr>
        <p:spPr>
          <a:xfrm>
            <a:off x="1016000" y="2413000"/>
            <a:ext cx="4826000" cy="1143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参赛选手登录“挑战杯”官网（www.tiaozhanbei.net），进入“揭榜挂帅”报名入口注册账号。登录申报系统后在线填写完整报名信息，提交后下载并打印系统自动生成的官方报名表。</a:t>
            </a:r>
            <a:endParaRPr lang="en-US" sz="1100"/>
          </a:p>
        </p:txBody>
      </p:sp>
      <p:sp>
        <p:nvSpPr>
          <p:cNvPr id="12" name="AutoShape 12"/>
          <p:cNvSpPr/>
          <p:nvPr>
            <p:custDataLst>
              <p:tags r:id="rId7"/>
            </p:custDataLst>
          </p:nvPr>
        </p:nvSpPr>
        <p:spPr>
          <a:xfrm>
            <a:off x="6096000" y="1778000"/>
            <a:ext cx="5143500" cy="1968500"/>
          </a:xfrm>
          <a:prstGeom prst="roundRect">
            <a:avLst>
              <a:gd name="adj" fmla="val 6451"/>
            </a:avLst>
          </a:prstGeom>
          <a:solidFill>
            <a:srgbClr val="ECFDF5">
              <a:alpha val="100000"/>
            </a:srgbClr>
          </a:solidFill>
          <a:ln cap="flat" cmpd="sng">
            <a:solidFill>
              <a:srgbClr val="BDE4D2">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86500" y="1968500"/>
            <a:ext cx="355600" cy="355600"/>
          </a:xfrm>
          <a:prstGeom prst="rect">
            <a:avLst/>
          </a:prstGeom>
        </p:spPr>
      </p:pic>
      <p:sp>
        <p:nvSpPr>
          <p:cNvPr id="14" name="AutoShape 14"/>
          <p:cNvSpPr/>
          <p:nvPr>
            <p:custDataLst>
              <p:tags r:id="rId11"/>
            </p:custDataLst>
          </p:nvPr>
        </p:nvSpPr>
        <p:spPr>
          <a:xfrm>
            <a:off x="6731000" y="19304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 盖章确认：加盖公章，完成认证</a:t>
            </a:r>
            <a:endParaRPr lang="en-US" sz="1100"/>
          </a:p>
        </p:txBody>
      </p:sp>
      <p:sp>
        <p:nvSpPr>
          <p:cNvPr id="15" name="AutoShape 15"/>
          <p:cNvSpPr/>
          <p:nvPr>
            <p:custDataLst>
              <p:tags r:id="rId12"/>
            </p:custDataLst>
          </p:nvPr>
        </p:nvSpPr>
        <p:spPr>
          <a:xfrm>
            <a:off x="6286500" y="2413000"/>
            <a:ext cx="4762500" cy="1143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请申报人在打印好的报名表指定位置，加盖所在</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学校教务处或科研管理部门公章</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（学生组），或所在单位人力资源/行政部门公章（社会组），确保信息真实有效。</a:t>
            </a:r>
            <a:endParaRPr lang="en-US" sz="1100"/>
          </a:p>
        </p:txBody>
      </p:sp>
      <p:sp>
        <p:nvSpPr>
          <p:cNvPr id="16" name="AutoShape 16"/>
          <p:cNvSpPr/>
          <p:nvPr>
            <p:custDataLst>
              <p:tags r:id="rId13"/>
            </p:custDataLst>
          </p:nvPr>
        </p:nvSpPr>
        <p:spPr>
          <a:xfrm>
            <a:off x="825500" y="3937000"/>
            <a:ext cx="5143500" cy="1968500"/>
          </a:xfrm>
          <a:prstGeom prst="roundRect">
            <a:avLst>
              <a:gd name="adj" fmla="val 6451"/>
            </a:avLst>
          </a:prstGeom>
          <a:solidFill>
            <a:srgbClr val="FFFBEB">
              <a:alpha val="100000"/>
            </a:srgbClr>
          </a:solidFill>
          <a:ln cap="flat" cmpd="sng">
            <a:solidFill>
              <a:srgbClr val="E6DDBD">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16000" y="4127500"/>
            <a:ext cx="355600" cy="355600"/>
          </a:xfrm>
          <a:prstGeom prst="rect">
            <a:avLst/>
          </a:prstGeom>
        </p:spPr>
      </p:pic>
      <p:sp>
        <p:nvSpPr>
          <p:cNvPr id="18" name="AutoShape 18"/>
          <p:cNvSpPr/>
          <p:nvPr>
            <p:custDataLst>
              <p:tags r:id="rId17"/>
            </p:custDataLst>
          </p:nvPr>
        </p:nvSpPr>
        <p:spPr>
          <a:xfrm>
            <a:off x="1460500" y="40894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78350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 上传审核：提交扫描件，等待反馈</a:t>
            </a:r>
            <a:endParaRPr lang="en-US" sz="1100"/>
          </a:p>
        </p:txBody>
      </p:sp>
      <p:sp>
        <p:nvSpPr>
          <p:cNvPr id="19" name="AutoShape 19"/>
          <p:cNvSpPr/>
          <p:nvPr>
            <p:custDataLst>
              <p:tags r:id="rId18"/>
            </p:custDataLst>
          </p:nvPr>
        </p:nvSpPr>
        <p:spPr>
          <a:xfrm>
            <a:off x="1016000" y="4572000"/>
            <a:ext cx="4826000" cy="1143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将盖章后的报名表清晰扫描或拍照，上传至报名系统的指定附件栏。提交后请持续关注系统审核状态，若显示“审核不通过”，请根据提示修改后重新提交。</a:t>
            </a:r>
            <a:endParaRPr lang="en-US" sz="1100"/>
          </a:p>
        </p:txBody>
      </p:sp>
      <p:sp>
        <p:nvSpPr>
          <p:cNvPr id="20" name="AutoShape 20"/>
          <p:cNvSpPr/>
          <p:nvPr>
            <p:custDataLst>
              <p:tags r:id="rId19"/>
            </p:custDataLst>
          </p:nvPr>
        </p:nvSpPr>
        <p:spPr>
          <a:xfrm>
            <a:off x="6096000" y="3937000"/>
            <a:ext cx="5143500" cy="1968500"/>
          </a:xfrm>
          <a:prstGeom prst="roundRect">
            <a:avLst>
              <a:gd name="adj" fmla="val 6451"/>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286500" y="4127500"/>
            <a:ext cx="355600" cy="355600"/>
          </a:xfrm>
          <a:prstGeom prst="rect">
            <a:avLst/>
          </a:prstGeom>
        </p:spPr>
      </p:pic>
      <p:sp>
        <p:nvSpPr>
          <p:cNvPr id="22" name="AutoShape 22"/>
          <p:cNvSpPr/>
          <p:nvPr>
            <p:custDataLst>
              <p:tags r:id="rId23"/>
            </p:custDataLst>
          </p:nvPr>
        </p:nvSpPr>
        <p:spPr>
          <a:xfrm>
            <a:off x="6731000" y="40894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IMPORTANT 关键时间：逾期系统自动关闭</a:t>
            </a:r>
            <a:endParaRPr lang="en-US" sz="1100"/>
          </a:p>
        </p:txBody>
      </p:sp>
      <p:sp>
        <p:nvSpPr>
          <p:cNvPr id="23" name="AutoShape 23"/>
          <p:cNvSpPr/>
          <p:nvPr>
            <p:custDataLst>
              <p:tags r:id="rId24"/>
            </p:custDataLst>
          </p:nvPr>
        </p:nvSpPr>
        <p:spPr>
          <a:xfrm>
            <a:off x="6286500" y="4572000"/>
            <a:ext cx="4762500" cy="1143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系统开放报名时间为：</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2026年5月30日 — 6月30日</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。请务必在此时间段内完成所有报名步骤，逾期后系统将关闭报名入口，不再接受任何补报申请。</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558800" y="431800"/>
            <a:ext cx="88900" cy="457200"/>
          </a:xfrm>
          <a:prstGeom prst="roundRect">
            <a:avLst>
              <a:gd name="adj" fmla="val 0"/>
            </a:avLst>
          </a:prstGeom>
          <a:solidFill>
            <a:srgbClr val="D92D2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47700" y="317500"/>
            <a:ext cx="1754505"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时间安排</a:t>
            </a:r>
            <a:endPar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文本框 3"/>
          <p:cNvSpPr txBox="1"/>
          <p:nvPr/>
        </p:nvSpPr>
        <p:spPr>
          <a:xfrm>
            <a:off x="1101090" y="1046480"/>
            <a:ext cx="9558020" cy="3784600"/>
          </a:xfrm>
          <a:prstGeom prst="rect">
            <a:avLst/>
          </a:prstGeom>
        </p:spPr>
        <p:txBody>
          <a:bodyPr wrap="square">
            <a:spAutoFit/>
          </a:bodyPr>
          <a:p>
            <a:pPr marL="0" indent="406400" algn="just" defTabSz="266700">
              <a:lnSpc>
                <a:spcPct val="300000"/>
              </a:lnSpc>
              <a:spcBef>
                <a:spcPct val="0"/>
              </a:spcBef>
              <a:spcAft>
                <a:spcPct val="0"/>
              </a:spcAft>
            </a:pPr>
            <a:r>
              <a:rPr lang="en-US" altLang="zh-CN" sz="1600">
                <a:solidFill>
                  <a:srgbClr val="000000"/>
                </a:solidFill>
                <a:latin typeface="Times New Roman" panose="02020603050405020304"/>
                <a:ea typeface="方正仿宋_GBK" panose="02000000000000000000" charset="-122"/>
              </a:rPr>
              <a:t>202</a:t>
            </a:r>
            <a:r>
              <a:rPr lang="en-US" altLang="zh-CN" sz="1600">
                <a:solidFill>
                  <a:srgbClr val="000000"/>
                </a:solidFill>
                <a:latin typeface="Times New Roman" panose="02020603050405020304"/>
                <a:ea typeface="Times New Roman" panose="02020603050405020304"/>
              </a:rPr>
              <a:t>6</a:t>
            </a:r>
            <a:r>
              <a:rPr lang="zh-CN" altLang="en-US" sz="1600">
                <a:solidFill>
                  <a:srgbClr val="000000"/>
                </a:solidFill>
                <a:latin typeface="方正仿宋_GBK" panose="02000000000000000000" charset="-122"/>
                <a:ea typeface="方正仿宋_GBK" panose="02000000000000000000" charset="-122"/>
              </a:rPr>
              <a:t>年</a:t>
            </a:r>
            <a:r>
              <a:rPr lang="en-US" altLang="zh-CN" sz="1600">
                <a:solidFill>
                  <a:srgbClr val="000000"/>
                </a:solidFill>
                <a:latin typeface="Times New Roman" panose="02020603050405020304"/>
                <a:ea typeface="方正仿宋_GBK" panose="02000000000000000000" charset="-122"/>
              </a:rPr>
              <a:t>5</a:t>
            </a:r>
            <a:r>
              <a:rPr lang="zh-CN" altLang="en-US" sz="1600">
                <a:solidFill>
                  <a:srgbClr val="000000"/>
                </a:solidFill>
                <a:latin typeface="方正仿宋_GBK" panose="02000000000000000000" charset="-122"/>
                <a:ea typeface="方正仿宋_GBK" panose="02000000000000000000" charset="-122"/>
              </a:rPr>
              <a:t>月至</a:t>
            </a:r>
            <a:r>
              <a:rPr lang="en-US" altLang="zh-CN" sz="1600">
                <a:solidFill>
                  <a:srgbClr val="000000"/>
                </a:solidFill>
                <a:latin typeface="Times New Roman" panose="02020603050405020304"/>
                <a:ea typeface="Times New Roman" panose="02020603050405020304"/>
              </a:rPr>
              <a:t>9</a:t>
            </a:r>
            <a:r>
              <a:rPr lang="zh-CN" altLang="en-US" sz="1600">
                <a:solidFill>
                  <a:srgbClr val="000000"/>
                </a:solidFill>
                <a:latin typeface="方正仿宋_GBK" panose="02000000000000000000" charset="-122"/>
                <a:ea typeface="方正仿宋_GBK" panose="02000000000000000000" charset="-122"/>
              </a:rPr>
              <a:t>月上旬，各参赛团队开展研发攻关，各高校组织学生和青年科技工作参赛，为参赛团队提供支持保障。</a:t>
            </a:r>
            <a:endParaRPr lang="zh-CN" altLang="en-US" sz="1600">
              <a:solidFill>
                <a:srgbClr val="000000"/>
              </a:solidFill>
              <a:latin typeface="方正仿宋_GBK" panose="02000000000000000000" charset="-122"/>
              <a:ea typeface="方正仿宋_GBK" panose="02000000000000000000" charset="-122"/>
            </a:endParaRPr>
          </a:p>
          <a:p>
            <a:pPr marL="0" indent="406400" algn="just" defTabSz="266700">
              <a:lnSpc>
                <a:spcPct val="300000"/>
              </a:lnSpc>
              <a:spcBef>
                <a:spcPct val="0"/>
              </a:spcBef>
              <a:spcAft>
                <a:spcPct val="0"/>
              </a:spcAft>
            </a:pPr>
            <a:r>
              <a:rPr lang="en-US" altLang="zh-CN" sz="1600">
                <a:solidFill>
                  <a:srgbClr val="000000"/>
                </a:solidFill>
                <a:latin typeface="Times New Roman" panose="02020603050405020304"/>
                <a:ea typeface="Times New Roman" panose="02020603050405020304"/>
              </a:rPr>
              <a:t>2026</a:t>
            </a:r>
            <a:r>
              <a:rPr lang="zh-CN" altLang="en-US" sz="1600">
                <a:solidFill>
                  <a:srgbClr val="000000"/>
                </a:solidFill>
                <a:latin typeface="方正仿宋_GBK" panose="02000000000000000000" charset="-122"/>
                <a:ea typeface="方正仿宋_GBK" panose="02000000000000000000" charset="-122"/>
              </a:rPr>
              <a:t>年</a:t>
            </a:r>
            <a:r>
              <a:rPr lang="en-US" sz="1600">
                <a:solidFill>
                  <a:srgbClr val="000000"/>
                </a:solidFill>
                <a:latin typeface="Times New Roman" panose="02020603050405020304"/>
                <a:ea typeface="方正仿宋_GBK" panose="02000000000000000000" charset="-122"/>
              </a:rPr>
              <a:t>10</a:t>
            </a:r>
            <a:r>
              <a:rPr lang="zh-CN" altLang="en-US" sz="1600">
                <a:solidFill>
                  <a:srgbClr val="000000"/>
                </a:solidFill>
                <a:latin typeface="Times New Roman" panose="02020603050405020304"/>
                <a:ea typeface="方正仿宋_GBK" panose="02000000000000000000" charset="-122"/>
              </a:rPr>
              <a:t>月上旬</a:t>
            </a:r>
            <a:r>
              <a:rPr lang="zh-CN" altLang="en-US" sz="1600">
                <a:solidFill>
                  <a:srgbClr val="000000"/>
                </a:solidFill>
                <a:latin typeface="方正仿宋_GBK" panose="02000000000000000000" charset="-122"/>
                <a:ea typeface="方正仿宋_GBK" panose="02000000000000000000" charset="-122"/>
              </a:rPr>
              <a:t>，各参赛团队向发榜单位完成作品提交，并严格遵照发榜单位明确的提交规范执行。</a:t>
            </a:r>
            <a:endParaRPr lang="zh-CN" altLang="en-US" sz="1600">
              <a:solidFill>
                <a:srgbClr val="000000"/>
              </a:solidFill>
              <a:latin typeface="方正仿宋_GBK" panose="02000000000000000000" charset="-122"/>
              <a:ea typeface="方正仿宋_GBK" panose="02000000000000000000" charset="-122"/>
            </a:endParaRPr>
          </a:p>
          <a:p>
            <a:pPr marL="0" indent="406400" algn="just" defTabSz="266700">
              <a:lnSpc>
                <a:spcPct val="300000"/>
              </a:lnSpc>
              <a:spcBef>
                <a:spcPct val="0"/>
              </a:spcBef>
              <a:spcAft>
                <a:spcPct val="0"/>
              </a:spcAft>
            </a:pPr>
            <a:r>
              <a:rPr lang="en-US" altLang="zh-CN" sz="1600">
                <a:solidFill>
                  <a:srgbClr val="000000"/>
                </a:solidFill>
                <a:latin typeface="Times New Roman" panose="02020603050405020304"/>
                <a:ea typeface="方正仿宋_GBK" panose="02000000000000000000" charset="-122"/>
              </a:rPr>
              <a:t>202</a:t>
            </a:r>
            <a:r>
              <a:rPr lang="en-US" altLang="zh-CN" sz="1600">
                <a:solidFill>
                  <a:srgbClr val="000000"/>
                </a:solidFill>
                <a:latin typeface="Times New Roman" panose="02020603050405020304"/>
                <a:ea typeface="Times New Roman" panose="02020603050405020304"/>
              </a:rPr>
              <a:t>6</a:t>
            </a:r>
            <a:r>
              <a:rPr lang="zh-CN" altLang="en-US" sz="1600">
                <a:solidFill>
                  <a:srgbClr val="000000"/>
                </a:solidFill>
                <a:latin typeface="方正仿宋_GBK" panose="02000000000000000000" charset="-122"/>
                <a:ea typeface="方正仿宋_GBK" panose="02000000000000000000" charset="-122"/>
              </a:rPr>
              <a:t>年</a:t>
            </a:r>
            <a:r>
              <a:rPr lang="en-US" altLang="zh-CN" sz="1600">
                <a:solidFill>
                  <a:srgbClr val="000000"/>
                </a:solidFill>
                <a:latin typeface="Times New Roman" panose="02020603050405020304"/>
                <a:ea typeface="方正仿宋_GBK" panose="02000000000000000000" charset="-122"/>
              </a:rPr>
              <a:t>10</a:t>
            </a:r>
            <a:r>
              <a:rPr lang="zh-CN" altLang="en-US" sz="1600">
                <a:solidFill>
                  <a:srgbClr val="000000"/>
                </a:solidFill>
                <a:latin typeface="方正仿宋_GBK" panose="02000000000000000000" charset="-122"/>
                <a:ea typeface="方正仿宋_GBK" panose="02000000000000000000" charset="-122"/>
              </a:rPr>
              <a:t>月，</a:t>
            </a:r>
            <a:r>
              <a:rPr lang="zh-CN" altLang="en-US" sz="1600">
                <a:latin typeface="方正仿宋_GBK" panose="02000000000000000000" charset="-122"/>
                <a:ea typeface="方正仿宋_GBK" panose="02000000000000000000" charset="-122"/>
                <a:sym typeface="+mn-ea"/>
              </a:rPr>
              <a:t>由发榜单位完成初审，确定入围终审擂台赛的晋级作品和团队。</a:t>
            </a:r>
            <a:endParaRPr lang="zh-CN" altLang="en-US" sz="1600">
              <a:solidFill>
                <a:srgbClr val="000000"/>
              </a:solidFill>
              <a:latin typeface="Times New Roman" panose="02020603050405020304"/>
              <a:ea typeface="方正仿宋_GBK" panose="02000000000000000000" charset="-122"/>
            </a:endParaRPr>
          </a:p>
          <a:p>
            <a:pPr marL="0" indent="406400" algn="just" defTabSz="266700">
              <a:lnSpc>
                <a:spcPct val="300000"/>
              </a:lnSpc>
              <a:spcBef>
                <a:spcPct val="0"/>
              </a:spcBef>
              <a:spcAft>
                <a:spcPct val="0"/>
              </a:spcAft>
            </a:pPr>
            <a:r>
              <a:rPr lang="en-US" altLang="zh-CN" sz="1600">
                <a:solidFill>
                  <a:srgbClr val="000000"/>
                </a:solidFill>
                <a:latin typeface="Times New Roman" panose="02020603050405020304"/>
                <a:ea typeface="方正仿宋_GBK" panose="02000000000000000000" charset="-122"/>
              </a:rPr>
              <a:t>202</a:t>
            </a:r>
            <a:r>
              <a:rPr lang="en-US" altLang="zh-CN" sz="1600">
                <a:solidFill>
                  <a:srgbClr val="000000"/>
                </a:solidFill>
                <a:latin typeface="Times New Roman" panose="02020603050405020304"/>
                <a:ea typeface="Times New Roman" panose="02020603050405020304"/>
              </a:rPr>
              <a:t>6</a:t>
            </a:r>
            <a:r>
              <a:rPr lang="zh-CN" altLang="en-US" sz="1600">
                <a:solidFill>
                  <a:srgbClr val="000000"/>
                </a:solidFill>
                <a:latin typeface="方正仿宋_GBK" panose="02000000000000000000" charset="-122"/>
                <a:ea typeface="方正仿宋_GBK" panose="02000000000000000000" charset="-122"/>
              </a:rPr>
              <a:t>年</a:t>
            </a:r>
            <a:r>
              <a:rPr lang="en-US" altLang="zh-CN" sz="1600">
                <a:solidFill>
                  <a:srgbClr val="000000"/>
                </a:solidFill>
                <a:latin typeface="Times New Roman" panose="02020603050405020304"/>
                <a:ea typeface="方正仿宋_GBK" panose="02000000000000000000" charset="-122"/>
              </a:rPr>
              <a:t>11月-12月，</a:t>
            </a:r>
            <a:r>
              <a:rPr lang="zh-CN" altLang="en-US" sz="1600">
                <a:solidFill>
                  <a:srgbClr val="000000"/>
                </a:solidFill>
                <a:latin typeface="方正仿宋_GBK" panose="02000000000000000000" charset="-122"/>
                <a:ea typeface="方正仿宋_GBK" panose="02000000000000000000" charset="-122"/>
              </a:rPr>
              <a:t>组织终审擂台赛，角逐</a:t>
            </a:r>
            <a:r>
              <a:rPr lang="zh-CN" altLang="en-US" sz="1600">
                <a:solidFill>
                  <a:srgbClr val="000000"/>
                </a:solidFill>
                <a:latin typeface="Times New Roman" panose="02020603050405020304"/>
                <a:ea typeface="方正仿宋_GBK" panose="02000000000000000000" charset="-122"/>
              </a:rPr>
              <a:t>“</a:t>
            </a:r>
            <a:r>
              <a:rPr lang="zh-CN" altLang="en-US" sz="1600">
                <a:solidFill>
                  <a:srgbClr val="000000"/>
                </a:solidFill>
                <a:latin typeface="方正仿宋_GBK" panose="02000000000000000000" charset="-122"/>
                <a:ea typeface="方正仿宋_GBK" panose="02000000000000000000" charset="-122"/>
              </a:rPr>
              <a:t>擂主</a:t>
            </a:r>
            <a:r>
              <a:rPr lang="zh-CN" altLang="en-US" sz="1600">
                <a:solidFill>
                  <a:srgbClr val="000000"/>
                </a:solidFill>
                <a:latin typeface="Times New Roman" panose="02020603050405020304"/>
                <a:ea typeface="方正仿宋_GBK" panose="02000000000000000000" charset="-122"/>
              </a:rPr>
              <a:t>”</a:t>
            </a:r>
            <a:r>
              <a:rPr lang="zh-CN" altLang="en-US" sz="1600">
                <a:solidFill>
                  <a:srgbClr val="000000"/>
                </a:solidFill>
                <a:latin typeface="方正仿宋_GBK" panose="02000000000000000000" charset="-122"/>
                <a:ea typeface="方正仿宋_GBK" panose="02000000000000000000" charset="-122"/>
              </a:rPr>
              <a:t>。</a:t>
            </a:r>
            <a:endParaRPr lang="zh-CN" altLang="en-US" sz="1600">
              <a:solidFill>
                <a:srgbClr val="000000"/>
              </a:solidFill>
              <a:latin typeface="方正仿宋_GBK" panose="02000000000000000000" charset="-122"/>
              <a:ea typeface="方正仿宋_GBK" panose="020000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558800" y="431800"/>
            <a:ext cx="88900" cy="457200"/>
          </a:xfrm>
          <a:prstGeom prst="roundRect">
            <a:avLst>
              <a:gd name="adj" fmla="val 0"/>
            </a:avLst>
          </a:prstGeom>
          <a:solidFill>
            <a:srgbClr val="D92D2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47700" y="317500"/>
            <a:ext cx="1562735"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答疑咨询</a:t>
            </a:r>
            <a:endPar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p:cNvPicPr>
            <a:picLocks noChangeAspect="1"/>
          </p:cNvPicPr>
          <p:nvPr/>
        </p:nvPicPr>
        <p:blipFill>
          <a:blip r:embed="rId1"/>
          <a:srcRect t="13889" b="20370"/>
          <a:stretch>
            <a:fillRect/>
          </a:stretch>
        </p:blipFill>
        <p:spPr>
          <a:xfrm>
            <a:off x="3729355" y="1079500"/>
            <a:ext cx="3856990" cy="4508500"/>
          </a:xfrm>
          <a:prstGeom prst="rect">
            <a:avLst/>
          </a:prstGeom>
        </p:spPr>
      </p:pic>
      <p:sp>
        <p:nvSpPr>
          <p:cNvPr id="7" name="文本框 6"/>
          <p:cNvSpPr txBox="1"/>
          <p:nvPr/>
        </p:nvSpPr>
        <p:spPr>
          <a:xfrm>
            <a:off x="4923155" y="5709285"/>
            <a:ext cx="1683385" cy="590550"/>
          </a:xfrm>
          <a:prstGeom prst="rect">
            <a:avLst/>
          </a:prstGeom>
          <a:noFill/>
        </p:spPr>
        <p:txBody>
          <a:bodyPr wrap="square" rtlCol="0">
            <a:noAutofit/>
          </a:bodyPr>
          <a:p>
            <a:r>
              <a:rPr lang="zh-CN" altLang="en-US" sz="1600" b="1">
                <a:latin typeface="微软雅黑" panose="020B0503020204020204" charset="-122"/>
                <a:ea typeface="微软雅黑" panose="020B0503020204020204" charset="-122"/>
              </a:rPr>
              <a:t>赛题答疑群</a:t>
            </a:r>
            <a:endParaRPr lang="zh-CN" altLang="en-US" sz="1600" b="1">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0" y="-5"/>
            <a:ext cx="12192000" cy="6863047"/>
          </a:xfrm>
          <a:prstGeom prst="rect">
            <a:avLst/>
          </a:prstGeom>
        </p:spPr>
      </p:pic>
      <p:sp>
        <p:nvSpPr>
          <p:cNvPr id="7" name="矩形 6"/>
          <p:cNvSpPr/>
          <p:nvPr/>
        </p:nvSpPr>
        <p:spPr>
          <a:xfrm>
            <a:off x="830580" y="1223010"/>
            <a:ext cx="10316845" cy="2784475"/>
          </a:xfrm>
          <a:prstGeom prst="rect">
            <a:avLst/>
          </a:prstGeom>
        </p:spPr>
        <p:txBody>
          <a:bodyPr wrap="square">
            <a:spAutoFit/>
          </a:bodyPr>
          <a:lstStyle/>
          <a:p>
            <a:pPr indent="0" algn="l">
              <a:lnSpc>
                <a:spcPct val="108000"/>
              </a:lnSpc>
              <a:defRPr/>
            </a:pPr>
            <a:r>
              <a:rPr lang="en-US" sz="4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2026年度中国青年科技创新</a:t>
            </a:r>
            <a:endParaRPr lang="en-US" sz="4000">
              <a:solidFill>
                <a:schemeClr val="bg1"/>
              </a:solidFill>
            </a:endParaRPr>
          </a:p>
          <a:p>
            <a:pPr indent="0" algn="l">
              <a:lnSpc>
                <a:spcPct val="108000"/>
              </a:lnSpc>
            </a:pPr>
            <a:r>
              <a:rPr lang="en-US" sz="4000" b="1">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“揭榜挂帅”擂台赛</a:t>
            </a:r>
            <a:endParaRPr lang="en-US" sz="4000" b="1" i="0" u="none" strike="noStrik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spcBef>
                <a:spcPts val="2000"/>
              </a:spcBef>
            </a:pPr>
            <a:r>
              <a:rPr lang="en-US" sz="3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28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OS Agent </a:t>
            </a:r>
            <a:r>
              <a:rPr lang="zh-CN" altLang="en-US" sz="28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记忆优化及高效应用研究– 赛题解读</a:t>
            </a:r>
            <a:r>
              <a:rPr lang="en-US" sz="320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3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defTabSz="913765"/>
            <a:endParaRPr lang="en-US" altLang="en-US" sz="3200" b="0" i="0" u="none" strike="noStrike" spc="3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图片 8"/>
          <p:cNvPicPr>
            <a:picLocks noChangeAspect="1"/>
          </p:cNvPicPr>
          <p:nvPr/>
        </p:nvPicPr>
        <p:blipFill>
          <a:blip r:embed="rId2"/>
          <a:stretch>
            <a:fillRect/>
          </a:stretch>
        </p:blipFill>
        <p:spPr>
          <a:xfrm>
            <a:off x="821803" y="5324295"/>
            <a:ext cx="10548395" cy="444143"/>
          </a:xfrm>
          <a:prstGeom prst="rect">
            <a:avLst/>
          </a:prstGeom>
        </p:spPr>
      </p:pic>
      <p:sp>
        <p:nvSpPr>
          <p:cNvPr id="10" name="矩形 9"/>
          <p:cNvSpPr/>
          <p:nvPr/>
        </p:nvSpPr>
        <p:spPr>
          <a:xfrm>
            <a:off x="839475" y="5903239"/>
            <a:ext cx="4627879" cy="400110"/>
          </a:xfrm>
          <a:prstGeom prst="rect">
            <a:avLst/>
          </a:prstGeom>
        </p:spPr>
        <p:txBody>
          <a:bodyPr wrap="square">
            <a:spAutoFit/>
          </a:bodyPr>
          <a:lstStyle/>
          <a:p>
            <a:pPr defTabSz="913765"/>
            <a:r>
              <a:rPr lang="en-US" altLang="zh-CN" sz="2000" dirty="0">
                <a:solidFill>
                  <a:srgbClr val="139BEE"/>
                </a:solidFill>
                <a:latin typeface="黑体" panose="02010609060101010101" charset="-122"/>
                <a:ea typeface="黑体" panose="02010609060101010101" charset="-122"/>
                <a:cs typeface="Arial" panose="020B0604020202020204" pitchFamily="34" charset="0"/>
              </a:rPr>
              <a:t>kylinos.cn</a:t>
            </a:r>
            <a:endParaRPr lang="en-US" altLang="zh-CN" sz="2000" dirty="0">
              <a:solidFill>
                <a:srgbClr val="139BEE"/>
              </a:solidFill>
              <a:latin typeface="黑体" panose="02010609060101010101" charset="-122"/>
              <a:ea typeface="黑体" panose="02010609060101010101" charset="-122"/>
              <a:cs typeface="Arial" panose="020B0604020202020204" pitchFamily="34" charset="0"/>
            </a:endParaRPr>
          </a:p>
        </p:txBody>
      </p:sp>
      <p:sp>
        <p:nvSpPr>
          <p:cNvPr id="12" name="矩形 11"/>
          <p:cNvSpPr/>
          <p:nvPr/>
        </p:nvSpPr>
        <p:spPr>
          <a:xfrm>
            <a:off x="9690195" y="5960287"/>
            <a:ext cx="1751325" cy="306705"/>
          </a:xfrm>
          <a:prstGeom prst="rect">
            <a:avLst/>
          </a:prstGeom>
        </p:spPr>
        <p:txBody>
          <a:bodyPr wrap="square">
            <a:spAutoFit/>
          </a:bodyPr>
          <a:lstStyle/>
          <a:p>
            <a:pPr algn="r" defTabSz="913765"/>
            <a:r>
              <a:rPr lang="en-US" altLang="zh-CN" dirty="0">
                <a:solidFill>
                  <a:srgbClr val="139BEE"/>
                </a:solidFill>
                <a:latin typeface="黑体" panose="02010609060101010101" charset="-122"/>
                <a:ea typeface="黑体" panose="02010609060101010101" charset="-122"/>
                <a:cs typeface="Arial" panose="020B0604020202020204" pitchFamily="34" charset="0"/>
              </a:rPr>
              <a:t>2026.05</a:t>
            </a:r>
            <a:endParaRPr lang="zh-CN" altLang="en-US" dirty="0">
              <a:solidFill>
                <a:srgbClr val="139BEE"/>
              </a:solidFill>
              <a:latin typeface="黑体" panose="02010609060101010101" charset="-122"/>
              <a:ea typeface="黑体" panose="02010609060101010101" charset="-122"/>
              <a:cs typeface="Arial" panose="020B0604020202020204" pitchFamily="34" charset="0"/>
            </a:endParaRPr>
          </a:p>
        </p:txBody>
      </p:sp>
      <p:sp>
        <p:nvSpPr>
          <p:cNvPr id="2" name="圆角矩形 1"/>
          <p:cNvSpPr/>
          <p:nvPr/>
        </p:nvSpPr>
        <p:spPr>
          <a:xfrm>
            <a:off x="10194966" y="6333631"/>
            <a:ext cx="541679" cy="61973"/>
          </a:xfrm>
          <a:prstGeom prst="roundRect">
            <a:avLst>
              <a:gd name="adj"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kumimoji="1" lang="zh-CN" altLang="en-US">
              <a:solidFill>
                <a:prstClr val="white"/>
              </a:solidFill>
              <a:latin typeface="黑体" panose="02010609060101010101" charset="-122"/>
              <a:ea typeface="黑体" panose="02010609060101010101" charset="-122"/>
            </a:endParaRPr>
          </a:p>
        </p:txBody>
      </p:sp>
      <p:sp>
        <p:nvSpPr>
          <p:cNvPr id="13" name="圆角矩形 12"/>
          <p:cNvSpPr/>
          <p:nvPr/>
        </p:nvSpPr>
        <p:spPr>
          <a:xfrm>
            <a:off x="10810846" y="6333631"/>
            <a:ext cx="541679" cy="61973"/>
          </a:xfrm>
          <a:prstGeom prst="roundRect">
            <a:avLst>
              <a:gd name="adj" fmla="val 50000"/>
            </a:avLst>
          </a:prstGeom>
          <a:solidFill>
            <a:srgbClr val="159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kumimoji="1" lang="zh-CN" altLang="en-US">
              <a:solidFill>
                <a:prstClr val="white"/>
              </a:solidFill>
              <a:latin typeface="黑体" panose="02010609060101010101" charset="-122"/>
              <a:ea typeface="黑体" panose="02010609060101010101" charset="-122"/>
            </a:endParaRPr>
          </a:p>
        </p:txBody>
      </p:sp>
      <p:sp>
        <p:nvSpPr>
          <p:cNvPr id="3" name="文本框 2"/>
          <p:cNvSpPr txBox="1"/>
          <p:nvPr/>
        </p:nvSpPr>
        <p:spPr>
          <a:xfrm>
            <a:off x="821803" y="4816529"/>
            <a:ext cx="3435237" cy="368300"/>
          </a:xfrm>
          <a:prstGeom prst="rect">
            <a:avLst/>
          </a:prstGeom>
          <a:noFill/>
        </p:spPr>
        <p:txBody>
          <a:bodyPr wrap="square" rtlCol="0">
            <a:spAutoFit/>
          </a:bodyPr>
          <a:lstStyle/>
          <a:p>
            <a:pPr algn="dist" defTabSz="913765"/>
            <a:r>
              <a:rPr lang="zh-CN" altLang="en-US" b="1" dirty="0">
                <a:solidFill>
                  <a:srgbClr val="ED2B3B"/>
                </a:solidFill>
                <a:latin typeface="黑体" panose="02010609060101010101" charset="-122"/>
                <a:ea typeface="黑体" panose="02010609060101010101" charset="-122"/>
                <a:cs typeface="微软雅黑" panose="020B0503020204020204" charset="-122"/>
              </a:rPr>
              <a:t>打造世界级操作系统中国品牌</a:t>
            </a:r>
            <a:endParaRPr lang="zh-CN" altLang="en-US" b="1" dirty="0">
              <a:solidFill>
                <a:srgbClr val="ED2B3B"/>
              </a:solidFill>
              <a:latin typeface="黑体" panose="02010609060101010101" charset="-122"/>
              <a:ea typeface="黑体" panose="02010609060101010101" charset="-122"/>
              <a:cs typeface="微软雅黑" panose="020B0503020204020204" charset="-122"/>
            </a:endParaRPr>
          </a:p>
        </p:txBody>
      </p:sp>
      <p:pic>
        <p:nvPicPr>
          <p:cNvPr id="4" name="图片 3" descr="logo不带R"/>
          <p:cNvPicPr>
            <a:picLocks noChangeAspect="1"/>
          </p:cNvPicPr>
          <p:nvPr userDrawn="1"/>
        </p:nvPicPr>
        <p:blipFill>
          <a:blip r:embed="rId3"/>
          <a:stretch>
            <a:fillRect/>
          </a:stretch>
        </p:blipFill>
        <p:spPr>
          <a:xfrm>
            <a:off x="10465805" y="303069"/>
            <a:ext cx="1406313" cy="8415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710451" y="2489771"/>
            <a:ext cx="2011680" cy="1198880"/>
          </a:xfrm>
          <a:prstGeom prst="rect">
            <a:avLst/>
          </a:prstGeom>
          <a:noFill/>
        </p:spPr>
        <p:txBody>
          <a:bodyPr wrap="none" rtlCol="0">
            <a:spAutoFit/>
          </a:bodyPr>
          <a:lstStyle/>
          <a:p>
            <a:r>
              <a:rPr lang="zh-CN" altLang="en-US" sz="7200" b="1" dirty="0">
                <a:solidFill>
                  <a:srgbClr val="CA1F25"/>
                </a:solidFill>
                <a:latin typeface="微软雅黑" panose="020B0503020204020204" charset="-122"/>
                <a:ea typeface="微软雅黑" panose="020B0503020204020204" charset="-122"/>
              </a:rPr>
              <a:t>目录</a:t>
            </a:r>
            <a:endParaRPr lang="zh-CN" altLang="en-US" sz="7200" b="1" dirty="0">
              <a:solidFill>
                <a:srgbClr val="CA1F25"/>
              </a:solidFill>
              <a:latin typeface="微软雅黑" panose="020B0503020204020204" charset="-122"/>
              <a:ea typeface="微软雅黑" panose="020B0503020204020204" charset="-122"/>
            </a:endParaRPr>
          </a:p>
        </p:txBody>
      </p:sp>
      <p:grpSp>
        <p:nvGrpSpPr>
          <p:cNvPr id="15" name="组合 14"/>
          <p:cNvGrpSpPr/>
          <p:nvPr>
            <p:custDataLst>
              <p:tags r:id="rId1"/>
            </p:custDataLst>
          </p:nvPr>
        </p:nvGrpSpPr>
        <p:grpSpPr>
          <a:xfrm>
            <a:off x="4050030" y="1372235"/>
            <a:ext cx="4669790" cy="720090"/>
            <a:chOff x="5148" y="3225"/>
            <a:chExt cx="7354" cy="1134"/>
          </a:xfrm>
        </p:grpSpPr>
        <p:sp>
          <p:nvSpPr>
            <p:cNvPr id="51" name="文本框 50"/>
            <p:cNvSpPr txBox="1"/>
            <p:nvPr>
              <p:custDataLst>
                <p:tags r:id="rId2"/>
              </p:custDataLst>
            </p:nvPr>
          </p:nvSpPr>
          <p:spPr>
            <a:xfrm>
              <a:off x="6834" y="3225"/>
              <a:ext cx="5669" cy="1134"/>
            </a:xfrm>
            <a:prstGeom prst="rect">
              <a:avLst/>
            </a:prstGeom>
            <a:noFill/>
          </p:spPr>
          <p:txBody>
            <a:bodyPr wrap="square" rtlCol="0">
              <a:noAutofit/>
              <a:scene3d>
                <a:camera prst="orthographicFront"/>
                <a:lightRig rig="threePt" dir="t"/>
              </a:scene3d>
              <a:sp3d contourW="12700"/>
            </a:bodyPr>
            <a:lstStyle/>
            <a:p>
              <a:pPr algn="l"/>
              <a:r>
                <a:rPr lang="zh-CN" altLang="en-US" sz="2500" b="1" dirty="0">
                  <a:solidFill>
                    <a:srgbClr val="FF0000"/>
                  </a:solidFill>
                  <a:latin typeface="Arial" panose="020B0604020202020204" pitchFamily="34" charset="0"/>
                  <a:ea typeface="微软雅黑" panose="020B0503020204020204" charset="-122"/>
                  <a:cs typeface="+mn-ea"/>
                  <a:sym typeface="+mn-ea"/>
                </a:rPr>
                <a:t>赛题背景与</a:t>
              </a:r>
              <a:r>
                <a:rPr lang="zh-CN" altLang="en-US" sz="2500" b="1" dirty="0">
                  <a:solidFill>
                    <a:srgbClr val="FF0000"/>
                  </a:solidFill>
                  <a:latin typeface="Arial" panose="020B0604020202020204" pitchFamily="34" charset="0"/>
                  <a:ea typeface="微软雅黑" panose="020B0503020204020204" charset="-122"/>
                  <a:cs typeface="+mn-ea"/>
                  <a:sym typeface="+mn-ea"/>
                </a:rPr>
                <a:t>需求</a:t>
              </a:r>
              <a:endParaRPr lang="zh-CN" altLang="en-US" sz="2500" b="1" dirty="0">
                <a:solidFill>
                  <a:srgbClr val="FF0000"/>
                </a:solidFill>
                <a:latin typeface="Arial" panose="020B0604020202020204" pitchFamily="34" charset="0"/>
                <a:ea typeface="微软雅黑" panose="020B0503020204020204" charset="-122"/>
                <a:cs typeface="+mn-ea"/>
                <a:sym typeface="+mn-ea"/>
              </a:endParaRPr>
            </a:p>
          </p:txBody>
        </p:sp>
        <p:grpSp>
          <p:nvGrpSpPr>
            <p:cNvPr id="8" name="组合 7"/>
            <p:cNvGrpSpPr/>
            <p:nvPr>
              <p:custDataLst>
                <p:tags r:id="rId3"/>
              </p:custDataLst>
            </p:nvPr>
          </p:nvGrpSpPr>
          <p:grpSpPr>
            <a:xfrm>
              <a:off x="5148" y="3225"/>
              <a:ext cx="1098" cy="1062"/>
              <a:chOff x="6115" y="4115"/>
              <a:chExt cx="1098" cy="1062"/>
            </a:xfrm>
          </p:grpSpPr>
          <p:sp>
            <p:nvSpPr>
              <p:cNvPr id="46" name="椭圆 45"/>
              <p:cNvSpPr/>
              <p:nvPr>
                <p:custDataLst>
                  <p:tags r:id="rId4"/>
                </p:custDataLst>
              </p:nvPr>
            </p:nvSpPr>
            <p:spPr>
              <a:xfrm>
                <a:off x="6115" y="4115"/>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62" name="文本框 61"/>
              <p:cNvSpPr txBox="1"/>
              <p:nvPr>
                <p:custDataLst>
                  <p:tags r:id="rId5"/>
                </p:custDataLst>
              </p:nvPr>
            </p:nvSpPr>
            <p:spPr>
              <a:xfrm>
                <a:off x="6135" y="4185"/>
                <a:ext cx="1078" cy="919"/>
              </a:xfrm>
              <a:prstGeom prst="rect">
                <a:avLst/>
              </a:prstGeom>
              <a:noFill/>
            </p:spPr>
            <p:txBody>
              <a:bodyPr wrap="none" rtlCol="0">
                <a:spAutoFit/>
              </a:bodyPr>
              <a:lstStyle/>
              <a:p>
                <a:r>
                  <a:rPr lang="en-US" altLang="zh-CN" sz="3200" b="1">
                    <a:solidFill>
                      <a:srgbClr val="FEFEFE"/>
                    </a:solidFill>
                    <a:latin typeface="微软雅黑" panose="020B0503020204020204" charset="-122"/>
                    <a:ea typeface="微软雅黑" panose="020B0503020204020204" charset="-122"/>
                  </a:rPr>
                  <a:t>01</a:t>
                </a:r>
                <a:endParaRPr lang="en-US" altLang="zh-CN" sz="3200" b="1">
                  <a:solidFill>
                    <a:srgbClr val="FEFEFE"/>
                  </a:solidFill>
                  <a:latin typeface="微软雅黑" panose="020B0503020204020204" charset="-122"/>
                  <a:ea typeface="微软雅黑" panose="020B0503020204020204" charset="-122"/>
                </a:endParaRPr>
              </a:p>
            </p:txBody>
          </p:sp>
        </p:grpSp>
      </p:grpSp>
      <p:sp>
        <p:nvSpPr>
          <p:cNvPr id="64" name="文本框 63"/>
          <p:cNvSpPr txBox="1"/>
          <p:nvPr/>
        </p:nvSpPr>
        <p:spPr>
          <a:xfrm>
            <a:off x="777386" y="3507784"/>
            <a:ext cx="1896745" cy="506730"/>
          </a:xfrm>
          <a:prstGeom prst="rect">
            <a:avLst/>
          </a:prstGeom>
          <a:noFill/>
        </p:spPr>
        <p:txBody>
          <a:bodyPr wrap="none" rtlCol="0">
            <a:spAutoFit/>
          </a:bodyPr>
          <a:lstStyle/>
          <a:p>
            <a:r>
              <a:rPr lang="en-US" altLang="zh-CN" sz="2700" b="1">
                <a:solidFill>
                  <a:srgbClr val="161915"/>
                </a:solidFill>
                <a:latin typeface="微软雅黑" panose="020B0503020204020204" charset="-122"/>
                <a:ea typeface="微软雅黑" panose="020B0503020204020204" charset="-122"/>
              </a:rPr>
              <a:t>CONTENT</a:t>
            </a:r>
            <a:endParaRPr lang="zh-CN" altLang="en-US" sz="2700" b="1">
              <a:solidFill>
                <a:srgbClr val="161915"/>
              </a:solidFill>
              <a:latin typeface="微软雅黑" panose="020B0503020204020204" charset="-122"/>
              <a:ea typeface="微软雅黑" panose="020B0503020204020204" charset="-122"/>
            </a:endParaRPr>
          </a:p>
        </p:txBody>
      </p:sp>
      <p:grpSp>
        <p:nvGrpSpPr>
          <p:cNvPr id="16" name="组合 15"/>
          <p:cNvGrpSpPr/>
          <p:nvPr>
            <p:custDataLst>
              <p:tags r:id="rId6"/>
            </p:custDataLst>
          </p:nvPr>
        </p:nvGrpSpPr>
        <p:grpSpPr>
          <a:xfrm>
            <a:off x="4056380" y="2453005"/>
            <a:ext cx="4663440" cy="718820"/>
            <a:chOff x="5158" y="4775"/>
            <a:chExt cx="7344" cy="1132"/>
          </a:xfrm>
        </p:grpSpPr>
        <p:grpSp>
          <p:nvGrpSpPr>
            <p:cNvPr id="9" name="组合 8"/>
            <p:cNvGrpSpPr/>
            <p:nvPr>
              <p:custDataLst>
                <p:tags r:id="rId7"/>
              </p:custDataLst>
            </p:nvPr>
          </p:nvGrpSpPr>
          <p:grpSpPr>
            <a:xfrm>
              <a:off x="5158" y="4775"/>
              <a:ext cx="1078" cy="1062"/>
              <a:chOff x="6234" y="5849"/>
              <a:chExt cx="1078" cy="1062"/>
            </a:xfrm>
          </p:grpSpPr>
          <p:sp>
            <p:nvSpPr>
              <p:cNvPr id="30" name="椭圆 29"/>
              <p:cNvSpPr/>
              <p:nvPr>
                <p:custDataLst>
                  <p:tags r:id="rId8"/>
                </p:custDataLst>
              </p:nvPr>
            </p:nvSpPr>
            <p:spPr>
              <a:xfrm>
                <a:off x="6242" y="5849"/>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34" name="文本框 33"/>
              <p:cNvSpPr txBox="1"/>
              <p:nvPr>
                <p:custDataLst>
                  <p:tags r:id="rId9"/>
                </p:custDataLst>
              </p:nvPr>
            </p:nvSpPr>
            <p:spPr>
              <a:xfrm>
                <a:off x="6234" y="5920"/>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02</a:t>
                </a:r>
                <a:endParaRPr lang="en-US" altLang="zh-CN" sz="3200" b="1">
                  <a:solidFill>
                    <a:srgbClr val="FCFCFC"/>
                  </a:solidFill>
                  <a:latin typeface="微软雅黑" panose="020B0503020204020204" charset="-122"/>
                  <a:ea typeface="微软雅黑" panose="020B0503020204020204" charset="-122"/>
                </a:endParaRPr>
              </a:p>
            </p:txBody>
          </p:sp>
        </p:grpSp>
        <p:sp>
          <p:nvSpPr>
            <p:cNvPr id="7" name="文本框 6"/>
            <p:cNvSpPr txBox="1"/>
            <p:nvPr>
              <p:custDataLst>
                <p:tags r:id="rId10"/>
              </p:custDataLst>
            </p:nvPr>
          </p:nvSpPr>
          <p:spPr>
            <a:xfrm>
              <a:off x="6834" y="4775"/>
              <a:ext cx="5669" cy="1133"/>
            </a:xfrm>
            <a:prstGeom prst="rect">
              <a:avLst/>
            </a:prstGeom>
            <a:noFill/>
          </p:spPr>
          <p:txBody>
            <a:bodyPr wrap="square" rtlCol="0" anchor="t">
              <a:noAutofit/>
            </a:bodyPr>
            <a:p>
              <a:pPr algn="l"/>
              <a:r>
                <a:rPr lang="zh-CN" altLang="en-US" sz="2500" b="1" dirty="0">
                  <a:solidFill>
                    <a:srgbClr val="161915"/>
                  </a:solidFill>
                  <a:latin typeface="Arial" panose="020B0604020202020204" pitchFamily="34" charset="0"/>
                  <a:ea typeface="微软雅黑" panose="020B0503020204020204" charset="-122"/>
                  <a:cs typeface="+mn-ea"/>
                </a:rPr>
                <a:t>技术实现与</a:t>
              </a:r>
              <a:r>
                <a:rPr lang="zh-CN" altLang="en-US" sz="2500" b="1" dirty="0">
                  <a:solidFill>
                    <a:srgbClr val="161915"/>
                  </a:solidFill>
                  <a:latin typeface="Arial" panose="020B0604020202020204" pitchFamily="34" charset="0"/>
                  <a:ea typeface="微软雅黑" panose="020B0503020204020204" charset="-122"/>
                  <a:cs typeface="+mn-ea"/>
                </a:rPr>
                <a:t>架构</a:t>
              </a:r>
              <a:endParaRPr lang="zh-CN" altLang="en-US" sz="2500" b="1" dirty="0">
                <a:solidFill>
                  <a:srgbClr val="161915"/>
                </a:solidFill>
                <a:latin typeface="Arial" panose="020B0604020202020204" pitchFamily="34" charset="0"/>
                <a:ea typeface="微软雅黑" panose="020B0503020204020204" charset="-122"/>
                <a:cs typeface="+mn-ea"/>
              </a:endParaRPr>
            </a:p>
          </p:txBody>
        </p:sp>
      </p:grpSp>
      <p:grpSp>
        <p:nvGrpSpPr>
          <p:cNvPr id="17" name="组合 16"/>
          <p:cNvGrpSpPr/>
          <p:nvPr>
            <p:custDataLst>
              <p:tags r:id="rId11"/>
            </p:custDataLst>
          </p:nvPr>
        </p:nvGrpSpPr>
        <p:grpSpPr>
          <a:xfrm>
            <a:off x="4056380" y="3532505"/>
            <a:ext cx="4663440" cy="718820"/>
            <a:chOff x="5158" y="6324"/>
            <a:chExt cx="7344" cy="1132"/>
          </a:xfrm>
        </p:grpSpPr>
        <p:grpSp>
          <p:nvGrpSpPr>
            <p:cNvPr id="10" name="组合 9"/>
            <p:cNvGrpSpPr/>
            <p:nvPr>
              <p:custDataLst>
                <p:tags r:id="rId12"/>
              </p:custDataLst>
            </p:nvPr>
          </p:nvGrpSpPr>
          <p:grpSpPr>
            <a:xfrm>
              <a:off x="5158" y="6324"/>
              <a:ext cx="1078" cy="1062"/>
              <a:chOff x="6633" y="6999"/>
              <a:chExt cx="1078" cy="1062"/>
            </a:xfrm>
          </p:grpSpPr>
          <p:sp>
            <p:nvSpPr>
              <p:cNvPr id="2" name="椭圆 1"/>
              <p:cNvSpPr/>
              <p:nvPr>
                <p:custDataLst>
                  <p:tags r:id="rId13"/>
                </p:custDataLst>
              </p:nvPr>
            </p:nvSpPr>
            <p:spPr>
              <a:xfrm>
                <a:off x="6641" y="6999"/>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4" name="文本框 3"/>
              <p:cNvSpPr txBox="1"/>
              <p:nvPr>
                <p:custDataLst>
                  <p:tags r:id="rId14"/>
                </p:custDataLst>
              </p:nvPr>
            </p:nvSpPr>
            <p:spPr>
              <a:xfrm>
                <a:off x="6633" y="7071"/>
                <a:ext cx="1078" cy="919"/>
              </a:xfrm>
              <a:prstGeom prst="rect">
                <a:avLst/>
              </a:prstGeom>
              <a:noFill/>
            </p:spPr>
            <p:txBody>
              <a:bodyPr wrap="none" rtlCol="0">
                <a:spAutoFit/>
              </a:bodyPr>
              <a:p>
                <a:r>
                  <a:rPr lang="en-US" altLang="zh-CN" sz="3200" b="1">
                    <a:solidFill>
                      <a:srgbClr val="FEFEFE"/>
                    </a:solidFill>
                    <a:latin typeface="微软雅黑" panose="020B0503020204020204" charset="-122"/>
                    <a:ea typeface="微软雅黑" panose="020B0503020204020204" charset="-122"/>
                  </a:rPr>
                  <a:t>03</a:t>
                </a:r>
                <a:endParaRPr lang="en-US" altLang="zh-CN" sz="3200" b="1">
                  <a:solidFill>
                    <a:srgbClr val="FEFEFE"/>
                  </a:solidFill>
                  <a:latin typeface="微软雅黑" panose="020B0503020204020204" charset="-122"/>
                  <a:ea typeface="微软雅黑" panose="020B0503020204020204" charset="-122"/>
                </a:endParaRPr>
              </a:p>
            </p:txBody>
          </p:sp>
        </p:grpSp>
        <p:sp>
          <p:nvSpPr>
            <p:cNvPr id="12" name="文本框 11"/>
            <p:cNvSpPr txBox="1"/>
            <p:nvPr>
              <p:custDataLst>
                <p:tags r:id="rId15"/>
              </p:custDataLst>
            </p:nvPr>
          </p:nvSpPr>
          <p:spPr>
            <a:xfrm>
              <a:off x="6834" y="6324"/>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评分标准与</a:t>
              </a: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提交</a:t>
              </a:r>
              <a:endPar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8" name="组合 17"/>
          <p:cNvGrpSpPr/>
          <p:nvPr>
            <p:custDataLst>
              <p:tags r:id="rId16"/>
            </p:custDataLst>
          </p:nvPr>
        </p:nvGrpSpPr>
        <p:grpSpPr>
          <a:xfrm>
            <a:off x="4056380" y="4612005"/>
            <a:ext cx="4620260" cy="718820"/>
            <a:chOff x="5158" y="8327"/>
            <a:chExt cx="7276" cy="1132"/>
          </a:xfrm>
        </p:grpSpPr>
        <p:grpSp>
          <p:nvGrpSpPr>
            <p:cNvPr id="3" name="组合 2"/>
            <p:cNvGrpSpPr/>
            <p:nvPr>
              <p:custDataLst>
                <p:tags r:id="rId17"/>
              </p:custDataLst>
            </p:nvPr>
          </p:nvGrpSpPr>
          <p:grpSpPr>
            <a:xfrm>
              <a:off x="5158" y="8327"/>
              <a:ext cx="1078" cy="1062"/>
              <a:chOff x="6598" y="5764"/>
              <a:chExt cx="1078" cy="1062"/>
            </a:xfrm>
          </p:grpSpPr>
          <p:sp>
            <p:nvSpPr>
              <p:cNvPr id="5" name="椭圆 4"/>
              <p:cNvSpPr/>
              <p:nvPr>
                <p:custDataLst>
                  <p:tags r:id="rId18"/>
                </p:custDataLst>
              </p:nvPr>
            </p:nvSpPr>
            <p:spPr>
              <a:xfrm>
                <a:off x="6606" y="5764"/>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6" name="文本框 5"/>
              <p:cNvSpPr txBox="1"/>
              <p:nvPr>
                <p:custDataLst>
                  <p:tags r:id="rId19"/>
                </p:custDataLst>
              </p:nvPr>
            </p:nvSpPr>
            <p:spPr>
              <a:xfrm>
                <a:off x="6598" y="5836"/>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04</a:t>
                </a:r>
                <a:endParaRPr lang="en-US" altLang="zh-CN" sz="3200" b="1">
                  <a:solidFill>
                    <a:srgbClr val="FCFCFC"/>
                  </a:solidFill>
                  <a:latin typeface="微软雅黑" panose="020B0503020204020204" charset="-122"/>
                  <a:ea typeface="微软雅黑" panose="020B0503020204020204" charset="-122"/>
                </a:endParaRPr>
              </a:p>
            </p:txBody>
          </p:sp>
        </p:grpSp>
        <p:sp>
          <p:nvSpPr>
            <p:cNvPr id="13" name="文本框 12"/>
            <p:cNvSpPr txBox="1"/>
            <p:nvPr>
              <p:custDataLst>
                <p:tags r:id="rId20"/>
              </p:custDataLst>
            </p:nvPr>
          </p:nvSpPr>
          <p:spPr>
            <a:xfrm>
              <a:off x="6766" y="8327"/>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备赛建议与</a:t>
              </a: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答疑</a:t>
              </a:r>
              <a:endPar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timing>
    <p:tnLst>
      <p:par>
        <p:cTn id="1" dur="indefinite" restart="never" nodeType="tmRoot"/>
      </p:par>
    </p:tnLst>
    <p:bldLst>
      <p:bldP spid="37" grpId="0"/>
      <p:bldP spid="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150368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赛题</a:t>
            </a:r>
            <a:r>
              <a:rPr kumimoji="1" lang="zh-CN" altLang="en-US" sz="2400" b="1" spc="200" dirty="0">
                <a:latin typeface="微软雅黑" panose="020B0503020204020204" charset="-122"/>
                <a:ea typeface="微软雅黑" panose="020B0503020204020204" charset="-122"/>
              </a:rPr>
              <a:t>背景</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7" name="文本框 6"/>
          <p:cNvSpPr txBox="1"/>
          <p:nvPr/>
        </p:nvSpPr>
        <p:spPr>
          <a:xfrm>
            <a:off x="474980" y="976630"/>
            <a:ext cx="11224260" cy="4599940"/>
          </a:xfrm>
          <a:prstGeom prst="rect">
            <a:avLst/>
          </a:prstGeom>
          <a:noFill/>
        </p:spPr>
        <p:txBody>
          <a:bodyPr wrap="square" rtlCol="0">
            <a:noAutofit/>
          </a:bodyPr>
          <a:p>
            <a:pPr indent="0" fontAlgn="auto"/>
            <a:r>
              <a:rPr lang="zh-CN" altLang="en-US" sz="2000" b="1">
                <a:latin typeface="黑体" panose="02010609060101010101" charset="-122"/>
                <a:ea typeface="黑体" panose="02010609060101010101" charset="-122"/>
                <a:cs typeface="黑体" panose="02010609060101010101" charset="-122"/>
              </a:rPr>
              <a:t>【什么是</a:t>
            </a:r>
            <a:r>
              <a:rPr lang="en-US" altLang="zh-CN" sz="2000" b="1">
                <a:latin typeface="黑体" panose="02010609060101010101" charset="-122"/>
                <a:ea typeface="黑体" panose="02010609060101010101" charset="-122"/>
                <a:cs typeface="黑体" panose="02010609060101010101" charset="-122"/>
              </a:rPr>
              <a:t> OS Agent </a:t>
            </a:r>
            <a:r>
              <a:rPr lang="zh-CN" altLang="en-US" sz="2000" b="1">
                <a:latin typeface="黑体" panose="02010609060101010101" charset="-122"/>
                <a:ea typeface="黑体" panose="02010609060101010101" charset="-122"/>
                <a:cs typeface="黑体" panose="02010609060101010101" charset="-122"/>
              </a:rPr>
              <a:t>】</a:t>
            </a:r>
            <a:endParaRPr lang="zh-CN" altLang="en-US" sz="2000" b="1">
              <a:latin typeface="黑体" panose="02010609060101010101" charset="-122"/>
              <a:ea typeface="黑体" panose="02010609060101010101" charset="-122"/>
              <a:cs typeface="黑体" panose="02010609060101010101" charset="-122"/>
            </a:endParaRPr>
          </a:p>
          <a:p>
            <a:pPr indent="457200"/>
            <a:r>
              <a:rPr lang="zh-CN" altLang="en-US" sz="2000">
                <a:latin typeface="黑体" panose="02010609060101010101" charset="-122"/>
                <a:ea typeface="黑体" panose="02010609060101010101" charset="-122"/>
                <a:cs typeface="黑体" panose="02010609060101010101" charset="-122"/>
              </a:rPr>
              <a:t>可以把</a:t>
            </a:r>
            <a:r>
              <a:rPr lang="en-US" altLang="zh-CN" sz="2000">
                <a:latin typeface="黑体" panose="02010609060101010101" charset="-122"/>
                <a:ea typeface="黑体" panose="02010609060101010101" charset="-122"/>
                <a:cs typeface="黑体" panose="02010609060101010101" charset="-122"/>
              </a:rPr>
              <a:t> OS Agent </a:t>
            </a:r>
            <a:r>
              <a:rPr lang="zh-CN" altLang="en-US" sz="2000">
                <a:latin typeface="黑体" panose="02010609060101010101" charset="-122"/>
                <a:ea typeface="黑体" panose="02010609060101010101" charset="-122"/>
                <a:cs typeface="黑体" panose="02010609060101010101" charset="-122"/>
              </a:rPr>
              <a:t>理解为运行在银河麒麟桌面操作系统</a:t>
            </a:r>
            <a:r>
              <a:rPr lang="en-US" altLang="zh-CN" sz="2000">
                <a:latin typeface="黑体" panose="02010609060101010101" charset="-122"/>
                <a:ea typeface="黑体" panose="02010609060101010101" charset="-122"/>
                <a:cs typeface="黑体" panose="02010609060101010101" charset="-122"/>
              </a:rPr>
              <a:t>V11</a:t>
            </a:r>
            <a:r>
              <a:rPr lang="zh-CN" altLang="en-US" sz="2000">
                <a:latin typeface="黑体" panose="02010609060101010101" charset="-122"/>
                <a:ea typeface="黑体" panose="02010609060101010101" charset="-122"/>
                <a:cs typeface="黑体" panose="02010609060101010101" charset="-122"/>
              </a:rPr>
              <a:t>上的</a:t>
            </a:r>
            <a:r>
              <a:rPr lang="zh-CN" altLang="en-US" sz="2000" b="1">
                <a:solidFill>
                  <a:srgbClr val="FF0000"/>
                </a:solidFill>
                <a:latin typeface="黑体" panose="02010609060101010101" charset="-122"/>
                <a:ea typeface="黑体" panose="02010609060101010101" charset="-122"/>
                <a:cs typeface="黑体" panose="02010609060101010101" charset="-122"/>
              </a:rPr>
              <a:t>系统级智能助手</a:t>
            </a:r>
            <a:r>
              <a:rPr lang="zh-CN" altLang="en-US" sz="2000">
                <a:latin typeface="黑体" panose="02010609060101010101" charset="-122"/>
                <a:ea typeface="黑体" panose="02010609060101010101" charset="-122"/>
                <a:cs typeface="黑体" panose="02010609060101010101" charset="-122"/>
              </a:rPr>
              <a:t>：</a:t>
            </a: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类似你常用的</a:t>
            </a:r>
            <a:r>
              <a:rPr lang="en-US" altLang="zh-CN" sz="2000">
                <a:latin typeface="黑体" panose="02010609060101010101" charset="-122"/>
                <a:ea typeface="黑体" panose="02010609060101010101" charset="-122"/>
                <a:cs typeface="黑体" panose="02010609060101010101" charset="-122"/>
              </a:rPr>
              <a:t> AI Copilot</a:t>
            </a:r>
            <a:r>
              <a:rPr lang="zh-CN" altLang="en-US" sz="2000">
                <a:latin typeface="黑体" panose="02010609060101010101" charset="-122"/>
                <a:ea typeface="黑体" panose="02010609060101010101" charset="-122"/>
                <a:cs typeface="黑体" panose="02010609060101010101" charset="-122"/>
              </a:rPr>
              <a:t>，但能力更底层</a:t>
            </a: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能直接调用系统工具、自动化完成复杂办公流程</a:t>
            </a: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适配不同用户的使用习惯</a:t>
            </a: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是未来国产操作系统智能化交互的核心入口</a:t>
            </a:r>
            <a:endParaRPr lang="zh-CN" altLang="en-US" sz="2000">
              <a:latin typeface="黑体" panose="02010609060101010101" charset="-122"/>
              <a:ea typeface="黑体" panose="02010609060101010101" charset="-122"/>
              <a:cs typeface="黑体" panose="02010609060101010101" charset="-122"/>
            </a:endParaRPr>
          </a:p>
          <a:p>
            <a:pPr indent="457200"/>
            <a:endParaRPr lang="zh-CN" altLang="en-US" sz="2000">
              <a:latin typeface="黑体" panose="02010609060101010101" charset="-122"/>
              <a:ea typeface="黑体" panose="02010609060101010101" charset="-122"/>
              <a:cs typeface="黑体" panose="02010609060101010101" charset="-122"/>
            </a:endParaRPr>
          </a:p>
          <a:p>
            <a:pPr indent="457200"/>
            <a:endParaRPr lang="zh-CN" altLang="en-US" sz="2000">
              <a:latin typeface="黑体" panose="02010609060101010101" charset="-122"/>
              <a:ea typeface="黑体" panose="02010609060101010101" charset="-122"/>
              <a:cs typeface="黑体" panose="02010609060101010101" charset="-122"/>
            </a:endParaRPr>
          </a:p>
          <a:p>
            <a:pPr indent="0" fontAlgn="auto"/>
            <a:r>
              <a:rPr lang="zh-CN" altLang="en-US" sz="2000" b="1">
                <a:latin typeface="黑体" panose="02010609060101010101" charset="-122"/>
                <a:ea typeface="黑体" panose="02010609060101010101" charset="-122"/>
                <a:cs typeface="黑体" panose="02010609060101010101" charset="-122"/>
              </a:rPr>
              <a:t>【记忆模块是</a:t>
            </a:r>
            <a:r>
              <a:rPr lang="en-US" altLang="zh-CN" sz="2000" b="1">
                <a:latin typeface="黑体" panose="02010609060101010101" charset="-122"/>
                <a:ea typeface="黑体" panose="02010609060101010101" charset="-122"/>
                <a:cs typeface="黑体" panose="02010609060101010101" charset="-122"/>
              </a:rPr>
              <a:t> OS Agent </a:t>
            </a:r>
            <a:r>
              <a:rPr lang="zh-CN" altLang="en-US" sz="2000" b="1">
                <a:latin typeface="黑体" panose="02010609060101010101" charset="-122"/>
                <a:ea typeface="黑体" panose="02010609060101010101" charset="-122"/>
                <a:cs typeface="黑体" panose="02010609060101010101" charset="-122"/>
              </a:rPr>
              <a:t>的大脑】</a:t>
            </a:r>
            <a:endParaRPr lang="zh-CN" altLang="en-US" sz="2000" b="1">
              <a:latin typeface="黑体" panose="02010609060101010101" charset="-122"/>
              <a:ea typeface="黑体" panose="02010609060101010101" charset="-122"/>
              <a:cs typeface="黑体" panose="02010609060101010101" charset="-122"/>
            </a:endParaRPr>
          </a:p>
          <a:p>
            <a:pPr indent="457200"/>
            <a:r>
              <a:rPr lang="zh-CN" altLang="en-US" sz="2000">
                <a:latin typeface="黑体" panose="02010609060101010101" charset="-122"/>
                <a:ea typeface="黑体" panose="02010609060101010101" charset="-122"/>
                <a:cs typeface="黑体" panose="02010609060101010101" charset="-122"/>
              </a:rPr>
              <a:t>记忆模块是</a:t>
            </a:r>
            <a:r>
              <a:rPr lang="en-US" altLang="zh-CN" sz="2000">
                <a:latin typeface="黑体" panose="02010609060101010101" charset="-122"/>
                <a:ea typeface="黑体" panose="02010609060101010101" charset="-122"/>
                <a:cs typeface="黑体" panose="02010609060101010101" charset="-122"/>
              </a:rPr>
              <a:t> OS Agent </a:t>
            </a:r>
            <a:r>
              <a:rPr lang="zh-CN" altLang="en-US" sz="2000">
                <a:latin typeface="黑体" panose="02010609060101010101" charset="-122"/>
                <a:ea typeface="黑体" panose="02010609060101010101" charset="-122"/>
                <a:cs typeface="黑体" panose="02010609060101010101" charset="-122"/>
              </a:rPr>
              <a:t>实现智能化的核心载体，是</a:t>
            </a:r>
            <a:r>
              <a:rPr lang="en-US" altLang="zh-CN" sz="2000">
                <a:latin typeface="黑体" panose="02010609060101010101" charset="-122"/>
                <a:ea typeface="黑体" panose="02010609060101010101" charset="-122"/>
                <a:cs typeface="黑体" panose="02010609060101010101" charset="-122"/>
              </a:rPr>
              <a:t> OS Agent </a:t>
            </a:r>
            <a:r>
              <a:rPr lang="zh-CN" altLang="en-US" sz="2000">
                <a:latin typeface="黑体" panose="02010609060101010101" charset="-122"/>
                <a:ea typeface="黑体" panose="02010609060101010101" charset="-122"/>
                <a:cs typeface="黑体" panose="02010609060101010101" charset="-122"/>
              </a:rPr>
              <a:t>实现以下能力的根本：</a:t>
            </a: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b="1">
                <a:solidFill>
                  <a:srgbClr val="FF0000"/>
                </a:solidFill>
                <a:latin typeface="黑体" panose="02010609060101010101" charset="-122"/>
                <a:ea typeface="黑体" panose="02010609060101010101" charset="-122"/>
                <a:cs typeface="黑体" panose="02010609060101010101" charset="-122"/>
              </a:rPr>
              <a:t>个性化服务适配</a:t>
            </a:r>
            <a:r>
              <a:rPr lang="zh-CN" altLang="en-US" sz="2000">
                <a:latin typeface="黑体" panose="02010609060101010101" charset="-122"/>
                <a:ea typeface="黑体" panose="02010609060101010101" charset="-122"/>
                <a:cs typeface="黑体" panose="02010609060101010101" charset="-122"/>
              </a:rPr>
              <a:t>：不用用户每次都重复说明自己的使用习惯，系统自动适配用户的操作风格、工具选择偏好、输出格式要求，大幅提升使用体验</a:t>
            </a: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b="1">
                <a:solidFill>
                  <a:srgbClr val="FF0000"/>
                </a:solidFill>
                <a:latin typeface="黑体" panose="02010609060101010101" charset="-122"/>
                <a:ea typeface="黑体" panose="02010609060101010101" charset="-122"/>
                <a:cs typeface="黑体" panose="02010609060101010101" charset="-122"/>
              </a:rPr>
              <a:t>知识沉淀复用</a:t>
            </a:r>
            <a:r>
              <a:rPr lang="zh-CN" altLang="en-US" sz="2000">
                <a:latin typeface="黑体" panose="02010609060101010101" charset="-122"/>
                <a:ea typeface="黑体" panose="02010609060101010101" charset="-122"/>
                <a:cs typeface="黑体" panose="02010609060101010101" charset="-122"/>
              </a:rPr>
              <a:t>：把零散的工作经验、处理过的问题、验证过的流程自动沉淀为可复用的知识，下次遇到同类问题直接调用，不用从零开始，大幅提升工作效率</a:t>
            </a:r>
            <a:endParaRPr lang="zh-CN" altLang="en-US" sz="2000">
              <a:latin typeface="黑体" panose="02010609060101010101" charset="-122"/>
              <a:ea typeface="黑体" panose="02010609060101010101" charset="-122"/>
              <a:cs typeface="黑体" panose="02010609060101010101" charset="-122"/>
            </a:endParaRPr>
          </a:p>
          <a:p>
            <a:pPr indent="457200"/>
            <a:endParaRPr lang="zh-CN" altLang="en-US" sz="2000">
              <a:latin typeface="黑体" panose="02010609060101010101" charset="-122"/>
              <a:ea typeface="黑体" panose="02010609060101010101" charset="-122"/>
              <a:cs typeface="黑体" panose="02010609060101010101" charset="-122"/>
            </a:endParaRPr>
          </a:p>
          <a:p>
            <a:pPr indent="457200"/>
            <a:endParaRPr lang="zh-CN" altLang="en-US" sz="2000">
              <a:latin typeface="黑体" panose="02010609060101010101" charset="-122"/>
              <a:ea typeface="黑体" panose="02010609060101010101" charset="-122"/>
              <a:cs typeface="黑体" panose="02010609060101010101" charset="-122"/>
            </a:endParaRPr>
          </a:p>
          <a:p>
            <a:pPr indent="457200"/>
            <a:endParaRPr lang="en-US" altLang="zh-CN" sz="200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150368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赛题</a:t>
            </a:r>
            <a:r>
              <a:rPr kumimoji="1" lang="zh-CN" altLang="en-US" sz="2400" b="1" spc="200" dirty="0">
                <a:latin typeface="微软雅黑" panose="020B0503020204020204" charset="-122"/>
                <a:ea typeface="微软雅黑" panose="020B0503020204020204" charset="-122"/>
              </a:rPr>
              <a:t>背景</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7" name="文本框 6"/>
          <p:cNvSpPr txBox="1"/>
          <p:nvPr/>
        </p:nvSpPr>
        <p:spPr>
          <a:xfrm>
            <a:off x="5354320" y="976630"/>
            <a:ext cx="6250940" cy="5724525"/>
          </a:xfrm>
          <a:prstGeom prst="rect">
            <a:avLst/>
          </a:prstGeom>
          <a:noFill/>
        </p:spPr>
        <p:txBody>
          <a:bodyPr wrap="square" rtlCol="0">
            <a:noAutofit/>
          </a:bodyPr>
          <a:p>
            <a:pPr indent="0" fontAlgn="auto"/>
            <a:r>
              <a:rPr lang="zh-CN" altLang="en-US" sz="2000" b="1">
                <a:latin typeface="黑体" panose="02010609060101010101" charset="-122"/>
                <a:ea typeface="黑体" panose="02010609060101010101" charset="-122"/>
                <a:cs typeface="黑体" panose="02010609060101010101" charset="-122"/>
                <a:sym typeface="+mn-ea"/>
              </a:rPr>
              <a:t>【记忆数据来源】</a:t>
            </a:r>
            <a:endParaRPr lang="zh-CN" altLang="en-US" sz="2000" b="1">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短期记忆：</a:t>
            </a:r>
            <a:endParaRPr lang="zh-CN" altLang="en-US" sz="20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r>
              <a:rPr lang="en-US" altLang="zh-CN" sz="1400">
                <a:latin typeface="黑体" panose="02010609060101010101" charset="-122"/>
                <a:ea typeface="黑体" panose="02010609060101010101" charset="-122"/>
                <a:cs typeface="黑体" panose="02010609060101010101" charset="-122"/>
              </a:rPr>
              <a:t>Agent </a:t>
            </a:r>
            <a:r>
              <a:rPr lang="zh-CN" altLang="en-US" sz="1400">
                <a:latin typeface="黑体" panose="02010609060101010101" charset="-122"/>
                <a:ea typeface="黑体" panose="02010609060101010101" charset="-122"/>
                <a:cs typeface="黑体" panose="02010609060101010101" charset="-122"/>
              </a:rPr>
              <a:t>在当前单次对话或当前任务步骤中临时保存的信息。它是</a:t>
            </a:r>
            <a:r>
              <a:rPr lang="en-US" altLang="zh-CN" sz="1400">
                <a:latin typeface="黑体" panose="02010609060101010101" charset="-122"/>
                <a:ea typeface="黑体" panose="02010609060101010101" charset="-122"/>
                <a:cs typeface="黑体" panose="02010609060101010101" charset="-122"/>
              </a:rPr>
              <a:t> Agent </a:t>
            </a:r>
            <a:r>
              <a:rPr lang="zh-CN" altLang="en-US" sz="1400">
                <a:latin typeface="黑体" panose="02010609060101010101" charset="-122"/>
                <a:ea typeface="黑体" panose="02010609060101010101" charset="-122"/>
                <a:cs typeface="黑体" panose="02010609060101010101" charset="-122"/>
              </a:rPr>
              <a:t>当前正在处理和关注的上下文。</a:t>
            </a:r>
            <a:endParaRPr lang="zh-CN" altLang="en-US" sz="14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受限于大模型的上下文窗口</a:t>
            </a:r>
            <a:endParaRPr lang="zh-CN" altLang="en-US" sz="14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一旦对话结束或任务清空，这些记忆就消失了</a:t>
            </a:r>
            <a:endParaRPr lang="zh-CN" altLang="en-US" sz="14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endParaRPr lang="zh-CN" altLang="en-US">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中期记忆：</a:t>
            </a:r>
            <a:endParaRPr lang="zh-CN" altLang="en-US" sz="20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介于短期和长期之间的一种过渡性或场景性记忆。它记录的是</a:t>
            </a:r>
            <a:r>
              <a:rPr lang="en-US" altLang="zh-CN" sz="1400">
                <a:latin typeface="黑体" panose="02010609060101010101" charset="-122"/>
                <a:ea typeface="黑体" panose="02010609060101010101" charset="-122"/>
                <a:cs typeface="黑体" panose="02010609060101010101" charset="-122"/>
              </a:rPr>
              <a:t> Agent </a:t>
            </a:r>
            <a:r>
              <a:rPr lang="zh-CN" altLang="en-US" sz="1400">
                <a:latin typeface="黑体" panose="02010609060101010101" charset="-122"/>
                <a:ea typeface="黑体" panose="02010609060101010101" charset="-122"/>
                <a:cs typeface="黑体" panose="02010609060101010101" charset="-122"/>
              </a:rPr>
              <a:t>在某个特定项目、特定会话周期或特定时间段内的状态、摘要和中间结果。</a:t>
            </a:r>
            <a:endParaRPr lang="zh-CN" altLang="en-US" sz="14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比单次对话长，可能持续几个小时、几天</a:t>
            </a:r>
            <a:r>
              <a:rPr lang="zh-CN" altLang="en-US" sz="1400">
                <a:latin typeface="黑体" panose="02010609060101010101" charset="-122"/>
                <a:ea typeface="黑体" panose="02010609060101010101" charset="-122"/>
                <a:cs typeface="黑体" panose="02010609060101010101" charset="-122"/>
              </a:rPr>
              <a:t>，会定期有清理或归档；</a:t>
            </a:r>
            <a:endParaRPr lang="zh-CN" altLang="en-US" sz="14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短期记忆（上下文窗口）装不下时，就需要中期记忆作为</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草稿本</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或</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状态机</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a:t>
            </a:r>
            <a:endParaRPr lang="zh-CN" altLang="en-US" sz="1400">
              <a:latin typeface="黑体" panose="02010609060101010101" charset="-122"/>
              <a:ea typeface="黑体" panose="02010609060101010101" charset="-122"/>
              <a:cs typeface="黑体" panose="02010609060101010101" charset="-122"/>
            </a:endParaRPr>
          </a:p>
          <a:p>
            <a:pPr marL="1257300" lvl="2" indent="-342900">
              <a:buFont typeface="Wingdings" panose="05000000000000000000" charset="0"/>
              <a:buChar char=""/>
            </a:pPr>
            <a:endParaRPr lang="zh-CN" altLang="en-US" sz="2000">
              <a:latin typeface="黑体" panose="02010609060101010101" charset="-122"/>
              <a:ea typeface="黑体" panose="02010609060101010101" charset="-122"/>
              <a:cs typeface="黑体" panose="02010609060101010101" charset="-122"/>
            </a:endParaRPr>
          </a:p>
          <a:p>
            <a:pPr indent="457200"/>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长期记忆：</a:t>
            </a:r>
            <a:r>
              <a:rPr lang="zh-CN" altLang="en-US" sz="2000">
                <a:solidFill>
                  <a:srgbClr val="FF0000"/>
                </a:solidFill>
                <a:latin typeface="黑体" panose="02010609060101010101" charset="-122"/>
                <a:ea typeface="黑体" panose="02010609060101010101" charset="-122"/>
                <a:cs typeface="黑体" panose="02010609060101010101" charset="-122"/>
              </a:rPr>
              <a:t>（赛题的核心点）</a:t>
            </a:r>
            <a:endParaRPr lang="zh-CN" altLang="en-US" sz="2000">
              <a:latin typeface="黑体" panose="02010609060101010101" charset="-122"/>
              <a:ea typeface="黑体" panose="02010609060101010101" charset="-122"/>
              <a:cs typeface="黑体" panose="02010609060101010101" charset="-122"/>
            </a:endParaRPr>
          </a:p>
          <a:p>
            <a:pPr marL="1200150" lvl="2" indent="-28575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是</a:t>
            </a:r>
            <a:r>
              <a:rPr lang="en-US" altLang="zh-CN" sz="1400">
                <a:latin typeface="黑体" panose="02010609060101010101" charset="-122"/>
                <a:ea typeface="黑体" panose="02010609060101010101" charset="-122"/>
                <a:cs typeface="黑体" panose="02010609060101010101" charset="-122"/>
              </a:rPr>
              <a:t> Agent </a:t>
            </a:r>
            <a:r>
              <a:rPr lang="zh-CN" altLang="en-US" sz="1400">
                <a:latin typeface="黑体" panose="02010609060101010101" charset="-122"/>
                <a:ea typeface="黑体" panose="02010609060101010101" charset="-122"/>
                <a:cs typeface="黑体" panose="02010609060101010101" charset="-122"/>
              </a:rPr>
              <a:t>跨越对话、跨越时间的持久化知识库和经验库。它让</a:t>
            </a:r>
            <a:r>
              <a:rPr lang="en-US" altLang="zh-CN" sz="1400">
                <a:latin typeface="黑体" panose="02010609060101010101" charset="-122"/>
                <a:ea typeface="黑体" panose="02010609060101010101" charset="-122"/>
                <a:cs typeface="黑体" panose="02010609060101010101" charset="-122"/>
              </a:rPr>
              <a:t> Agent </a:t>
            </a:r>
            <a:r>
              <a:rPr lang="zh-CN" altLang="en-US" sz="1400">
                <a:latin typeface="黑体" panose="02010609060101010101" charset="-122"/>
                <a:ea typeface="黑体" panose="02010609060101010101" charset="-122"/>
                <a:cs typeface="黑体" panose="02010609060101010101" charset="-122"/>
              </a:rPr>
              <a:t>拥有了</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进化</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和</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个性化</a:t>
            </a:r>
            <a:r>
              <a:rPr lang="en-US" altLang="zh-CN" sz="1400">
                <a:latin typeface="黑体" panose="02010609060101010101" charset="-122"/>
                <a:ea typeface="黑体" panose="02010609060101010101" charset="-122"/>
                <a:cs typeface="黑体" panose="02010609060101010101" charset="-122"/>
              </a:rPr>
              <a:t>”</a:t>
            </a:r>
            <a:r>
              <a:rPr lang="zh-CN" altLang="en-US" sz="1400">
                <a:latin typeface="黑体" panose="02010609060101010101" charset="-122"/>
                <a:ea typeface="黑体" panose="02010609060101010101" charset="-122"/>
                <a:cs typeface="黑体" panose="02010609060101010101" charset="-122"/>
              </a:rPr>
              <a:t>的能力，能够记住用户的偏好、过去的历史和习得的技能。</a:t>
            </a:r>
            <a:endParaRPr lang="zh-CN" altLang="en-US" sz="1400">
              <a:latin typeface="黑体" panose="02010609060101010101" charset="-122"/>
              <a:ea typeface="黑体" panose="02010609060101010101" charset="-122"/>
              <a:cs typeface="黑体" panose="02010609060101010101" charset="-122"/>
            </a:endParaRPr>
          </a:p>
          <a:p>
            <a:pPr marL="1200150" lvl="2" indent="-285750">
              <a:buFont typeface="Wingdings" panose="05000000000000000000" charset="0"/>
              <a:buChar char=""/>
            </a:pPr>
            <a:r>
              <a:rPr lang="zh-CN" altLang="en-US" sz="1400">
                <a:latin typeface="黑体" panose="02010609060101010101" charset="-122"/>
                <a:ea typeface="黑体" panose="02010609060101010101" charset="-122"/>
                <a:cs typeface="黑体" panose="02010609060101010101" charset="-122"/>
              </a:rPr>
              <a:t>检索驱动：因为容量太大，无法直接塞进上下文窗口。必须通过检索（</a:t>
            </a:r>
            <a:r>
              <a:rPr lang="en-US" altLang="zh-CN" sz="1400">
                <a:latin typeface="黑体" panose="02010609060101010101" charset="-122"/>
                <a:ea typeface="黑体" panose="02010609060101010101" charset="-122"/>
                <a:cs typeface="黑体" panose="02010609060101010101" charset="-122"/>
              </a:rPr>
              <a:t>Retrieval</a:t>
            </a:r>
            <a:r>
              <a:rPr lang="zh-CN" altLang="en-US" sz="1400">
                <a:latin typeface="黑体" panose="02010609060101010101" charset="-122"/>
                <a:ea typeface="黑体" panose="02010609060101010101" charset="-122"/>
                <a:cs typeface="黑体" panose="02010609060101010101" charset="-122"/>
              </a:rPr>
              <a:t>）机制，根据当前问题找出最相关的记忆片段，再注入到短期记忆中。</a:t>
            </a:r>
            <a:endParaRPr lang="zh-CN" altLang="en-US" sz="1400">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474980" y="976630"/>
            <a:ext cx="4878705" cy="5836285"/>
          </a:xfrm>
          <a:prstGeom prst="rect">
            <a:avLst/>
          </a:prstGeom>
          <a:noFill/>
        </p:spPr>
        <p:txBody>
          <a:bodyPr wrap="square" rtlCol="0">
            <a:noAutofit/>
          </a:bodyPr>
          <a:p>
            <a:pPr indent="0" fontAlgn="auto"/>
            <a:r>
              <a:rPr lang="zh-CN" altLang="en-US" sz="2000">
                <a:latin typeface="黑体" panose="02010609060101010101" charset="-122"/>
                <a:ea typeface="黑体" panose="02010609060101010101" charset="-122"/>
                <a:cs typeface="黑体" panose="02010609060101010101" charset="-122"/>
              </a:rPr>
              <a:t>【</a:t>
            </a:r>
            <a:r>
              <a:rPr lang="zh-CN" altLang="en-US" sz="2000">
                <a:latin typeface="黑体" panose="02010609060101010101" charset="-122"/>
                <a:ea typeface="黑体" panose="02010609060101010101" charset="-122"/>
                <a:cs typeface="黑体" panose="02010609060101010101" charset="-122"/>
                <a:sym typeface="+mn-ea"/>
              </a:rPr>
              <a:t>当前面临的核心痛点</a:t>
            </a:r>
            <a:r>
              <a:rPr lang="zh-CN" altLang="en-US" sz="2000">
                <a:latin typeface="黑体" panose="02010609060101010101" charset="-122"/>
                <a:ea typeface="黑体" panose="02010609060101010101" charset="-122"/>
                <a:cs typeface="黑体" panose="02010609060101010101" charset="-122"/>
              </a:rPr>
              <a:t>】</a:t>
            </a:r>
            <a:endParaRPr lang="zh-CN" altLang="en-US" sz="2000">
              <a:latin typeface="黑体" panose="02010609060101010101" charset="-122"/>
              <a:ea typeface="黑体" panose="02010609060101010101" charset="-122"/>
              <a:cs typeface="黑体" panose="02010609060101010101" charset="-122"/>
            </a:endParaRPr>
          </a:p>
          <a:p>
            <a:pPr indent="457200" fontAlgn="auto"/>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数据源问题：</a:t>
            </a:r>
            <a:endParaRPr lang="en-US" altLang="zh-CN" sz="20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工具调用执行结果结构化不足</a:t>
            </a:r>
            <a:endParaRPr lang="zh-CN" altLang="en-US" sz="16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数据质量参差不齐</a:t>
            </a:r>
            <a:endParaRPr lang="zh-CN" altLang="en-US" sz="2000">
              <a:latin typeface="黑体" panose="02010609060101010101" charset="-122"/>
              <a:ea typeface="黑体" panose="02010609060101010101" charset="-122"/>
              <a:cs typeface="黑体" panose="02010609060101010101" charset="-122"/>
            </a:endParaRPr>
          </a:p>
          <a:p>
            <a:pPr indent="457200" fontAlgn="auto"/>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多源数据协同问题：</a:t>
            </a:r>
            <a:endParaRPr lang="en-US" altLang="zh-CN" sz="20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用户行为捕捉不全面</a:t>
            </a:r>
            <a:endParaRPr lang="zh-CN" altLang="en-US" sz="16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配置版本混乱</a:t>
            </a:r>
            <a:endParaRPr lang="zh-CN" altLang="en-US" sz="2000">
              <a:latin typeface="黑体" panose="02010609060101010101" charset="-122"/>
              <a:ea typeface="黑体" panose="02010609060101010101" charset="-122"/>
              <a:cs typeface="黑体" panose="02010609060101010101" charset="-122"/>
            </a:endParaRPr>
          </a:p>
          <a:p>
            <a:pPr indent="457200" fontAlgn="auto"/>
            <a:r>
              <a:rPr lang="en-US" altLang="zh-CN" sz="2000">
                <a:latin typeface="黑体" panose="02010609060101010101" charset="-122"/>
                <a:ea typeface="黑体" panose="02010609060101010101" charset="-122"/>
                <a:cs typeface="黑体" panose="02010609060101010101" charset="-122"/>
              </a:rPr>
              <a:t>- </a:t>
            </a:r>
            <a:r>
              <a:rPr lang="zh-CN" altLang="en-US" sz="2000">
                <a:latin typeface="黑体" panose="02010609060101010101" charset="-122"/>
                <a:ea typeface="黑体" panose="02010609060101010101" charset="-122"/>
                <a:cs typeface="黑体" panose="02010609060101010101" charset="-122"/>
              </a:rPr>
              <a:t>业务层影响：</a:t>
            </a:r>
            <a:endParaRPr lang="en-US" altLang="zh-CN" sz="20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动态偏好提取偏差</a:t>
            </a:r>
            <a:endParaRPr lang="zh-CN" altLang="en-US" sz="16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版本化管理效率低</a:t>
            </a:r>
            <a:endParaRPr lang="zh-CN" altLang="en-US" sz="16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新旧知识冲突滞后</a:t>
            </a:r>
            <a:endParaRPr lang="zh-CN" altLang="en-US" sz="16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r>
              <a:rPr lang="zh-CN" altLang="en-US" sz="1600">
                <a:latin typeface="黑体" panose="02010609060101010101" charset="-122"/>
                <a:ea typeface="黑体" panose="02010609060101010101" charset="-122"/>
                <a:cs typeface="黑体" panose="02010609060101010101" charset="-122"/>
              </a:rPr>
              <a:t>关联检索精度有限</a:t>
            </a:r>
            <a:endParaRPr lang="zh-CN" altLang="en-US" sz="1600">
              <a:latin typeface="黑体" panose="02010609060101010101" charset="-122"/>
              <a:ea typeface="黑体" panose="02010609060101010101" charset="-122"/>
              <a:cs typeface="黑体" panose="02010609060101010101" charset="-122"/>
            </a:endParaRPr>
          </a:p>
          <a:p>
            <a:pPr marL="1257300" lvl="2" indent="-342900" fontAlgn="auto">
              <a:buFont typeface="Wingdings" panose="05000000000000000000" charset="0"/>
              <a:buChar char=""/>
            </a:pPr>
            <a:endParaRPr lang="zh-CN" altLang="en-US" sz="2000">
              <a:latin typeface="黑体" panose="02010609060101010101" charset="-122"/>
              <a:ea typeface="黑体" panose="02010609060101010101" charset="-122"/>
              <a:cs typeface="黑体" panose="02010609060101010101" charset="-122"/>
            </a:endParaRPr>
          </a:p>
          <a:p>
            <a:pPr marL="0" lvl="2" indent="457200" fontAlgn="auto">
              <a:buNone/>
            </a:pPr>
            <a:r>
              <a:rPr lang="zh-CN" altLang="en-US" sz="2000">
                <a:solidFill>
                  <a:srgbClr val="FF0000"/>
                </a:solidFill>
                <a:latin typeface="黑体" panose="02010609060101010101" charset="-122"/>
                <a:ea typeface="黑体" panose="02010609060101010101" charset="-122"/>
                <a:cs typeface="黑体" panose="02010609060101010101" charset="-122"/>
                <a:sym typeface="+mn-ea"/>
              </a:rPr>
              <a:t>制约</a:t>
            </a:r>
            <a:r>
              <a:rPr lang="en-US" altLang="zh-CN" sz="2000">
                <a:solidFill>
                  <a:srgbClr val="FF0000"/>
                </a:solidFill>
                <a:latin typeface="黑体" panose="02010609060101010101" charset="-122"/>
                <a:ea typeface="黑体" panose="02010609060101010101" charset="-122"/>
                <a:cs typeface="黑体" panose="02010609060101010101" charset="-122"/>
                <a:sym typeface="+mn-ea"/>
              </a:rPr>
              <a:t> OS Agent </a:t>
            </a:r>
            <a:r>
              <a:rPr lang="zh-CN" altLang="en-US" sz="2000">
                <a:solidFill>
                  <a:srgbClr val="FF0000"/>
                </a:solidFill>
                <a:latin typeface="黑体" panose="02010609060101010101" charset="-122"/>
                <a:ea typeface="黑体" panose="02010609060101010101" charset="-122"/>
                <a:cs typeface="黑体" panose="02010609060101010101" charset="-122"/>
                <a:sym typeface="+mn-ea"/>
              </a:rPr>
              <a:t>的服务智能化水平与用户体验</a:t>
            </a:r>
            <a:endParaRPr lang="zh-CN" altLang="en-US" sz="2000">
              <a:solidFill>
                <a:srgbClr val="FF0000"/>
              </a:solidFill>
              <a:latin typeface="黑体" panose="02010609060101010101" charset="-122"/>
              <a:ea typeface="黑体" panose="02010609060101010101" charset="-122"/>
              <a:cs typeface="黑体" panose="02010609060101010101" charset="-122"/>
              <a:sym typeface="+mn-ea"/>
            </a:endParaRPr>
          </a:p>
          <a:p>
            <a:pPr marL="0" lvl="2" indent="457200" fontAlgn="auto">
              <a:buNone/>
            </a:pPr>
            <a:endParaRPr lang="zh-CN" altLang="en-US" sz="2000">
              <a:solidFill>
                <a:srgbClr val="FF0000"/>
              </a:solidFill>
              <a:latin typeface="黑体" panose="02010609060101010101" charset="-122"/>
              <a:ea typeface="黑体" panose="02010609060101010101" charset="-122"/>
              <a:cs typeface="黑体" panose="02010609060101010101" charset="-122"/>
              <a:sym typeface="+mn-ea"/>
            </a:endParaRPr>
          </a:p>
          <a:p>
            <a:pPr indent="0" fontAlgn="auto"/>
            <a:r>
              <a:rPr lang="zh-CN" altLang="en-US" sz="2000" b="1">
                <a:latin typeface="黑体" panose="02010609060101010101" charset="-122"/>
                <a:ea typeface="黑体" panose="02010609060101010101" charset="-122"/>
                <a:cs typeface="黑体" panose="02010609060101010101" charset="-122"/>
                <a:sym typeface="+mn-ea"/>
              </a:rPr>
              <a:t>【记忆数据来源】</a:t>
            </a:r>
            <a:endParaRPr lang="zh-CN" altLang="en-US" sz="2000" b="1">
              <a:latin typeface="黑体" panose="02010609060101010101" charset="-122"/>
              <a:ea typeface="黑体" panose="02010609060101010101" charset="-122"/>
              <a:cs typeface="黑体" panose="02010609060101010101" charset="-122"/>
            </a:endParaRPr>
          </a:p>
          <a:p>
            <a:pPr indent="457200" fontAlgn="auto"/>
            <a:r>
              <a:rPr lang="en-US" altLang="zh-CN" sz="1600">
                <a:latin typeface="黑体" panose="02010609060101010101" charset="-122"/>
                <a:ea typeface="黑体" panose="02010609060101010101" charset="-122"/>
                <a:cs typeface="黑体" panose="02010609060101010101" charset="-122"/>
                <a:sym typeface="+mn-ea"/>
              </a:rPr>
              <a:t>- </a:t>
            </a:r>
            <a:r>
              <a:rPr lang="zh-CN" altLang="en-US" sz="1600">
                <a:latin typeface="黑体" panose="02010609060101010101" charset="-122"/>
                <a:ea typeface="黑体" panose="02010609060101010101" charset="-122"/>
                <a:cs typeface="黑体" panose="02010609060101010101" charset="-122"/>
                <a:sym typeface="+mn-ea"/>
              </a:rPr>
              <a:t>多轮对话内容；</a:t>
            </a:r>
            <a:r>
              <a:rPr lang="zh-CN" sz="1600">
                <a:latin typeface="黑体" panose="02010609060101010101" charset="-122"/>
                <a:ea typeface="黑体" panose="02010609060101010101" charset="-122"/>
                <a:cs typeface="黑体" panose="02010609060101010101" charset="-122"/>
                <a:sym typeface="+mn-ea"/>
              </a:rPr>
              <a:t>工具调用执行结果</a:t>
            </a:r>
            <a:endParaRPr lang="zh-CN" altLang="en-US" sz="1600">
              <a:latin typeface="黑体" panose="02010609060101010101" charset="-122"/>
              <a:ea typeface="黑体" panose="02010609060101010101" charset="-122"/>
              <a:cs typeface="黑体" panose="02010609060101010101" charset="-122"/>
            </a:endParaRPr>
          </a:p>
          <a:p>
            <a:pPr indent="457200"/>
            <a:r>
              <a:rPr lang="en-US" altLang="zh-CN" sz="1600">
                <a:latin typeface="黑体" panose="02010609060101010101" charset="-122"/>
                <a:ea typeface="黑体" panose="02010609060101010101" charset="-122"/>
                <a:cs typeface="黑体" panose="02010609060101010101" charset="-122"/>
                <a:sym typeface="+mn-ea"/>
              </a:rPr>
              <a:t>- </a:t>
            </a:r>
            <a:r>
              <a:rPr lang="zh-CN" altLang="en-US" sz="1600">
                <a:latin typeface="黑体" panose="02010609060101010101" charset="-122"/>
                <a:ea typeface="黑体" panose="02010609060101010101" charset="-122"/>
                <a:cs typeface="黑体" panose="02010609060101010101" charset="-122"/>
                <a:sym typeface="+mn-ea"/>
              </a:rPr>
              <a:t>用户行为数据；手动配置信息</a:t>
            </a:r>
            <a:endParaRPr lang="zh-CN" altLang="en-US" sz="1600">
              <a:latin typeface="黑体" panose="02010609060101010101" charset="-122"/>
              <a:ea typeface="黑体" panose="02010609060101010101" charset="-122"/>
              <a:cs typeface="黑体" panose="02010609060101010101" charset="-122"/>
            </a:endParaRPr>
          </a:p>
          <a:p>
            <a:pPr indent="457200"/>
            <a:r>
              <a:rPr lang="en-US" altLang="zh-CN" sz="1600">
                <a:latin typeface="黑体" panose="02010609060101010101" charset="-122"/>
                <a:ea typeface="黑体" panose="02010609060101010101" charset="-122"/>
                <a:cs typeface="黑体" panose="02010609060101010101" charset="-122"/>
                <a:sym typeface="+mn-ea"/>
              </a:rPr>
              <a:t>- ……</a:t>
            </a:r>
            <a:endParaRPr lang="en-US" altLang="zh-CN" sz="1600">
              <a:latin typeface="黑体" panose="02010609060101010101" charset="-122"/>
              <a:ea typeface="黑体" panose="02010609060101010101" charset="-122"/>
              <a:cs typeface="黑体" panose="02010609060101010101" charset="-122"/>
            </a:endParaRPr>
          </a:p>
          <a:p>
            <a:pPr lvl="2" indent="0" fontAlgn="auto">
              <a:buFont typeface="Wingdings" panose="05000000000000000000" charset="0"/>
              <a:buNone/>
            </a:pPr>
            <a:endParaRPr lang="zh-CN" altLang="en-US" sz="2000">
              <a:latin typeface="黑体" panose="02010609060101010101" charset="-122"/>
              <a:ea typeface="黑体" panose="02010609060101010101" charset="-122"/>
              <a:cs typeface="黑体" panose="02010609060101010101" charset="-122"/>
            </a:endParaRPr>
          </a:p>
          <a:p>
            <a:pPr indent="457200"/>
            <a:endParaRPr lang="en-US" altLang="zh-CN" sz="200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150368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赛题</a:t>
            </a:r>
            <a:r>
              <a:rPr kumimoji="1" lang="zh-CN" altLang="en-US" sz="2400" b="1" spc="200" dirty="0">
                <a:latin typeface="微软雅黑" panose="020B0503020204020204" charset="-122"/>
                <a:ea typeface="微软雅黑" panose="020B0503020204020204" charset="-122"/>
              </a:rPr>
              <a:t>要求</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5" name="文本框 4"/>
          <p:cNvSpPr txBox="1"/>
          <p:nvPr/>
        </p:nvSpPr>
        <p:spPr>
          <a:xfrm>
            <a:off x="692150" y="1316355"/>
            <a:ext cx="4064000" cy="368300"/>
          </a:xfrm>
          <a:prstGeom prst="rect">
            <a:avLst/>
          </a:prstGeom>
          <a:noFill/>
        </p:spPr>
        <p:txBody>
          <a:bodyPr wrap="square" rtlCol="0">
            <a:spAutoFit/>
          </a:bodyPr>
          <a:p>
            <a:endParaRPr lang="zh-CN" altLang="en-US"/>
          </a:p>
        </p:txBody>
      </p:sp>
      <p:sp>
        <p:nvSpPr>
          <p:cNvPr id="7" name="文本框 6"/>
          <p:cNvSpPr txBox="1"/>
          <p:nvPr/>
        </p:nvSpPr>
        <p:spPr>
          <a:xfrm>
            <a:off x="513715" y="1577975"/>
            <a:ext cx="11344275" cy="1102995"/>
          </a:xfrm>
          <a:prstGeom prst="rect">
            <a:avLst/>
          </a:prstGeom>
          <a:noFill/>
        </p:spPr>
        <p:txBody>
          <a:bodyPr wrap="square" rtlCol="0" anchor="t">
            <a:noAutofit/>
          </a:bodyPr>
          <a:p>
            <a:pPr marL="285750" indent="-285750">
              <a:buFont typeface="Arial" panose="020B0604020202020204" pitchFamily="34" charset="0"/>
              <a:buChar char="•"/>
            </a:pPr>
            <a:endParaRPr lang="zh-CN" altLang="en-US"/>
          </a:p>
        </p:txBody>
      </p:sp>
      <p:sp>
        <p:nvSpPr>
          <p:cNvPr id="8" name="文本框 7"/>
          <p:cNvSpPr txBox="1"/>
          <p:nvPr/>
        </p:nvSpPr>
        <p:spPr>
          <a:xfrm>
            <a:off x="588010" y="1203325"/>
            <a:ext cx="11240135" cy="4451350"/>
          </a:xfrm>
          <a:prstGeom prst="rect">
            <a:avLst/>
          </a:prstGeom>
          <a:noFill/>
        </p:spPr>
        <p:txBody>
          <a:bodyPr wrap="square" rtlCol="0">
            <a:noAutofit/>
          </a:bodyPr>
          <a:p>
            <a:pPr indent="0">
              <a:lnSpc>
                <a:spcPct val="150000"/>
              </a:lnSpc>
              <a:buFont typeface="Arial" panose="020B0604020202020204" pitchFamily="34" charset="0"/>
              <a:buNone/>
            </a:pPr>
            <a:r>
              <a:rPr lang="zh-CN" altLang="en-US" sz="2400" b="1"/>
              <a:t>硬性规定</a:t>
            </a:r>
            <a:br>
              <a:rPr lang="zh-CN" altLang="en-US" sz="2400" b="1"/>
            </a:br>
            <a:endParaRPr lang="zh-CN" altLang="en-US" sz="2400" b="1"/>
          </a:p>
          <a:p>
            <a:pPr marL="342900" indent="-342900">
              <a:lnSpc>
                <a:spcPct val="150000"/>
              </a:lnSpc>
              <a:buFont typeface="Arial" panose="020B0604020202020204" pitchFamily="34" charset="0"/>
              <a:buAutoNum type="arabicPeriod"/>
            </a:pPr>
            <a:r>
              <a:rPr lang="zh-CN" altLang="en-US" sz="2000">
                <a:sym typeface="+mn-ea"/>
              </a:rPr>
              <a:t>软件需部署在</a:t>
            </a:r>
            <a:r>
              <a:rPr lang="zh-CN" altLang="en-US" sz="2000" b="1">
                <a:latin typeface="微软雅黑" panose="020B0503020204020204" charset="-122"/>
                <a:ea typeface="微软雅黑" panose="020B0503020204020204" charset="-122"/>
                <a:cs typeface="微软雅黑" panose="020B0503020204020204" charset="-122"/>
                <a:sym typeface="+mn-ea"/>
              </a:rPr>
              <a:t>银河麒麟桌面操作系统</a:t>
            </a:r>
            <a:r>
              <a:rPr lang="en-US" altLang="zh-CN" sz="2000" b="1">
                <a:latin typeface="微软雅黑" panose="020B0503020204020204" charset="-122"/>
                <a:ea typeface="微软雅黑" panose="020B0503020204020204" charset="-122"/>
                <a:cs typeface="微软雅黑" panose="020B0503020204020204" charset="-122"/>
                <a:sym typeface="+mn-ea"/>
              </a:rPr>
              <a:t>V11</a:t>
            </a:r>
            <a:r>
              <a:rPr lang="zh-CN" altLang="en-US" sz="2000">
                <a:sym typeface="+mn-ea"/>
              </a:rPr>
              <a:t>上</a:t>
            </a:r>
            <a:br>
              <a:rPr lang="zh-CN" altLang="en-US" sz="2000">
                <a:sym typeface="+mn-ea"/>
              </a:rPr>
            </a:br>
            <a:r>
              <a:rPr lang="en-US" altLang="zh-CN" sz="2000">
                <a:sym typeface="+mn-ea"/>
              </a:rPr>
              <a:t> (</a:t>
            </a:r>
            <a:r>
              <a:rPr lang="zh-CN" altLang="en-US" sz="2000" b="1">
                <a:solidFill>
                  <a:srgbClr val="FF0000"/>
                </a:solidFill>
                <a:sym typeface="+mn-ea"/>
              </a:rPr>
              <a:t>不满足该要求视为0分</a:t>
            </a:r>
            <a:r>
              <a:rPr lang="en-US" altLang="zh-CN" sz="2000">
                <a:sym typeface="+mn-ea"/>
              </a:rPr>
              <a:t>)</a:t>
            </a:r>
            <a:endParaRPr lang="en-US" altLang="zh-CN" sz="2000">
              <a:sym typeface="+mn-ea"/>
            </a:endParaRPr>
          </a:p>
          <a:p>
            <a:pPr marL="342900" indent="-342900">
              <a:lnSpc>
                <a:spcPct val="150000"/>
              </a:lnSpc>
              <a:buFont typeface="Arial" panose="020B0604020202020204" pitchFamily="34" charset="0"/>
              <a:buAutoNum type="arabicPeriod"/>
            </a:pPr>
            <a:endParaRPr lang="zh-CN" altLang="en-US" sz="2000"/>
          </a:p>
          <a:p>
            <a:pPr marL="342900" indent="-342900">
              <a:lnSpc>
                <a:spcPct val="150000"/>
              </a:lnSpc>
              <a:buFont typeface="Arial" panose="020B0604020202020204" pitchFamily="34" charset="0"/>
              <a:buAutoNum type="arabicPeriod"/>
            </a:pPr>
            <a:r>
              <a:rPr lang="zh-CN" altLang="en-US" sz="2000">
                <a:sym typeface="+mn-ea"/>
              </a:rPr>
              <a:t>数据库需使用系统的向量</a:t>
            </a:r>
            <a:r>
              <a:rPr lang="zh-CN" altLang="en-US" sz="2000">
                <a:ea typeface="宋体" panose="02010600030101010101" pitchFamily="2" charset="-122"/>
                <a:sym typeface="+mn-ea"/>
              </a:rPr>
              <a:t>数据库</a:t>
            </a:r>
            <a:r>
              <a:rPr lang="en-US" altLang="zh-CN" sz="2000">
                <a:ea typeface="宋体" panose="02010600030101010101" pitchFamily="2" charset="-122"/>
                <a:sym typeface="+mn-ea"/>
              </a:rPr>
              <a:t>SDK</a:t>
            </a:r>
            <a:endParaRPr lang="en-US" altLang="zh-CN" sz="2000">
              <a:ea typeface="宋体" panose="02010600030101010101" pitchFamily="2" charset="-122"/>
              <a:sym typeface="+mn-ea"/>
            </a:endParaRPr>
          </a:p>
          <a:p>
            <a:pPr lvl="1" indent="0">
              <a:lnSpc>
                <a:spcPct val="150000"/>
              </a:lnSpc>
              <a:buFont typeface="Arial" panose="020B0604020202020204" pitchFamily="34" charset="0"/>
              <a:buNone/>
            </a:pPr>
            <a:r>
              <a:rPr lang="zh-CN" altLang="en-US" sz="2000">
                <a:ea typeface="宋体" panose="02010600030101010101" pitchFamily="2" charset="-122"/>
                <a:sym typeface="+mn-ea"/>
                <a:hlinkClick r:id="rId5" action="ppaction://hlinkfile"/>
              </a:rPr>
              <a:t>向量数据库</a:t>
            </a:r>
            <a:r>
              <a:rPr lang="en-US" altLang="zh-CN" sz="2000">
                <a:ea typeface="宋体" panose="02010600030101010101" pitchFamily="2" charset="-122"/>
                <a:sym typeface="+mn-ea"/>
                <a:hlinkClick r:id="rId5" action="ppaction://hlinkfile"/>
              </a:rPr>
              <a:t>SDK </a:t>
            </a:r>
            <a:r>
              <a:rPr lang="zh-CN" altLang="en-US" sz="2000">
                <a:ea typeface="宋体" panose="02010600030101010101" pitchFamily="2" charset="-122"/>
                <a:sym typeface="+mn-ea"/>
                <a:hlinkClick r:id="rId5" action="ppaction://hlinkfile"/>
              </a:rPr>
              <a:t>调用示例</a:t>
            </a:r>
            <a:endParaRPr lang="zh-CN" altLang="en-US" sz="2000">
              <a:ea typeface="宋体" panose="02010600030101010101" pitchFamily="2" charset="-122"/>
              <a:sym typeface="+mn-ea"/>
            </a:endParaRPr>
          </a:p>
          <a:p>
            <a:pPr marL="342900" indent="-342900">
              <a:lnSpc>
                <a:spcPct val="150000"/>
              </a:lnSpc>
              <a:buFont typeface="Arial" panose="020B0604020202020204" pitchFamily="34" charset="0"/>
              <a:buAutoNum type="arabicPeriod"/>
            </a:pPr>
            <a:endParaRPr lang="zh-CN" altLang="en-US" sz="2000">
              <a:ea typeface="宋体" panose="02010600030101010101" pitchFamily="2" charset="-122"/>
              <a:sym typeface="+mn-ea"/>
            </a:endParaRPr>
          </a:p>
          <a:p>
            <a:pPr marL="342900" indent="-342900">
              <a:lnSpc>
                <a:spcPct val="150000"/>
              </a:lnSpc>
              <a:buFont typeface="Arial" panose="020B0604020202020204" pitchFamily="34" charset="0"/>
              <a:buAutoNum type="arabicPeriod"/>
            </a:pPr>
            <a:r>
              <a:rPr lang="zh-CN" altLang="en-US" sz="2000">
                <a:ea typeface="宋体" panose="02010600030101010101" pitchFamily="2" charset="-122"/>
                <a:sym typeface="+mn-ea"/>
              </a:rPr>
              <a:t>文本向量化表示需使用系统的</a:t>
            </a:r>
            <a:r>
              <a:rPr lang="en-US" altLang="zh-CN" sz="2000">
                <a:ea typeface="宋体" panose="02010600030101010101" pitchFamily="2" charset="-122"/>
                <a:sym typeface="+mn-ea"/>
              </a:rPr>
              <a:t> Embedding </a:t>
            </a:r>
            <a:r>
              <a:rPr lang="zh-CN" altLang="en-US" sz="2000">
                <a:ea typeface="宋体" panose="02010600030101010101" pitchFamily="2" charset="-122"/>
                <a:sym typeface="+mn-ea"/>
              </a:rPr>
              <a:t>接口</a:t>
            </a:r>
            <a:endParaRPr lang="zh-CN" altLang="en-US" sz="2000">
              <a:ea typeface="宋体" panose="02010600030101010101" pitchFamily="2" charset="-122"/>
              <a:sym typeface="+mn-ea"/>
            </a:endParaRPr>
          </a:p>
          <a:p>
            <a:pPr indent="457200">
              <a:lnSpc>
                <a:spcPct val="150000"/>
              </a:lnSpc>
              <a:buFont typeface="Arial" panose="020B0604020202020204" pitchFamily="34" charset="0"/>
              <a:buNone/>
            </a:pPr>
            <a:r>
              <a:rPr lang="en-US" altLang="zh-CN" sz="2000">
                <a:ea typeface="宋体" panose="02010600030101010101" pitchFamily="2" charset="-122"/>
                <a:sym typeface="+mn-ea"/>
                <a:hlinkClick r:id="rId6" action="ppaction://hlinkfile"/>
              </a:rPr>
              <a:t>Embedding </a:t>
            </a:r>
            <a:r>
              <a:rPr lang="zh-CN" altLang="en-US" sz="2000">
                <a:ea typeface="宋体" panose="02010600030101010101" pitchFamily="2" charset="-122"/>
                <a:sym typeface="+mn-ea"/>
                <a:hlinkClick r:id="rId6" action="ppaction://hlinkfile"/>
              </a:rPr>
              <a:t>接口调用示例</a:t>
            </a:r>
            <a:endParaRPr lang="zh-CN" altLang="en-US" sz="2000">
              <a:ea typeface="宋体" panose="02010600030101010101" pitchFamily="2" charset="-122"/>
              <a:sym typeface="+mn-ea"/>
            </a:endParaRPr>
          </a:p>
          <a:p>
            <a:pPr indent="457200">
              <a:buFont typeface="Arial" panose="020B0604020202020204" pitchFamily="34" charset="0"/>
              <a:buNone/>
            </a:pPr>
            <a:endParaRPr lang="en-US" altLang="zh-CN" sz="2400"/>
          </a:p>
          <a:p>
            <a:endParaRPr lang="zh-CN" altLang="en-US" sz="2400" b="1"/>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216408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基本功能</a:t>
            </a:r>
            <a:r>
              <a:rPr kumimoji="1" lang="zh-CN" altLang="en-US" sz="2400" b="1" spc="200" dirty="0">
                <a:latin typeface="微软雅黑" panose="020B0503020204020204" charset="-122"/>
                <a:ea typeface="微软雅黑" panose="020B0503020204020204" charset="-122"/>
              </a:rPr>
              <a:t>需求</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8" name="任意多边形 7"/>
          <p:cNvSpPr/>
          <p:nvPr>
            <p:custDataLst>
              <p:tags r:id="rId5"/>
            </p:custDataLst>
          </p:nvPr>
        </p:nvSpPr>
        <p:spPr>
          <a:xfrm>
            <a:off x="1060450" y="1219200"/>
            <a:ext cx="1878838"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1" name="任意多边形 30"/>
          <p:cNvSpPr/>
          <p:nvPr>
            <p:custDataLst>
              <p:tags r:id="rId6"/>
            </p:custDataLst>
          </p:nvPr>
        </p:nvSpPr>
        <p:spPr>
          <a:xfrm>
            <a:off x="1695069" y="151352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1">
              <a:lumMod val="0"/>
              <a:lumOff val="100000"/>
            </a:schemeClr>
          </a:solidFill>
          <a:ln w="14288">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0" name="图片 29" descr="wpsai:10787481750.svg"/>
          <p:cNvPicPr preferRelativeResize="0"/>
          <p:nvPr>
            <p:custDataLst>
              <p:tags r:id="rId7"/>
            </p:custDataLst>
          </p:nvPr>
        </p:nvPicPr>
        <p:blipFill rotWithShape="1">
          <a:blip r:embed="rId8">
            <a:extLst>
              <a:ext uri="{96DAC541-7B7A-43D3-8B79-37D633B846F1}">
                <asvg:svgBlip xmlns:asvg="http://schemas.microsoft.com/office/drawing/2016/SVG/main" r:embed="rId9"/>
              </a:ext>
            </a:extLst>
          </a:blip>
          <a:stretch>
            <a:fillRect/>
          </a:stretch>
        </p:blipFill>
        <p:spPr>
          <a:xfrm>
            <a:off x="1822069" y="1640523"/>
            <a:ext cx="355600" cy="355600"/>
          </a:xfrm>
          <a:prstGeom prst="rect">
            <a:avLst/>
          </a:prstGeom>
          <a:noFill/>
        </p:spPr>
      </p:pic>
      <p:sp>
        <p:nvSpPr>
          <p:cNvPr id="267" name="文本框 266"/>
          <p:cNvSpPr txBox="1"/>
          <p:nvPr>
            <p:custDataLst>
              <p:tags r:id="rId10"/>
            </p:custDataLst>
          </p:nvPr>
        </p:nvSpPr>
        <p:spPr>
          <a:xfrm>
            <a:off x="1289050" y="2326323"/>
            <a:ext cx="1421638" cy="355600"/>
          </a:xfrm>
          <a:prstGeom prst="rect">
            <a:avLst/>
          </a:prstGeom>
          <a:noFill/>
        </p:spPr>
        <p:txBody>
          <a:bodyPr wrap="square" lIns="17780" tIns="0" rIns="17780" bIns="0" rtlCol="0" anchor="t">
            <a:noAutofit/>
          </a:bodyPr>
          <a:p>
            <a:pPr algn="ctr"/>
            <a:r>
              <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多源数据接入与整合</a:t>
            </a:r>
            <a:endPar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268" name="文本框 267"/>
          <p:cNvSpPr txBox="1"/>
          <p:nvPr>
            <p:custDataLst>
              <p:tags r:id="rId11"/>
            </p:custDataLst>
          </p:nvPr>
        </p:nvSpPr>
        <p:spPr>
          <a:xfrm>
            <a:off x="1149350" y="3244850"/>
            <a:ext cx="1670685" cy="1587500"/>
          </a:xfrm>
          <a:prstGeom prst="rect">
            <a:avLst/>
          </a:prstGeom>
          <a:noFill/>
        </p:spPr>
        <p:txBody>
          <a:bodyPr wrap="square" lIns="17780" tIns="0" rIns="17780" bIns="0" rtlCol="0" anchor="t">
            <a:noAutofit/>
          </a:bodyPr>
          <a:p>
            <a:pPr algn="ctr">
              <a:lnSpc>
                <a:spcPct val="120000"/>
              </a:lnSpc>
            </a:pPr>
            <a:r>
              <a:rPr lang="zh-CN" altLang="en-US" sz="1400">
                <a:solidFill>
                  <a:srgbClr val="FFFFFF"/>
                </a:solidFill>
                <a:latin typeface="微软雅黑" panose="020B0503020204020204" charset="-122"/>
                <a:ea typeface="微软雅黑" panose="020B0503020204020204" charset="-122"/>
                <a:cs typeface="微软雅黑" panose="020B0503020204020204" charset="-122"/>
              </a:rPr>
              <a:t>支持工具执行结果、用户行为数据、手动配置信息等的统一接入，建立数据清洗、格式标准化与质量校验机制</a:t>
            </a:r>
            <a:endParaRPr lang="zh-CN" altLang="en-US" sz="14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任意多边形 9"/>
          <p:cNvSpPr/>
          <p:nvPr>
            <p:custDataLst>
              <p:tags r:id="rId12"/>
            </p:custDataLst>
          </p:nvPr>
        </p:nvSpPr>
        <p:spPr>
          <a:xfrm>
            <a:off x="3142488" y="1219200"/>
            <a:ext cx="1878838"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2"/>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3" name="任意多边形 32"/>
          <p:cNvSpPr/>
          <p:nvPr>
            <p:custDataLst>
              <p:tags r:id="rId13"/>
            </p:custDataLst>
          </p:nvPr>
        </p:nvSpPr>
        <p:spPr>
          <a:xfrm>
            <a:off x="3777107" y="151352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2">
              <a:lumMod val="0"/>
              <a:lumOff val="100000"/>
            </a:schemeClr>
          </a:solidFill>
          <a:ln w="14288">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2" name="图片 31" descr="wpsai:10787481879.svg"/>
          <p:cNvPicPr preferRelativeResize="0"/>
          <p:nvPr>
            <p:custDataLst>
              <p:tags r:id="rId14"/>
            </p:custDataLst>
          </p:nvPr>
        </p:nvPicPr>
        <p:blipFill rotWithShape="1">
          <a:blip r:embed="rId15">
            <a:extLst>
              <a:ext uri="{96DAC541-7B7A-43D3-8B79-37D633B846F1}">
                <asvg:svgBlip xmlns:asvg="http://schemas.microsoft.com/office/drawing/2016/SVG/main" r:embed="rId16"/>
              </a:ext>
            </a:extLst>
          </a:blip>
          <a:stretch>
            <a:fillRect/>
          </a:stretch>
        </p:blipFill>
        <p:spPr>
          <a:xfrm>
            <a:off x="3904107" y="1640523"/>
            <a:ext cx="355600" cy="355600"/>
          </a:xfrm>
          <a:prstGeom prst="rect">
            <a:avLst/>
          </a:prstGeom>
          <a:noFill/>
        </p:spPr>
      </p:pic>
      <p:sp>
        <p:nvSpPr>
          <p:cNvPr id="269" name="文本框 268"/>
          <p:cNvSpPr txBox="1"/>
          <p:nvPr>
            <p:custDataLst>
              <p:tags r:id="rId17"/>
            </p:custDataLst>
          </p:nvPr>
        </p:nvSpPr>
        <p:spPr>
          <a:xfrm>
            <a:off x="3371088" y="2326323"/>
            <a:ext cx="1421638" cy="355600"/>
          </a:xfrm>
          <a:prstGeom prst="rect">
            <a:avLst/>
          </a:prstGeom>
          <a:noFill/>
        </p:spPr>
        <p:txBody>
          <a:bodyPr wrap="square" lIns="17780" tIns="0" rIns="17780" bIns="0" rtlCol="0" anchor="t">
            <a:noAutofit/>
          </a:bodyPr>
          <a:p>
            <a:pPr algn="ctr"/>
            <a:r>
              <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偏好记忆动态捕捉</a:t>
            </a:r>
            <a:endPar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270" name="文本框 269"/>
          <p:cNvSpPr txBox="1"/>
          <p:nvPr>
            <p:custDataLst>
              <p:tags r:id="rId18"/>
            </p:custDataLst>
          </p:nvPr>
        </p:nvSpPr>
        <p:spPr>
          <a:xfrm>
            <a:off x="3371215" y="3244215"/>
            <a:ext cx="1421765" cy="1186180"/>
          </a:xfrm>
          <a:prstGeom prst="rect">
            <a:avLst/>
          </a:prstGeom>
          <a:noFill/>
        </p:spPr>
        <p:txBody>
          <a:bodyPr wrap="square" lIns="17780" tIns="0" rIns="17780" bIns="0" rtlCol="0" anchor="t">
            <a:noAutofit/>
          </a:bodyPr>
          <a:p>
            <a:pPr algn="ctr">
              <a:lnSpc>
                <a:spcPct val="120000"/>
              </a:lnSpc>
            </a:pPr>
            <a:r>
              <a:rPr lang="zh-CN" altLang="en-US" sz="1400">
                <a:solidFill>
                  <a:srgbClr val="FFFFFF"/>
                </a:solidFill>
                <a:latin typeface="微软雅黑" panose="020B0503020204020204" charset="-122"/>
                <a:ea typeface="微软雅黑" panose="020B0503020204020204" charset="-122"/>
                <a:cs typeface="微软雅黑" panose="020B0503020204020204" charset="-122"/>
              </a:rPr>
              <a:t>实现偏好信息的自动提取与管理，支持跨场景偏好适配与回溯</a:t>
            </a:r>
            <a:endParaRPr lang="zh-CN" altLang="en-US" sz="1400">
              <a:solidFill>
                <a:srgbClr val="FFFFFF"/>
              </a:solidFill>
              <a:latin typeface="等线" panose="02010600030101010101" charset="-122"/>
              <a:ea typeface="等线" panose="02010600030101010101" charset="-122"/>
              <a:cs typeface="微软雅黑" panose="020B0503020204020204" charset="-122"/>
            </a:endParaRPr>
          </a:p>
        </p:txBody>
      </p:sp>
      <p:sp>
        <p:nvSpPr>
          <p:cNvPr id="13" name="任意多边形 12"/>
          <p:cNvSpPr/>
          <p:nvPr>
            <p:custDataLst>
              <p:tags r:id="rId19"/>
            </p:custDataLst>
          </p:nvPr>
        </p:nvSpPr>
        <p:spPr>
          <a:xfrm>
            <a:off x="5224526" y="1219200"/>
            <a:ext cx="1878838"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5" name="任意多边形 34"/>
          <p:cNvSpPr/>
          <p:nvPr>
            <p:custDataLst>
              <p:tags r:id="rId20"/>
            </p:custDataLst>
          </p:nvPr>
        </p:nvSpPr>
        <p:spPr>
          <a:xfrm>
            <a:off x="5859145" y="151352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1">
              <a:lumMod val="0"/>
              <a:lumOff val="100000"/>
            </a:schemeClr>
          </a:solidFill>
          <a:ln w="14288">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4" name="图片 33" descr="wpsai:10787480512.svg"/>
          <p:cNvPicPr preferRelativeResize="0"/>
          <p:nvPr>
            <p:custDataLst>
              <p:tags r:id="rId21"/>
            </p:custDataLst>
          </p:nvPr>
        </p:nvPicPr>
        <p:blipFill rotWithShape="1">
          <a:blip r:embed="rId22">
            <a:extLst>
              <a:ext uri="{96DAC541-7B7A-43D3-8B79-37D633B846F1}">
                <asvg:svgBlip xmlns:asvg="http://schemas.microsoft.com/office/drawing/2016/SVG/main" r:embed="rId23"/>
              </a:ext>
            </a:extLst>
          </a:blip>
          <a:stretch>
            <a:fillRect/>
          </a:stretch>
        </p:blipFill>
        <p:spPr>
          <a:xfrm>
            <a:off x="5986145" y="1640523"/>
            <a:ext cx="355600" cy="355600"/>
          </a:xfrm>
          <a:prstGeom prst="rect">
            <a:avLst/>
          </a:prstGeom>
          <a:noFill/>
        </p:spPr>
      </p:pic>
      <p:sp>
        <p:nvSpPr>
          <p:cNvPr id="271" name="文本框 270"/>
          <p:cNvSpPr txBox="1"/>
          <p:nvPr>
            <p:custDataLst>
              <p:tags r:id="rId24"/>
            </p:custDataLst>
          </p:nvPr>
        </p:nvSpPr>
        <p:spPr>
          <a:xfrm>
            <a:off x="5453126" y="2326323"/>
            <a:ext cx="1421638" cy="355600"/>
          </a:xfrm>
          <a:prstGeom prst="rect">
            <a:avLst/>
          </a:prstGeom>
          <a:noFill/>
        </p:spPr>
        <p:txBody>
          <a:bodyPr wrap="square" lIns="17780" tIns="0" rIns="17780" bIns="0" rtlCol="0" anchor="t">
            <a:noAutofit/>
          </a:bodyPr>
          <a:p>
            <a:pPr algn="ctr"/>
            <a:r>
              <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知识记忆提取与整合</a:t>
            </a:r>
            <a:endPar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272" name="文本框 271"/>
          <p:cNvSpPr txBox="1"/>
          <p:nvPr>
            <p:custDataLst>
              <p:tags r:id="rId25"/>
            </p:custDataLst>
          </p:nvPr>
        </p:nvSpPr>
        <p:spPr>
          <a:xfrm>
            <a:off x="5344160" y="3244215"/>
            <a:ext cx="1639570" cy="1565910"/>
          </a:xfrm>
          <a:prstGeom prst="rect">
            <a:avLst/>
          </a:prstGeom>
          <a:noFill/>
        </p:spPr>
        <p:txBody>
          <a:bodyPr wrap="square" lIns="17780" tIns="0" rIns="17780" bIns="0" rtlCol="0" anchor="t">
            <a:noAutofit/>
          </a:bodyPr>
          <a:p>
            <a:pPr algn="ctr">
              <a:lnSpc>
                <a:spcPct val="120000"/>
              </a:lnSpc>
            </a:pPr>
            <a:r>
              <a:rPr lang="zh-CN" altLang="en-US" sz="1400">
                <a:solidFill>
                  <a:srgbClr val="FFFFFF"/>
                </a:solidFill>
                <a:latin typeface="微软雅黑" panose="020B0503020204020204" charset="-122"/>
                <a:ea typeface="微软雅黑" panose="020B0503020204020204" charset="-122"/>
                <a:cs typeface="微软雅黑" panose="020B0503020204020204" charset="-122"/>
              </a:rPr>
              <a:t>支持工作流程、历史案例、可复用模板等知识信息的提取、存储及智能调用；冲突检测与融合</a:t>
            </a:r>
            <a:endParaRPr lang="zh-CN" altLang="en-US" sz="1400">
              <a:solidFill>
                <a:srgbClr val="FFFFFF"/>
              </a:solidFill>
              <a:latin typeface="等线" panose="02010600030101010101" charset="-122"/>
              <a:ea typeface="等线" panose="02010600030101010101" charset="-122"/>
              <a:cs typeface="微软雅黑" panose="020B0503020204020204" charset="-122"/>
            </a:endParaRPr>
          </a:p>
        </p:txBody>
      </p:sp>
      <p:sp>
        <p:nvSpPr>
          <p:cNvPr id="16" name="任意多边形 15"/>
          <p:cNvSpPr/>
          <p:nvPr>
            <p:custDataLst>
              <p:tags r:id="rId26"/>
            </p:custDataLst>
          </p:nvPr>
        </p:nvSpPr>
        <p:spPr>
          <a:xfrm>
            <a:off x="7306564" y="1219200"/>
            <a:ext cx="1878838"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2"/>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7" name="任意多边形 36"/>
          <p:cNvSpPr/>
          <p:nvPr>
            <p:custDataLst>
              <p:tags r:id="rId27"/>
            </p:custDataLst>
          </p:nvPr>
        </p:nvSpPr>
        <p:spPr>
          <a:xfrm>
            <a:off x="7941183" y="151352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2">
              <a:lumMod val="0"/>
              <a:lumOff val="100000"/>
            </a:schemeClr>
          </a:solidFill>
          <a:ln w="14288">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6" name="图片 35" descr="wpsai:10787477635.svg"/>
          <p:cNvPicPr preferRelativeResize="0"/>
          <p:nvPr>
            <p:custDataLst>
              <p:tags r:id="rId28"/>
            </p:custDataLst>
          </p:nvPr>
        </p:nvPicPr>
        <p:blipFill rotWithShape="1">
          <a:blip r:embed="rId29">
            <a:extLst>
              <a:ext uri="{96DAC541-7B7A-43D3-8B79-37D633B846F1}">
                <asvg:svgBlip xmlns:asvg="http://schemas.microsoft.com/office/drawing/2016/SVG/main" r:embed="rId30"/>
              </a:ext>
            </a:extLst>
          </a:blip>
          <a:stretch>
            <a:fillRect/>
          </a:stretch>
        </p:blipFill>
        <p:spPr>
          <a:xfrm>
            <a:off x="8068183" y="1640523"/>
            <a:ext cx="355600" cy="355600"/>
          </a:xfrm>
          <a:prstGeom prst="rect">
            <a:avLst/>
          </a:prstGeom>
          <a:noFill/>
        </p:spPr>
      </p:pic>
      <p:sp>
        <p:nvSpPr>
          <p:cNvPr id="273" name="文本框 272"/>
          <p:cNvSpPr txBox="1"/>
          <p:nvPr>
            <p:custDataLst>
              <p:tags r:id="rId31"/>
            </p:custDataLst>
          </p:nvPr>
        </p:nvSpPr>
        <p:spPr>
          <a:xfrm>
            <a:off x="7535164" y="2326323"/>
            <a:ext cx="1421638" cy="355600"/>
          </a:xfrm>
          <a:prstGeom prst="rect">
            <a:avLst/>
          </a:prstGeom>
          <a:noFill/>
        </p:spPr>
        <p:txBody>
          <a:bodyPr wrap="square" lIns="17780" tIns="0" rIns="17780" bIns="0" rtlCol="0" anchor="t">
            <a:noAutofit/>
          </a:bodyPr>
          <a:p>
            <a:pPr algn="ctr"/>
            <a:r>
              <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记忆流转</a:t>
            </a:r>
            <a:endPar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274" name="文本框 273"/>
          <p:cNvSpPr txBox="1"/>
          <p:nvPr>
            <p:custDataLst>
              <p:tags r:id="rId32"/>
            </p:custDataLst>
          </p:nvPr>
        </p:nvSpPr>
        <p:spPr>
          <a:xfrm>
            <a:off x="7534910" y="3244215"/>
            <a:ext cx="1421765" cy="1144270"/>
          </a:xfrm>
          <a:prstGeom prst="rect">
            <a:avLst/>
          </a:prstGeom>
          <a:noFill/>
        </p:spPr>
        <p:txBody>
          <a:bodyPr wrap="square" lIns="17780" tIns="0" rIns="17780" bIns="0" rtlCol="0" anchor="t">
            <a:noAutofit/>
          </a:bodyPr>
          <a:p>
            <a:pPr algn="ctr">
              <a:lnSpc>
                <a:spcPct val="120000"/>
              </a:lnSpc>
            </a:pPr>
            <a:r>
              <a:rPr lang="zh-CN" altLang="en-US" sz="1400">
                <a:solidFill>
                  <a:srgbClr val="FFFFFF"/>
                </a:solidFill>
                <a:latin typeface="微软雅黑" panose="020B0503020204020204" charset="-122"/>
                <a:ea typeface="微软雅黑" panose="020B0503020204020204" charset="-122"/>
                <a:cs typeface="微软雅黑" panose="020B0503020204020204" charset="-122"/>
              </a:rPr>
              <a:t>兼容与短期、中期记忆间的数据流转</a:t>
            </a:r>
            <a:endParaRPr lang="zh-CN" altLang="en-US" sz="14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任意多边形 17"/>
          <p:cNvSpPr/>
          <p:nvPr>
            <p:custDataLst>
              <p:tags r:id="rId33"/>
            </p:custDataLst>
          </p:nvPr>
        </p:nvSpPr>
        <p:spPr>
          <a:xfrm>
            <a:off x="9388602" y="1219200"/>
            <a:ext cx="1878838"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9" name="任意多边形 38"/>
          <p:cNvSpPr/>
          <p:nvPr>
            <p:custDataLst>
              <p:tags r:id="rId34"/>
            </p:custDataLst>
          </p:nvPr>
        </p:nvSpPr>
        <p:spPr>
          <a:xfrm>
            <a:off x="10023221" y="151352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1">
              <a:lumMod val="0"/>
              <a:lumOff val="100000"/>
            </a:schemeClr>
          </a:solidFill>
          <a:ln w="14288">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8" name="图片 37" descr="wpsai:10787477699.svg"/>
          <p:cNvPicPr preferRelativeResize="0"/>
          <p:nvPr>
            <p:custDataLst>
              <p:tags r:id="rId35"/>
            </p:custDataLst>
          </p:nvPr>
        </p:nvPicPr>
        <p:blipFill rotWithShape="1">
          <a:blip r:embed="rId36">
            <a:extLst>
              <a:ext uri="{96DAC541-7B7A-43D3-8B79-37D633B846F1}">
                <asvg:svgBlip xmlns:asvg="http://schemas.microsoft.com/office/drawing/2016/SVG/main" r:embed="rId37"/>
              </a:ext>
            </a:extLst>
          </a:blip>
          <a:stretch>
            <a:fillRect/>
          </a:stretch>
        </p:blipFill>
        <p:spPr>
          <a:xfrm>
            <a:off x="10150221" y="1640523"/>
            <a:ext cx="355600" cy="355600"/>
          </a:xfrm>
          <a:prstGeom prst="rect">
            <a:avLst/>
          </a:prstGeom>
          <a:noFill/>
        </p:spPr>
      </p:pic>
      <p:sp>
        <p:nvSpPr>
          <p:cNvPr id="275" name="文本框 274"/>
          <p:cNvSpPr txBox="1"/>
          <p:nvPr>
            <p:custDataLst>
              <p:tags r:id="rId38"/>
            </p:custDataLst>
          </p:nvPr>
        </p:nvSpPr>
        <p:spPr>
          <a:xfrm>
            <a:off x="9617202" y="2326323"/>
            <a:ext cx="1421638" cy="355600"/>
          </a:xfrm>
          <a:prstGeom prst="rect">
            <a:avLst/>
          </a:prstGeom>
          <a:noFill/>
        </p:spPr>
        <p:txBody>
          <a:bodyPr wrap="square" lIns="17780" tIns="0" rIns="17780" bIns="0" rtlCol="0" anchor="t">
            <a:noAutofit/>
          </a:bodyPr>
          <a:p>
            <a:pPr algn="ctr"/>
            <a:r>
              <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量化评测机制</a:t>
            </a:r>
            <a:endParaRPr lang="zh-CN" altLang="en-US" b="1">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276" name="文本框 275"/>
          <p:cNvSpPr txBox="1"/>
          <p:nvPr>
            <p:custDataLst>
              <p:tags r:id="rId39"/>
            </p:custDataLst>
          </p:nvPr>
        </p:nvSpPr>
        <p:spPr>
          <a:xfrm>
            <a:off x="9472930" y="3244215"/>
            <a:ext cx="1692275" cy="1577975"/>
          </a:xfrm>
          <a:prstGeom prst="rect">
            <a:avLst/>
          </a:prstGeom>
          <a:noFill/>
        </p:spPr>
        <p:txBody>
          <a:bodyPr wrap="square" lIns="17780" tIns="0" rIns="17780" bIns="0" rtlCol="0" anchor="t">
            <a:noAutofit/>
          </a:bodyPr>
          <a:p>
            <a:pPr algn="ctr">
              <a:lnSpc>
                <a:spcPct val="120000"/>
              </a:lnSpc>
            </a:pPr>
            <a:r>
              <a:rPr lang="zh-CN" altLang="en-US" sz="1400">
                <a:solidFill>
                  <a:srgbClr val="FFFFFF"/>
                </a:solidFill>
                <a:latin typeface="微软雅黑" panose="020B0503020204020204" charset="-122"/>
                <a:ea typeface="微软雅黑" panose="020B0503020204020204" charset="-122"/>
                <a:cs typeface="微软雅黑" panose="020B0503020204020204" charset="-122"/>
              </a:rPr>
              <a:t>自建评测数据集，对相关的核心指标进行验证，以此衡量方案在偏好提取、知识检索等方面的表现</a:t>
            </a:r>
            <a:endParaRPr lang="zh-CN" altLang="en-US" sz="1400">
              <a:solidFill>
                <a:srgbClr val="FFFFFF"/>
              </a:solidFill>
              <a:latin typeface="微软雅黑" panose="020B0503020204020204" charset="-122"/>
              <a:ea typeface="微软雅黑" panose="020B0503020204020204" charset="-122"/>
              <a:cs typeface="微软雅黑" panose="020B0503020204020204" charset="-122"/>
            </a:endParaRPr>
          </a:p>
        </p:txBody>
      </p:sp>
    </p:spTree>
    <p:custDataLst>
      <p:tags r:id="rId4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710451" y="2489771"/>
            <a:ext cx="2011680" cy="1198880"/>
          </a:xfrm>
          <a:prstGeom prst="rect">
            <a:avLst/>
          </a:prstGeom>
          <a:noFill/>
        </p:spPr>
        <p:txBody>
          <a:bodyPr wrap="none" rtlCol="0">
            <a:spAutoFit/>
          </a:bodyPr>
          <a:lstStyle/>
          <a:p>
            <a:r>
              <a:rPr lang="zh-CN" altLang="en-US" sz="7200" b="1" dirty="0">
                <a:solidFill>
                  <a:srgbClr val="CA1F25"/>
                </a:solidFill>
                <a:latin typeface="微软雅黑" panose="020B0503020204020204" charset="-122"/>
                <a:ea typeface="微软雅黑" panose="020B0503020204020204" charset="-122"/>
              </a:rPr>
              <a:t>目录</a:t>
            </a:r>
            <a:endParaRPr lang="zh-CN" altLang="en-US" sz="7200" b="1" dirty="0">
              <a:solidFill>
                <a:srgbClr val="CA1F25"/>
              </a:solidFill>
              <a:latin typeface="微软雅黑" panose="020B0503020204020204" charset="-122"/>
              <a:ea typeface="微软雅黑" panose="020B0503020204020204" charset="-122"/>
            </a:endParaRPr>
          </a:p>
        </p:txBody>
      </p:sp>
      <p:grpSp>
        <p:nvGrpSpPr>
          <p:cNvPr id="15" name="组合 14"/>
          <p:cNvGrpSpPr/>
          <p:nvPr>
            <p:custDataLst>
              <p:tags r:id="rId1"/>
            </p:custDataLst>
          </p:nvPr>
        </p:nvGrpSpPr>
        <p:grpSpPr>
          <a:xfrm>
            <a:off x="3830955" y="1285875"/>
            <a:ext cx="4669790" cy="720090"/>
            <a:chOff x="5148" y="3225"/>
            <a:chExt cx="7354" cy="1134"/>
          </a:xfrm>
        </p:grpSpPr>
        <p:sp>
          <p:nvSpPr>
            <p:cNvPr id="51" name="文本框 50"/>
            <p:cNvSpPr txBox="1"/>
            <p:nvPr>
              <p:custDataLst>
                <p:tags r:id="rId2"/>
              </p:custDataLst>
            </p:nvPr>
          </p:nvSpPr>
          <p:spPr>
            <a:xfrm>
              <a:off x="6834" y="3225"/>
              <a:ext cx="5669" cy="1134"/>
            </a:xfrm>
            <a:prstGeom prst="rect">
              <a:avLst/>
            </a:prstGeom>
            <a:noFill/>
          </p:spPr>
          <p:txBody>
            <a:bodyPr wrap="square" rtlCol="0">
              <a:noAutofit/>
              <a:scene3d>
                <a:camera prst="orthographicFront"/>
                <a:lightRig rig="threePt" dir="t"/>
              </a:scene3d>
              <a:sp3d contourW="12700"/>
            </a:bodyPr>
            <a:lstStyle/>
            <a:p>
              <a:pPr algn="l"/>
              <a:r>
                <a:rPr lang="zh-CN" altLang="en-US" sz="2500" b="1" dirty="0">
                  <a:solidFill>
                    <a:schemeClr val="tx1"/>
                  </a:solidFill>
                  <a:latin typeface="Arial" panose="020B0604020202020204" pitchFamily="34" charset="0"/>
                  <a:ea typeface="微软雅黑" panose="020B0503020204020204" charset="-122"/>
                  <a:cs typeface="+mn-ea"/>
                  <a:sym typeface="+mn-ea"/>
                </a:rPr>
                <a:t>赛题背景与需求</a:t>
              </a:r>
              <a:endParaRPr lang="zh-CN" altLang="en-US" sz="2500" b="1" dirty="0">
                <a:solidFill>
                  <a:schemeClr val="tx1"/>
                </a:solidFill>
                <a:latin typeface="Arial" panose="020B0604020202020204" pitchFamily="34" charset="0"/>
                <a:ea typeface="微软雅黑" panose="020B0503020204020204" charset="-122"/>
                <a:cs typeface="+mn-ea"/>
                <a:sym typeface="+mn-ea"/>
              </a:endParaRPr>
            </a:p>
          </p:txBody>
        </p:sp>
        <p:grpSp>
          <p:nvGrpSpPr>
            <p:cNvPr id="8" name="组合 7"/>
            <p:cNvGrpSpPr/>
            <p:nvPr>
              <p:custDataLst>
                <p:tags r:id="rId3"/>
              </p:custDataLst>
            </p:nvPr>
          </p:nvGrpSpPr>
          <p:grpSpPr>
            <a:xfrm>
              <a:off x="5148" y="3225"/>
              <a:ext cx="1098" cy="1062"/>
              <a:chOff x="6115" y="4115"/>
              <a:chExt cx="1098" cy="1062"/>
            </a:xfrm>
          </p:grpSpPr>
          <p:sp>
            <p:nvSpPr>
              <p:cNvPr id="46" name="椭圆 45"/>
              <p:cNvSpPr/>
              <p:nvPr>
                <p:custDataLst>
                  <p:tags r:id="rId4"/>
                </p:custDataLst>
              </p:nvPr>
            </p:nvSpPr>
            <p:spPr>
              <a:xfrm>
                <a:off x="6115" y="4115"/>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62" name="文本框 61"/>
              <p:cNvSpPr txBox="1"/>
              <p:nvPr>
                <p:custDataLst>
                  <p:tags r:id="rId5"/>
                </p:custDataLst>
              </p:nvPr>
            </p:nvSpPr>
            <p:spPr>
              <a:xfrm>
                <a:off x="6135" y="4185"/>
                <a:ext cx="1078" cy="919"/>
              </a:xfrm>
              <a:prstGeom prst="rect">
                <a:avLst/>
              </a:prstGeom>
              <a:noFill/>
            </p:spPr>
            <p:txBody>
              <a:bodyPr wrap="none" rtlCol="0">
                <a:spAutoFit/>
              </a:bodyPr>
              <a:lstStyle/>
              <a:p>
                <a:r>
                  <a:rPr lang="en-US" altLang="zh-CN" sz="3200" b="1">
                    <a:solidFill>
                      <a:srgbClr val="FEFEFE"/>
                    </a:solidFill>
                    <a:latin typeface="微软雅黑" panose="020B0503020204020204" charset="-122"/>
                    <a:ea typeface="微软雅黑" panose="020B0503020204020204" charset="-122"/>
                  </a:rPr>
                  <a:t>01</a:t>
                </a:r>
                <a:endParaRPr lang="en-US" altLang="zh-CN" sz="3200" b="1">
                  <a:solidFill>
                    <a:srgbClr val="FEFEFE"/>
                  </a:solidFill>
                  <a:latin typeface="微软雅黑" panose="020B0503020204020204" charset="-122"/>
                  <a:ea typeface="微软雅黑" panose="020B0503020204020204" charset="-122"/>
                </a:endParaRPr>
              </a:p>
            </p:txBody>
          </p:sp>
        </p:grpSp>
      </p:grpSp>
      <p:sp>
        <p:nvSpPr>
          <p:cNvPr id="64" name="文本框 63"/>
          <p:cNvSpPr txBox="1"/>
          <p:nvPr/>
        </p:nvSpPr>
        <p:spPr>
          <a:xfrm>
            <a:off x="777386" y="3507784"/>
            <a:ext cx="1896745" cy="506730"/>
          </a:xfrm>
          <a:prstGeom prst="rect">
            <a:avLst/>
          </a:prstGeom>
          <a:noFill/>
        </p:spPr>
        <p:txBody>
          <a:bodyPr wrap="none" rtlCol="0">
            <a:spAutoFit/>
          </a:bodyPr>
          <a:lstStyle/>
          <a:p>
            <a:r>
              <a:rPr lang="en-US" altLang="zh-CN" sz="2700" b="1">
                <a:solidFill>
                  <a:srgbClr val="161915"/>
                </a:solidFill>
                <a:latin typeface="微软雅黑" panose="020B0503020204020204" charset="-122"/>
                <a:ea typeface="微软雅黑" panose="020B0503020204020204" charset="-122"/>
              </a:rPr>
              <a:t>CONTENT</a:t>
            </a:r>
            <a:endParaRPr lang="zh-CN" altLang="en-US" sz="2700" b="1">
              <a:solidFill>
                <a:srgbClr val="161915"/>
              </a:solidFill>
              <a:latin typeface="微软雅黑" panose="020B0503020204020204" charset="-122"/>
              <a:ea typeface="微软雅黑" panose="020B0503020204020204" charset="-122"/>
            </a:endParaRPr>
          </a:p>
        </p:txBody>
      </p:sp>
      <p:grpSp>
        <p:nvGrpSpPr>
          <p:cNvPr id="16" name="组合 15"/>
          <p:cNvGrpSpPr/>
          <p:nvPr>
            <p:custDataLst>
              <p:tags r:id="rId6"/>
            </p:custDataLst>
          </p:nvPr>
        </p:nvGrpSpPr>
        <p:grpSpPr>
          <a:xfrm>
            <a:off x="3837305" y="2366645"/>
            <a:ext cx="4663440" cy="718820"/>
            <a:chOff x="5158" y="4775"/>
            <a:chExt cx="7344" cy="1132"/>
          </a:xfrm>
        </p:grpSpPr>
        <p:grpSp>
          <p:nvGrpSpPr>
            <p:cNvPr id="9" name="组合 8"/>
            <p:cNvGrpSpPr/>
            <p:nvPr>
              <p:custDataLst>
                <p:tags r:id="rId7"/>
              </p:custDataLst>
            </p:nvPr>
          </p:nvGrpSpPr>
          <p:grpSpPr>
            <a:xfrm>
              <a:off x="5158" y="4775"/>
              <a:ext cx="1078" cy="1062"/>
              <a:chOff x="6234" y="5849"/>
              <a:chExt cx="1078" cy="1062"/>
            </a:xfrm>
          </p:grpSpPr>
          <p:sp>
            <p:nvSpPr>
              <p:cNvPr id="30" name="椭圆 29"/>
              <p:cNvSpPr/>
              <p:nvPr>
                <p:custDataLst>
                  <p:tags r:id="rId8"/>
                </p:custDataLst>
              </p:nvPr>
            </p:nvSpPr>
            <p:spPr>
              <a:xfrm>
                <a:off x="6242" y="5849"/>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34" name="文本框 33"/>
              <p:cNvSpPr txBox="1"/>
              <p:nvPr>
                <p:custDataLst>
                  <p:tags r:id="rId9"/>
                </p:custDataLst>
              </p:nvPr>
            </p:nvSpPr>
            <p:spPr>
              <a:xfrm>
                <a:off x="6234" y="5920"/>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02</a:t>
                </a:r>
                <a:endParaRPr lang="en-US" altLang="zh-CN" sz="3200" b="1">
                  <a:solidFill>
                    <a:srgbClr val="FCFCFC"/>
                  </a:solidFill>
                  <a:latin typeface="微软雅黑" panose="020B0503020204020204" charset="-122"/>
                  <a:ea typeface="微软雅黑" panose="020B0503020204020204" charset="-122"/>
                </a:endParaRPr>
              </a:p>
            </p:txBody>
          </p:sp>
        </p:grpSp>
        <p:sp>
          <p:nvSpPr>
            <p:cNvPr id="7" name="文本框 6"/>
            <p:cNvSpPr txBox="1"/>
            <p:nvPr>
              <p:custDataLst>
                <p:tags r:id="rId10"/>
              </p:custDataLst>
            </p:nvPr>
          </p:nvSpPr>
          <p:spPr>
            <a:xfrm>
              <a:off x="6834" y="4775"/>
              <a:ext cx="5669" cy="1133"/>
            </a:xfrm>
            <a:prstGeom prst="rect">
              <a:avLst/>
            </a:prstGeom>
            <a:noFill/>
          </p:spPr>
          <p:txBody>
            <a:bodyPr wrap="square" rtlCol="0" anchor="t">
              <a:noAutofit/>
            </a:bodyPr>
            <a:p>
              <a:pPr algn="l"/>
              <a:r>
                <a:rPr lang="zh-CN" altLang="en-US" sz="2500" b="1" dirty="0">
                  <a:solidFill>
                    <a:srgbClr val="FF0000"/>
                  </a:solidFill>
                  <a:latin typeface="Arial" panose="020B0604020202020204" pitchFamily="34" charset="0"/>
                  <a:ea typeface="微软雅黑" panose="020B0503020204020204" charset="-122"/>
                  <a:cs typeface="+mn-ea"/>
                </a:rPr>
                <a:t>技术实现与架构</a:t>
              </a:r>
              <a:endParaRPr lang="zh-CN" altLang="en-US" sz="2500" b="1" dirty="0">
                <a:solidFill>
                  <a:srgbClr val="FF0000"/>
                </a:solidFill>
                <a:latin typeface="Arial" panose="020B0604020202020204" pitchFamily="34" charset="0"/>
                <a:ea typeface="微软雅黑" panose="020B0503020204020204" charset="-122"/>
                <a:cs typeface="+mn-ea"/>
              </a:endParaRPr>
            </a:p>
          </p:txBody>
        </p:sp>
      </p:grpSp>
      <p:grpSp>
        <p:nvGrpSpPr>
          <p:cNvPr id="17" name="组合 16"/>
          <p:cNvGrpSpPr/>
          <p:nvPr>
            <p:custDataLst>
              <p:tags r:id="rId11"/>
            </p:custDataLst>
          </p:nvPr>
        </p:nvGrpSpPr>
        <p:grpSpPr>
          <a:xfrm>
            <a:off x="3837305" y="3446145"/>
            <a:ext cx="4663440" cy="718820"/>
            <a:chOff x="5158" y="6324"/>
            <a:chExt cx="7344" cy="1132"/>
          </a:xfrm>
        </p:grpSpPr>
        <p:grpSp>
          <p:nvGrpSpPr>
            <p:cNvPr id="10" name="组合 9"/>
            <p:cNvGrpSpPr/>
            <p:nvPr>
              <p:custDataLst>
                <p:tags r:id="rId12"/>
              </p:custDataLst>
            </p:nvPr>
          </p:nvGrpSpPr>
          <p:grpSpPr>
            <a:xfrm>
              <a:off x="5158" y="6324"/>
              <a:ext cx="1078" cy="1062"/>
              <a:chOff x="6633" y="6999"/>
              <a:chExt cx="1078" cy="1062"/>
            </a:xfrm>
          </p:grpSpPr>
          <p:sp>
            <p:nvSpPr>
              <p:cNvPr id="2" name="椭圆 1"/>
              <p:cNvSpPr/>
              <p:nvPr>
                <p:custDataLst>
                  <p:tags r:id="rId13"/>
                </p:custDataLst>
              </p:nvPr>
            </p:nvSpPr>
            <p:spPr>
              <a:xfrm>
                <a:off x="6641" y="6999"/>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4" name="文本框 3"/>
              <p:cNvSpPr txBox="1"/>
              <p:nvPr>
                <p:custDataLst>
                  <p:tags r:id="rId14"/>
                </p:custDataLst>
              </p:nvPr>
            </p:nvSpPr>
            <p:spPr>
              <a:xfrm>
                <a:off x="6633" y="7071"/>
                <a:ext cx="1078" cy="919"/>
              </a:xfrm>
              <a:prstGeom prst="rect">
                <a:avLst/>
              </a:prstGeom>
              <a:noFill/>
            </p:spPr>
            <p:txBody>
              <a:bodyPr wrap="none" rtlCol="0">
                <a:spAutoFit/>
              </a:bodyPr>
              <a:p>
                <a:r>
                  <a:rPr lang="en-US" altLang="zh-CN" sz="3200" b="1">
                    <a:solidFill>
                      <a:srgbClr val="FEFEFE"/>
                    </a:solidFill>
                    <a:latin typeface="微软雅黑" panose="020B0503020204020204" charset="-122"/>
                    <a:ea typeface="微软雅黑" panose="020B0503020204020204" charset="-122"/>
                  </a:rPr>
                  <a:t>03</a:t>
                </a:r>
                <a:endParaRPr lang="en-US" altLang="zh-CN" sz="3200" b="1">
                  <a:solidFill>
                    <a:srgbClr val="FEFEFE"/>
                  </a:solidFill>
                  <a:latin typeface="微软雅黑" panose="020B0503020204020204" charset="-122"/>
                  <a:ea typeface="微软雅黑" panose="020B0503020204020204" charset="-122"/>
                </a:endParaRPr>
              </a:p>
            </p:txBody>
          </p:sp>
        </p:grpSp>
        <p:sp>
          <p:nvSpPr>
            <p:cNvPr id="12" name="文本框 11"/>
            <p:cNvSpPr txBox="1"/>
            <p:nvPr>
              <p:custDataLst>
                <p:tags r:id="rId15"/>
              </p:custDataLst>
            </p:nvPr>
          </p:nvSpPr>
          <p:spPr>
            <a:xfrm>
              <a:off x="6834" y="6324"/>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评分标准与</a:t>
              </a: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提交</a:t>
              </a:r>
              <a:endPar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8" name="组合 17"/>
          <p:cNvGrpSpPr/>
          <p:nvPr>
            <p:custDataLst>
              <p:tags r:id="rId16"/>
            </p:custDataLst>
          </p:nvPr>
        </p:nvGrpSpPr>
        <p:grpSpPr>
          <a:xfrm>
            <a:off x="3837305" y="4525645"/>
            <a:ext cx="4620260" cy="718820"/>
            <a:chOff x="5158" y="8327"/>
            <a:chExt cx="7276" cy="1132"/>
          </a:xfrm>
        </p:grpSpPr>
        <p:grpSp>
          <p:nvGrpSpPr>
            <p:cNvPr id="3" name="组合 2"/>
            <p:cNvGrpSpPr/>
            <p:nvPr>
              <p:custDataLst>
                <p:tags r:id="rId17"/>
              </p:custDataLst>
            </p:nvPr>
          </p:nvGrpSpPr>
          <p:grpSpPr>
            <a:xfrm>
              <a:off x="5158" y="8327"/>
              <a:ext cx="1078" cy="1062"/>
              <a:chOff x="6598" y="5764"/>
              <a:chExt cx="1078" cy="1062"/>
            </a:xfrm>
          </p:grpSpPr>
          <p:sp>
            <p:nvSpPr>
              <p:cNvPr id="5" name="椭圆 4"/>
              <p:cNvSpPr/>
              <p:nvPr>
                <p:custDataLst>
                  <p:tags r:id="rId18"/>
                </p:custDataLst>
              </p:nvPr>
            </p:nvSpPr>
            <p:spPr>
              <a:xfrm>
                <a:off x="6606" y="5764"/>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6" name="文本框 5"/>
              <p:cNvSpPr txBox="1"/>
              <p:nvPr>
                <p:custDataLst>
                  <p:tags r:id="rId19"/>
                </p:custDataLst>
              </p:nvPr>
            </p:nvSpPr>
            <p:spPr>
              <a:xfrm>
                <a:off x="6598" y="5836"/>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04</a:t>
                </a:r>
                <a:endParaRPr lang="en-US" altLang="zh-CN" sz="3200" b="1">
                  <a:solidFill>
                    <a:srgbClr val="FCFCFC"/>
                  </a:solidFill>
                  <a:latin typeface="微软雅黑" panose="020B0503020204020204" charset="-122"/>
                  <a:ea typeface="微软雅黑" panose="020B0503020204020204" charset="-122"/>
                </a:endParaRPr>
              </a:p>
            </p:txBody>
          </p:sp>
        </p:grpSp>
        <p:sp>
          <p:nvSpPr>
            <p:cNvPr id="13" name="文本框 12"/>
            <p:cNvSpPr txBox="1"/>
            <p:nvPr>
              <p:custDataLst>
                <p:tags r:id="rId20"/>
              </p:custDataLst>
            </p:nvPr>
          </p:nvSpPr>
          <p:spPr>
            <a:xfrm>
              <a:off x="6766" y="8327"/>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备赛建议与</a:t>
              </a: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答疑</a:t>
              </a:r>
              <a:endPar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timing>
    <p:tnLst>
      <p:par>
        <p:cTn id="1" dur="indefinite" restart="never" nodeType="tmRoot"/>
      </p:par>
    </p:tnLst>
    <p:bldLst>
      <p:bldP spid="37" grpId="0"/>
      <p:bldP spid="6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382905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可参考</a:t>
            </a:r>
            <a:r>
              <a:rPr kumimoji="1" lang="zh-CN" altLang="en-US" sz="2400" b="1" spc="200" dirty="0">
                <a:latin typeface="微软雅黑" panose="020B0503020204020204" charset="-122"/>
                <a:ea typeface="微软雅黑" panose="020B0503020204020204" charset="-122"/>
              </a:rPr>
              <a:t>的类似</a:t>
            </a:r>
            <a:r>
              <a:rPr kumimoji="1" lang="zh-CN" altLang="en-US" sz="2400" b="1" spc="200" dirty="0">
                <a:latin typeface="微软雅黑" panose="020B0503020204020204" charset="-122"/>
                <a:ea typeface="微软雅黑" panose="020B0503020204020204" charset="-122"/>
              </a:rPr>
              <a:t>产品或方向</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6" name="Rounded Rectangle 5"/>
          <p:cNvSpPr/>
          <p:nvPr/>
        </p:nvSpPr>
        <p:spPr>
          <a:xfrm>
            <a:off x="1170940" y="1282700"/>
            <a:ext cx="4158615" cy="1790700"/>
          </a:xfrm>
          <a:prstGeom prst="roundRect">
            <a:avLst>
              <a:gd name="adj" fmla="val 12765"/>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 Same Side Corner Rectangle 6"/>
          <p:cNvSpPr/>
          <p:nvPr/>
        </p:nvSpPr>
        <p:spPr>
          <a:xfrm rot="16200000">
            <a:off x="341614" y="2112010"/>
            <a:ext cx="1790700" cy="13208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7" descr="image.png"/>
          <p:cNvPicPr>
            <a:picLocks noChangeAspect="1"/>
          </p:cNvPicPr>
          <p:nvPr/>
        </p:nvPicPr>
        <p:blipFill>
          <a:blip r:embed="rId5">
            <a:alphaModFix amt="100000"/>
          </a:blip>
          <a:stretch>
            <a:fillRect/>
          </a:stretch>
        </p:blipFill>
        <p:spPr>
          <a:xfrm>
            <a:off x="1437618" y="1562866"/>
            <a:ext cx="342891" cy="277867"/>
          </a:xfrm>
          <a:prstGeom prst="rect">
            <a:avLst/>
          </a:prstGeom>
        </p:spPr>
      </p:pic>
      <p:sp>
        <p:nvSpPr>
          <p:cNvPr id="16" name="TextBox 8"/>
          <p:cNvSpPr txBox="1"/>
          <p:nvPr/>
        </p:nvSpPr>
        <p:spPr>
          <a:xfrm>
            <a:off x="1894840" y="1513840"/>
            <a:ext cx="3434715" cy="375920"/>
          </a:xfrm>
          <a:prstGeom prst="rect">
            <a:avLst/>
          </a:prstGeom>
          <a:noFill/>
        </p:spPr>
        <p:txBody>
          <a:bodyPr wrap="square" lIns="73152" tIns="54864" rIns="73152" bIns="54864" anchor="ctr">
            <a:spAutoFit/>
          </a:bodyPr>
          <a:lstStyle/>
          <a:p>
            <a:pPr algn="l">
              <a:lnSpc>
                <a:spcPts val="2080"/>
              </a:lnSpc>
              <a:spcBef>
                <a:spcPts val="0"/>
              </a:spcBef>
              <a:spcAft>
                <a:spcPts val="0"/>
              </a:spcAft>
            </a:pPr>
            <a:r>
              <a:rPr lang="zh-CN" altLang="en-US" sz="2000" b="1"/>
              <a:t>LangChain Memory模块</a:t>
            </a:r>
            <a:endParaRPr lang="zh-CN" altLang="en-US" sz="1435" b="1">
              <a:solidFill>
                <a:srgbClr val="1F2937"/>
              </a:solidFill>
            </a:endParaRPr>
          </a:p>
        </p:txBody>
      </p:sp>
      <p:sp>
        <p:nvSpPr>
          <p:cNvPr id="37" name="TextBox 9"/>
          <p:cNvSpPr txBox="1"/>
          <p:nvPr/>
        </p:nvSpPr>
        <p:spPr>
          <a:xfrm>
            <a:off x="1437640" y="2008505"/>
            <a:ext cx="2999105" cy="834390"/>
          </a:xfrm>
          <a:prstGeom prst="rect">
            <a:avLst/>
          </a:prstGeom>
          <a:noFill/>
        </p:spPr>
        <p:txBody>
          <a:bodyPr wrap="square" lIns="73152" tIns="54864" rIns="73152" bIns="54864" anchor="ctr">
            <a:spAutoFit/>
          </a:bodyPr>
          <a:lstStyle/>
          <a:p>
            <a:pPr algn="l">
              <a:lnSpc>
                <a:spcPts val="1885"/>
              </a:lnSpc>
              <a:spcBef>
                <a:spcPts val="0"/>
              </a:spcBef>
              <a:spcAft>
                <a:spcPts val="0"/>
              </a:spcAft>
            </a:pPr>
            <a:r>
              <a:rPr lang="zh-CN" altLang="en-US" b="0"/>
              <a:t>提供短期记忆（上下文</a:t>
            </a:r>
            <a:r>
              <a:rPr lang="zh-CN" altLang="en-US" b="0"/>
              <a:t>窗口）、长期记忆（向量数据库）的分层管理</a:t>
            </a:r>
            <a:endParaRPr lang="zh-CN" altLang="en-US" b="0">
              <a:solidFill>
                <a:srgbClr val="4B5563"/>
              </a:solidFill>
            </a:endParaRPr>
          </a:p>
        </p:txBody>
      </p:sp>
      <p:sp>
        <p:nvSpPr>
          <p:cNvPr id="49" name="Rounded Rectangle 10"/>
          <p:cNvSpPr/>
          <p:nvPr/>
        </p:nvSpPr>
        <p:spPr>
          <a:xfrm>
            <a:off x="6438900" y="1282700"/>
            <a:ext cx="3693795" cy="1790700"/>
          </a:xfrm>
          <a:prstGeom prst="roundRect">
            <a:avLst>
              <a:gd name="adj" fmla="val 12765"/>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 Same Side Corner Rectangle 11"/>
          <p:cNvSpPr/>
          <p:nvPr/>
        </p:nvSpPr>
        <p:spPr>
          <a:xfrm rot="16200000">
            <a:off x="5609498" y="2112010"/>
            <a:ext cx="1790700" cy="13208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12" descr="image.png"/>
          <p:cNvPicPr>
            <a:picLocks noChangeAspect="1"/>
          </p:cNvPicPr>
          <p:nvPr/>
        </p:nvPicPr>
        <p:blipFill>
          <a:blip r:embed="rId6">
            <a:alphaModFix amt="100000"/>
          </a:blip>
          <a:stretch>
            <a:fillRect/>
          </a:stretch>
        </p:blipFill>
        <p:spPr>
          <a:xfrm>
            <a:off x="6705502" y="1580602"/>
            <a:ext cx="342891" cy="242394"/>
          </a:xfrm>
          <a:prstGeom prst="rect">
            <a:avLst/>
          </a:prstGeom>
        </p:spPr>
      </p:pic>
      <p:sp>
        <p:nvSpPr>
          <p:cNvPr id="53" name="TextBox 13"/>
          <p:cNvSpPr txBox="1"/>
          <p:nvPr/>
        </p:nvSpPr>
        <p:spPr>
          <a:xfrm>
            <a:off x="7162800" y="1513840"/>
            <a:ext cx="2856865" cy="375920"/>
          </a:xfrm>
          <a:prstGeom prst="rect">
            <a:avLst/>
          </a:prstGeom>
          <a:noFill/>
        </p:spPr>
        <p:txBody>
          <a:bodyPr wrap="square" lIns="73152" tIns="54864" rIns="73152" bIns="54864" anchor="ctr">
            <a:spAutoFit/>
          </a:bodyPr>
          <a:lstStyle/>
          <a:p>
            <a:pPr algn="l">
              <a:lnSpc>
                <a:spcPts val="2080"/>
              </a:lnSpc>
              <a:spcBef>
                <a:spcPts val="0"/>
              </a:spcBef>
              <a:spcAft>
                <a:spcPts val="0"/>
              </a:spcAft>
            </a:pPr>
            <a:r>
              <a:rPr lang="zh-CN" altLang="en-US" sz="2000" b="1"/>
              <a:t>MemGPT（斯坦福）</a:t>
            </a:r>
            <a:endParaRPr sz="1435" b="1">
              <a:solidFill>
                <a:srgbClr val="1F2937"/>
              </a:solidFill>
            </a:endParaRPr>
          </a:p>
        </p:txBody>
      </p:sp>
      <p:sp>
        <p:nvSpPr>
          <p:cNvPr id="54" name="TextBox 14"/>
          <p:cNvSpPr txBox="1"/>
          <p:nvPr/>
        </p:nvSpPr>
        <p:spPr>
          <a:xfrm>
            <a:off x="6714490" y="2008505"/>
            <a:ext cx="3305175" cy="834390"/>
          </a:xfrm>
          <a:prstGeom prst="rect">
            <a:avLst/>
          </a:prstGeom>
          <a:noFill/>
        </p:spPr>
        <p:txBody>
          <a:bodyPr wrap="square" lIns="73152" tIns="54864" rIns="73152" bIns="54864" anchor="ctr">
            <a:spAutoFit/>
          </a:bodyPr>
          <a:lstStyle/>
          <a:p>
            <a:pPr algn="l">
              <a:lnSpc>
                <a:spcPts val="1885"/>
              </a:lnSpc>
              <a:spcBef>
                <a:spcPts val="0"/>
              </a:spcBef>
              <a:spcAft>
                <a:spcPts val="0"/>
              </a:spcAft>
            </a:pPr>
            <a:r>
              <a:rPr lang="zh-CN" altLang="en-US" b="0"/>
              <a:t>类人记忆架构，引入工作记忆、长期记忆</a:t>
            </a:r>
            <a:endParaRPr lang="zh-CN" altLang="en-US" b="0"/>
          </a:p>
          <a:p>
            <a:pPr algn="l">
              <a:lnSpc>
                <a:spcPts val="1885"/>
              </a:lnSpc>
              <a:spcBef>
                <a:spcPts val="0"/>
              </a:spcBef>
              <a:spcAft>
                <a:spcPts val="0"/>
              </a:spcAft>
            </a:pPr>
            <a:r>
              <a:rPr lang="zh-CN" altLang="en-US" b="0"/>
              <a:t>模型自主决定“写入”或“读取”</a:t>
            </a:r>
            <a:endParaRPr lang="zh-CN" altLang="en-US" b="0"/>
          </a:p>
        </p:txBody>
      </p:sp>
      <p:sp>
        <p:nvSpPr>
          <p:cNvPr id="55" name="Rounded Rectangle 15"/>
          <p:cNvSpPr/>
          <p:nvPr/>
        </p:nvSpPr>
        <p:spPr>
          <a:xfrm>
            <a:off x="1150620" y="4198620"/>
            <a:ext cx="4176395" cy="1791970"/>
          </a:xfrm>
          <a:prstGeom prst="roundRect">
            <a:avLst>
              <a:gd name="adj" fmla="val 15094"/>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17" descr="image.png"/>
          <p:cNvPicPr>
            <a:picLocks noChangeAspect="1"/>
          </p:cNvPicPr>
          <p:nvPr/>
        </p:nvPicPr>
        <p:blipFill>
          <a:blip r:embed="rId7">
            <a:alphaModFix amt="100000"/>
          </a:blip>
          <a:stretch>
            <a:fillRect/>
          </a:stretch>
        </p:blipFill>
        <p:spPr>
          <a:xfrm>
            <a:off x="1417298" y="4472874"/>
            <a:ext cx="342891" cy="289691"/>
          </a:xfrm>
          <a:prstGeom prst="rect">
            <a:avLst/>
          </a:prstGeom>
        </p:spPr>
      </p:pic>
      <p:sp>
        <p:nvSpPr>
          <p:cNvPr id="58" name="TextBox 18"/>
          <p:cNvSpPr txBox="1"/>
          <p:nvPr/>
        </p:nvSpPr>
        <p:spPr>
          <a:xfrm>
            <a:off x="1874486" y="4429760"/>
            <a:ext cx="1024255" cy="375920"/>
          </a:xfrm>
          <a:prstGeom prst="rect">
            <a:avLst/>
          </a:prstGeom>
          <a:noFill/>
        </p:spPr>
        <p:txBody>
          <a:bodyPr wrap="none" lIns="73152" tIns="54864" rIns="73152" bIns="54864" anchor="ctr">
            <a:spAutoFit/>
          </a:bodyPr>
          <a:lstStyle/>
          <a:p>
            <a:pPr algn="l">
              <a:lnSpc>
                <a:spcPts val="2080"/>
              </a:lnSpc>
              <a:spcBef>
                <a:spcPts val="0"/>
              </a:spcBef>
              <a:spcAft>
                <a:spcPts val="0"/>
              </a:spcAft>
            </a:pPr>
            <a:r>
              <a:rPr lang="en-US" altLang="zh-CN" sz="2000" b="1">
                <a:solidFill>
                  <a:srgbClr val="1F2937"/>
                </a:solidFill>
              </a:rPr>
              <a:t>mem0</a:t>
            </a:r>
            <a:endParaRPr lang="en-US" altLang="zh-CN" sz="2000" b="1">
              <a:solidFill>
                <a:srgbClr val="1F2937"/>
              </a:solidFill>
            </a:endParaRPr>
          </a:p>
        </p:txBody>
      </p:sp>
      <p:sp>
        <p:nvSpPr>
          <p:cNvPr id="59" name="TextBox 19"/>
          <p:cNvSpPr txBox="1"/>
          <p:nvPr/>
        </p:nvSpPr>
        <p:spPr>
          <a:xfrm>
            <a:off x="1417320" y="5028248"/>
            <a:ext cx="2820670" cy="350520"/>
          </a:xfrm>
          <a:prstGeom prst="rect">
            <a:avLst/>
          </a:prstGeom>
          <a:noFill/>
        </p:spPr>
        <p:txBody>
          <a:bodyPr wrap="square" lIns="73152" tIns="54864" rIns="73152" bIns="54864" anchor="ctr">
            <a:spAutoFit/>
          </a:bodyPr>
          <a:lstStyle/>
          <a:p>
            <a:pPr algn="l">
              <a:lnSpc>
                <a:spcPts val="1885"/>
              </a:lnSpc>
              <a:spcBef>
                <a:spcPts val="0"/>
              </a:spcBef>
              <a:spcAft>
                <a:spcPts val="0"/>
              </a:spcAft>
            </a:pPr>
            <a:r>
              <a:rPr lang="zh-CN" altLang="en-US" b="0"/>
              <a:t>轻量级长时记忆框架</a:t>
            </a:r>
            <a:endParaRPr lang="zh-CN" altLang="en-US" b="0"/>
          </a:p>
        </p:txBody>
      </p:sp>
      <p:sp>
        <p:nvSpPr>
          <p:cNvPr id="60" name="Rounded Rectangle 20"/>
          <p:cNvSpPr/>
          <p:nvPr/>
        </p:nvSpPr>
        <p:spPr>
          <a:xfrm>
            <a:off x="6418580" y="4197350"/>
            <a:ext cx="3714750" cy="1790065"/>
          </a:xfrm>
          <a:prstGeom prst="roundRect">
            <a:avLst>
              <a:gd name="adj" fmla="val 15094"/>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22" descr="image.png"/>
          <p:cNvPicPr>
            <a:picLocks noChangeAspect="1"/>
          </p:cNvPicPr>
          <p:nvPr/>
        </p:nvPicPr>
        <p:blipFill>
          <a:blip r:embed="rId8">
            <a:alphaModFix amt="100000"/>
          </a:blip>
          <a:stretch>
            <a:fillRect/>
          </a:stretch>
        </p:blipFill>
        <p:spPr>
          <a:xfrm>
            <a:off x="6685182" y="4483428"/>
            <a:ext cx="342891" cy="266043"/>
          </a:xfrm>
          <a:prstGeom prst="rect">
            <a:avLst/>
          </a:prstGeom>
        </p:spPr>
      </p:pic>
      <p:sp>
        <p:nvSpPr>
          <p:cNvPr id="63" name="TextBox 23"/>
          <p:cNvSpPr txBox="1"/>
          <p:nvPr/>
        </p:nvSpPr>
        <p:spPr>
          <a:xfrm>
            <a:off x="7142370" y="4428490"/>
            <a:ext cx="1920875" cy="375920"/>
          </a:xfrm>
          <a:prstGeom prst="rect">
            <a:avLst/>
          </a:prstGeom>
          <a:noFill/>
        </p:spPr>
        <p:txBody>
          <a:bodyPr wrap="none" lIns="73152" tIns="54864" rIns="73152" bIns="54864" anchor="ctr">
            <a:spAutoFit/>
          </a:bodyPr>
          <a:lstStyle/>
          <a:p>
            <a:pPr algn="l">
              <a:lnSpc>
                <a:spcPts val="2080"/>
              </a:lnSpc>
              <a:spcBef>
                <a:spcPts val="0"/>
              </a:spcBef>
              <a:spcAft>
                <a:spcPts val="0"/>
              </a:spcAft>
            </a:pPr>
            <a:r>
              <a:rPr lang="zh-CN" altLang="en-US" sz="2000" b="1"/>
              <a:t>Claude-Mem</a:t>
            </a:r>
            <a:endParaRPr lang="zh-CN" altLang="en-US" sz="2000" b="1"/>
          </a:p>
        </p:txBody>
      </p:sp>
      <p:sp>
        <p:nvSpPr>
          <p:cNvPr id="64" name="TextBox 24"/>
          <p:cNvSpPr txBox="1"/>
          <p:nvPr/>
        </p:nvSpPr>
        <p:spPr>
          <a:xfrm>
            <a:off x="6690995" y="4940300"/>
            <a:ext cx="3420745" cy="834390"/>
          </a:xfrm>
          <a:prstGeom prst="rect">
            <a:avLst/>
          </a:prstGeom>
          <a:noFill/>
        </p:spPr>
        <p:txBody>
          <a:bodyPr wrap="square" lIns="73152" tIns="54864" rIns="73152" bIns="54864" anchor="ctr">
            <a:spAutoFit/>
          </a:bodyPr>
          <a:lstStyle/>
          <a:p>
            <a:pPr algn="l">
              <a:lnSpc>
                <a:spcPts val="1885"/>
              </a:lnSpc>
              <a:spcBef>
                <a:spcPts val="0"/>
              </a:spcBef>
              <a:spcAft>
                <a:spcPts val="0"/>
              </a:spcAft>
            </a:pPr>
            <a:r>
              <a:rPr lang="zh-CN" altLang="en-US" b="0"/>
              <a:t>通过自动捕获工具使用观察、生成语义摘要并使其可用于未来会话</a:t>
            </a:r>
            <a:r>
              <a:rPr lang="en-US" altLang="zh-CN" b="0"/>
              <a:t>,</a:t>
            </a:r>
            <a:r>
              <a:rPr lang="zh-CN" altLang="en-US" b="0"/>
              <a:t>无缝保留跨会话的上下文</a:t>
            </a:r>
            <a:endParaRPr lang="zh-CN" altLang="en-US" b="0"/>
          </a:p>
        </p:txBody>
      </p:sp>
      <p:sp>
        <p:nvSpPr>
          <p:cNvPr id="2" name="Round Same Side Corner Rectangle 6"/>
          <p:cNvSpPr/>
          <p:nvPr/>
        </p:nvSpPr>
        <p:spPr>
          <a:xfrm rot="16200000">
            <a:off x="341614" y="5027930"/>
            <a:ext cx="1790700" cy="13208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 Same Side Corner Rectangle 11"/>
          <p:cNvSpPr/>
          <p:nvPr/>
        </p:nvSpPr>
        <p:spPr>
          <a:xfrm rot="16200000">
            <a:off x="5609498" y="5026660"/>
            <a:ext cx="1790700" cy="13208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316611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可参考的开源</a:t>
            </a:r>
            <a:r>
              <a:rPr kumimoji="1" lang="zh-CN" altLang="en-US" sz="2400" b="1" spc="200" dirty="0">
                <a:latin typeface="微软雅黑" panose="020B0503020204020204" charset="-122"/>
                <a:ea typeface="微软雅黑" panose="020B0503020204020204" charset="-122"/>
              </a:rPr>
              <a:t>数据集</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33" name="Rounded Rectangle 5"/>
          <p:cNvSpPr/>
          <p:nvPr/>
        </p:nvSpPr>
        <p:spPr>
          <a:xfrm>
            <a:off x="609600" y="1295400"/>
            <a:ext cx="4571365" cy="2336800"/>
          </a:xfrm>
          <a:prstGeom prst="roundRect">
            <a:avLst>
              <a:gd name="adj" fmla="val 10909"/>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 Same Side Corner Rectangle 6"/>
          <p:cNvSpPr/>
          <p:nvPr/>
        </p:nvSpPr>
        <p:spPr>
          <a:xfrm rot="16200000">
            <a:off x="-481965" y="2385695"/>
            <a:ext cx="2313940" cy="13335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7"/>
          <p:cNvSpPr/>
          <p:nvPr/>
        </p:nvSpPr>
        <p:spPr>
          <a:xfrm>
            <a:off x="2590753" y="1523999"/>
            <a:ext cx="609584" cy="609600"/>
          </a:xfrm>
          <a:prstGeom prst="roundRect">
            <a:avLst>
              <a:gd name="adj" fmla="val 31246875"/>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8" descr="image.png"/>
          <p:cNvPicPr>
            <a:picLocks noChangeAspect="1"/>
          </p:cNvPicPr>
          <p:nvPr/>
        </p:nvPicPr>
        <p:blipFill>
          <a:blip r:embed="rId5">
            <a:alphaModFix amt="100000"/>
          </a:blip>
          <a:stretch>
            <a:fillRect/>
          </a:stretch>
        </p:blipFill>
        <p:spPr>
          <a:xfrm>
            <a:off x="2752674" y="1706335"/>
            <a:ext cx="285742" cy="244928"/>
          </a:xfrm>
          <a:prstGeom prst="rect">
            <a:avLst/>
          </a:prstGeom>
        </p:spPr>
      </p:pic>
      <p:sp>
        <p:nvSpPr>
          <p:cNvPr id="37" name="TextBox 9"/>
          <p:cNvSpPr txBox="1"/>
          <p:nvPr/>
        </p:nvSpPr>
        <p:spPr>
          <a:xfrm>
            <a:off x="1800805" y="2234881"/>
            <a:ext cx="2188210" cy="342265"/>
          </a:xfrm>
          <a:prstGeom prst="rect">
            <a:avLst/>
          </a:prstGeom>
          <a:noFill/>
        </p:spPr>
        <p:txBody>
          <a:bodyPr wrap="none" lIns="73152" tIns="54864" rIns="73152" bIns="54864" anchor="ctr">
            <a:spAutoFit/>
          </a:bodyPr>
          <a:lstStyle/>
          <a:p>
            <a:pPr algn="ctr">
              <a:lnSpc>
                <a:spcPts val="1820"/>
              </a:lnSpc>
              <a:spcBef>
                <a:spcPts val="0"/>
              </a:spcBef>
              <a:spcAft>
                <a:spcPts val="780"/>
              </a:spcAft>
            </a:pPr>
            <a:r>
              <a:rPr lang="zh-CN" altLang="en-US" sz="2000" b="1"/>
              <a:t>对话与工具调用类</a:t>
            </a:r>
            <a:endParaRPr lang="zh-CN" altLang="en-US" sz="1195" b="1">
              <a:solidFill>
                <a:srgbClr val="1F2937"/>
              </a:solidFill>
            </a:endParaRPr>
          </a:p>
        </p:txBody>
      </p:sp>
      <p:sp>
        <p:nvSpPr>
          <p:cNvPr id="38" name="TextBox 10"/>
          <p:cNvSpPr txBox="1"/>
          <p:nvPr/>
        </p:nvSpPr>
        <p:spPr>
          <a:xfrm>
            <a:off x="876300" y="2677478"/>
            <a:ext cx="3708400" cy="675640"/>
          </a:xfrm>
          <a:prstGeom prst="rect">
            <a:avLst/>
          </a:prstGeom>
          <a:noFill/>
        </p:spPr>
        <p:txBody>
          <a:bodyPr wrap="square" lIns="73152" tIns="54864" rIns="73152" bIns="54864" anchor="ctr">
            <a:spAutoFit/>
          </a:bodyPr>
          <a:lstStyle/>
          <a:p>
            <a:pPr marL="285750" indent="-285750" algn="l">
              <a:lnSpc>
                <a:spcPts val="1820"/>
              </a:lnSpc>
              <a:spcBef>
                <a:spcPts val="0"/>
              </a:spcBef>
              <a:spcAft>
                <a:spcPts val="780"/>
              </a:spcAft>
              <a:buFont typeface="Arial" panose="020B0604020202020204" pitchFamily="34" charset="0"/>
              <a:buChar char="•"/>
            </a:pPr>
            <a:r>
              <a:rPr lang="zh-CN" altLang="en-US" sz="1600"/>
              <a:t>MultiWOZ（多领域对话数据集）</a:t>
            </a:r>
            <a:endParaRPr lang="zh-CN" altLang="en-US" sz="1600"/>
          </a:p>
          <a:p>
            <a:pPr marL="285750" indent="-285750" algn="l">
              <a:lnSpc>
                <a:spcPts val="1820"/>
              </a:lnSpc>
              <a:spcBef>
                <a:spcPts val="0"/>
              </a:spcBef>
              <a:spcAft>
                <a:spcPts val="780"/>
              </a:spcAft>
              <a:buFont typeface="Arial" panose="020B0604020202020204" pitchFamily="34" charset="0"/>
              <a:buChar char="•"/>
            </a:pPr>
            <a:r>
              <a:rPr lang="zh-CN" altLang="en-US" sz="1600"/>
              <a:t>ToolBench（工具调用基准数据集）</a:t>
            </a:r>
            <a:endParaRPr lang="zh-CN" altLang="en-US" sz="1600">
              <a:solidFill>
                <a:srgbClr val="4B5563"/>
              </a:solidFill>
            </a:endParaRPr>
          </a:p>
        </p:txBody>
      </p:sp>
      <p:sp>
        <p:nvSpPr>
          <p:cNvPr id="47" name="Rounded Rectangle 5"/>
          <p:cNvSpPr/>
          <p:nvPr/>
        </p:nvSpPr>
        <p:spPr>
          <a:xfrm>
            <a:off x="609600" y="4024630"/>
            <a:ext cx="4571365" cy="2336800"/>
          </a:xfrm>
          <a:prstGeom prst="roundRect">
            <a:avLst>
              <a:gd name="adj" fmla="val 10909"/>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 Same Side Corner Rectangle 6"/>
          <p:cNvSpPr/>
          <p:nvPr/>
        </p:nvSpPr>
        <p:spPr>
          <a:xfrm rot="16200000">
            <a:off x="-481965" y="5114925"/>
            <a:ext cx="2313940" cy="13335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7"/>
          <p:cNvSpPr/>
          <p:nvPr/>
        </p:nvSpPr>
        <p:spPr>
          <a:xfrm>
            <a:off x="2590753" y="4253229"/>
            <a:ext cx="609584" cy="609600"/>
          </a:xfrm>
          <a:prstGeom prst="roundRect">
            <a:avLst>
              <a:gd name="adj" fmla="val 31246875"/>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9"/>
          <p:cNvSpPr txBox="1"/>
          <p:nvPr/>
        </p:nvSpPr>
        <p:spPr>
          <a:xfrm>
            <a:off x="1800805" y="4964111"/>
            <a:ext cx="2188210" cy="342265"/>
          </a:xfrm>
          <a:prstGeom prst="rect">
            <a:avLst/>
          </a:prstGeom>
          <a:noFill/>
        </p:spPr>
        <p:txBody>
          <a:bodyPr wrap="none" lIns="73152" tIns="54864" rIns="73152" bIns="54864" anchor="ctr">
            <a:spAutoFit/>
          </a:bodyPr>
          <a:lstStyle/>
          <a:p>
            <a:pPr algn="ctr">
              <a:lnSpc>
                <a:spcPts val="1820"/>
              </a:lnSpc>
              <a:spcBef>
                <a:spcPts val="0"/>
              </a:spcBef>
              <a:spcAft>
                <a:spcPts val="780"/>
              </a:spcAft>
            </a:pPr>
            <a:r>
              <a:rPr lang="zh-CN" altLang="en-US" sz="2000" b="1"/>
              <a:t>用户行为与知识类</a:t>
            </a:r>
            <a:endParaRPr lang="zh-CN" altLang="en-US" sz="1195" b="1">
              <a:solidFill>
                <a:srgbClr val="1F2937"/>
              </a:solidFill>
            </a:endParaRPr>
          </a:p>
        </p:txBody>
      </p:sp>
      <p:sp>
        <p:nvSpPr>
          <p:cNvPr id="52" name="TextBox 10"/>
          <p:cNvSpPr txBox="1"/>
          <p:nvPr/>
        </p:nvSpPr>
        <p:spPr>
          <a:xfrm>
            <a:off x="876300" y="5406708"/>
            <a:ext cx="3708400" cy="675640"/>
          </a:xfrm>
          <a:prstGeom prst="rect">
            <a:avLst/>
          </a:prstGeom>
          <a:noFill/>
        </p:spPr>
        <p:txBody>
          <a:bodyPr wrap="square" lIns="73152" tIns="54864" rIns="73152" bIns="54864" anchor="ctr">
            <a:spAutoFit/>
          </a:bodyPr>
          <a:lstStyle/>
          <a:p>
            <a:pPr marL="285750" indent="-285750" algn="l">
              <a:lnSpc>
                <a:spcPts val="1820"/>
              </a:lnSpc>
              <a:spcBef>
                <a:spcPts val="0"/>
              </a:spcBef>
              <a:spcAft>
                <a:spcPts val="780"/>
              </a:spcAft>
              <a:buFont typeface="Arial" panose="020B0604020202020204" pitchFamily="34" charset="0"/>
              <a:buChar char="•"/>
            </a:pPr>
            <a:r>
              <a:rPr lang="zh-CN" altLang="en-US" sz="1600" b="0"/>
              <a:t>PersonaChat（个性化对话数据集）</a:t>
            </a:r>
            <a:endParaRPr lang="zh-CN" altLang="en-US" sz="1600" b="0"/>
          </a:p>
          <a:p>
            <a:pPr marL="285750" indent="-285750" algn="l">
              <a:lnSpc>
                <a:spcPts val="1820"/>
              </a:lnSpc>
              <a:spcBef>
                <a:spcPts val="0"/>
              </a:spcBef>
              <a:spcAft>
                <a:spcPts val="780"/>
              </a:spcAft>
              <a:buFont typeface="Arial" panose="020B0604020202020204" pitchFamily="34" charset="0"/>
              <a:buChar char="•"/>
            </a:pPr>
            <a:r>
              <a:rPr lang="zh-CN" altLang="en-US" sz="1600" b="0"/>
              <a:t>BPMN公开数据集(企业流程类)</a:t>
            </a:r>
            <a:endParaRPr lang="zh-CN" altLang="en-US" sz="1600" b="0"/>
          </a:p>
        </p:txBody>
      </p:sp>
      <p:pic>
        <p:nvPicPr>
          <p:cNvPr id="53" name="Picture 14" descr="image.png"/>
          <p:cNvPicPr>
            <a:picLocks noChangeAspect="1"/>
          </p:cNvPicPr>
          <p:nvPr/>
        </p:nvPicPr>
        <p:blipFill>
          <a:blip r:embed="rId6">
            <a:alphaModFix amt="100000"/>
          </a:blip>
          <a:stretch>
            <a:fillRect/>
          </a:stretch>
        </p:blipFill>
        <p:spPr>
          <a:xfrm>
            <a:off x="2752591" y="4467639"/>
            <a:ext cx="285742" cy="180780"/>
          </a:xfrm>
          <a:prstGeom prst="rect">
            <a:avLst/>
          </a:prstGeom>
        </p:spPr>
      </p:pic>
      <p:sp>
        <p:nvSpPr>
          <p:cNvPr id="54" name="Rounded Rectangle 5"/>
          <p:cNvSpPr/>
          <p:nvPr/>
        </p:nvSpPr>
        <p:spPr>
          <a:xfrm>
            <a:off x="6270625" y="1295400"/>
            <a:ext cx="4571365" cy="2571115"/>
          </a:xfrm>
          <a:prstGeom prst="roundRect">
            <a:avLst>
              <a:gd name="adj" fmla="val 10909"/>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 Same Side Corner Rectangle 6"/>
          <p:cNvSpPr/>
          <p:nvPr/>
        </p:nvSpPr>
        <p:spPr>
          <a:xfrm rot="16200000">
            <a:off x="5059680" y="2506980"/>
            <a:ext cx="2554605" cy="132080"/>
          </a:xfrm>
          <a:prstGeom prst="round2SameRect">
            <a:avLst>
              <a:gd name="adj1" fmla="val 50000"/>
              <a:gd name="adj2" fmla="val 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7"/>
          <p:cNvSpPr/>
          <p:nvPr/>
        </p:nvSpPr>
        <p:spPr>
          <a:xfrm>
            <a:off x="8251778" y="1523999"/>
            <a:ext cx="609584" cy="609600"/>
          </a:xfrm>
          <a:prstGeom prst="roundRect">
            <a:avLst>
              <a:gd name="adj" fmla="val 31246875"/>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8" descr="image.png"/>
          <p:cNvPicPr>
            <a:picLocks noChangeAspect="1"/>
          </p:cNvPicPr>
          <p:nvPr/>
        </p:nvPicPr>
        <p:blipFill>
          <a:blip r:embed="rId5">
            <a:alphaModFix amt="100000"/>
          </a:blip>
          <a:stretch>
            <a:fillRect/>
          </a:stretch>
        </p:blipFill>
        <p:spPr>
          <a:xfrm>
            <a:off x="8413699" y="1706335"/>
            <a:ext cx="285742" cy="244928"/>
          </a:xfrm>
          <a:prstGeom prst="rect">
            <a:avLst/>
          </a:prstGeom>
        </p:spPr>
      </p:pic>
      <p:sp>
        <p:nvSpPr>
          <p:cNvPr id="58" name="TextBox 9"/>
          <p:cNvSpPr txBox="1"/>
          <p:nvPr/>
        </p:nvSpPr>
        <p:spPr>
          <a:xfrm>
            <a:off x="7844735" y="2234881"/>
            <a:ext cx="1422400" cy="342265"/>
          </a:xfrm>
          <a:prstGeom prst="rect">
            <a:avLst/>
          </a:prstGeom>
          <a:noFill/>
        </p:spPr>
        <p:txBody>
          <a:bodyPr wrap="none" lIns="73152" tIns="54864" rIns="73152" bIns="54864" anchor="ctr">
            <a:spAutoFit/>
          </a:bodyPr>
          <a:lstStyle/>
          <a:p>
            <a:pPr algn="ctr">
              <a:lnSpc>
                <a:spcPts val="1820"/>
              </a:lnSpc>
              <a:spcBef>
                <a:spcPts val="0"/>
              </a:spcBef>
              <a:spcAft>
                <a:spcPts val="780"/>
              </a:spcAft>
            </a:pPr>
            <a:r>
              <a:rPr lang="zh-CN" altLang="en-US" sz="2000" b="1"/>
              <a:t>量化评测类</a:t>
            </a:r>
            <a:endParaRPr lang="zh-CN" altLang="en-US" sz="1195" b="1">
              <a:solidFill>
                <a:srgbClr val="1F2937"/>
              </a:solidFill>
            </a:endParaRPr>
          </a:p>
        </p:txBody>
      </p:sp>
      <p:sp>
        <p:nvSpPr>
          <p:cNvPr id="59" name="TextBox 10"/>
          <p:cNvSpPr txBox="1"/>
          <p:nvPr/>
        </p:nvSpPr>
        <p:spPr>
          <a:xfrm>
            <a:off x="6537325" y="2671763"/>
            <a:ext cx="3898900" cy="1142365"/>
          </a:xfrm>
          <a:prstGeom prst="rect">
            <a:avLst/>
          </a:prstGeom>
          <a:noFill/>
        </p:spPr>
        <p:txBody>
          <a:bodyPr wrap="square" lIns="73152" tIns="54864" rIns="73152" bIns="54864" anchor="ctr">
            <a:spAutoFit/>
          </a:bodyPr>
          <a:lstStyle/>
          <a:p>
            <a:pPr marL="285750" indent="-285750" algn="l">
              <a:lnSpc>
                <a:spcPts val="1820"/>
              </a:lnSpc>
              <a:spcBef>
                <a:spcPts val="0"/>
              </a:spcBef>
              <a:spcAft>
                <a:spcPts val="780"/>
              </a:spcAft>
              <a:buFont typeface="Arial" panose="020B0604020202020204" pitchFamily="34" charset="0"/>
              <a:buChar char="•"/>
            </a:pPr>
            <a:r>
              <a:rPr lang="zh-CN" altLang="en-US" sz="1600"/>
              <a:t>对话系统评测数据集（如</a:t>
            </a:r>
            <a:r>
              <a:rPr lang="en-US" altLang="zh-CN" sz="1600"/>
              <a:t>DIALOGUE</a:t>
            </a:r>
            <a:r>
              <a:rPr lang="zh-CN" altLang="en-US" sz="1600"/>
              <a:t>、</a:t>
            </a:r>
            <a:r>
              <a:rPr lang="en-US" altLang="zh-CN" sz="1600"/>
              <a:t>DailyDialog</a:t>
            </a:r>
            <a:r>
              <a:rPr lang="zh-CN" altLang="en-US" sz="1600"/>
              <a:t>）</a:t>
            </a:r>
            <a:endParaRPr lang="zh-CN" altLang="en-US" sz="1600"/>
          </a:p>
          <a:p>
            <a:pPr marL="285750" indent="-285750" algn="l">
              <a:lnSpc>
                <a:spcPts val="1820"/>
              </a:lnSpc>
              <a:spcBef>
                <a:spcPts val="0"/>
              </a:spcBef>
              <a:spcAft>
                <a:spcPts val="780"/>
              </a:spcAft>
              <a:buFont typeface="Arial" panose="020B0604020202020204" pitchFamily="34" charset="0"/>
              <a:buChar char="•"/>
            </a:pPr>
            <a:r>
              <a:rPr lang="zh-CN" altLang="en-US" sz="1600"/>
              <a:t>知识检索评测数据集（如TREC、MS MARCO）</a:t>
            </a:r>
            <a:endParaRPr lang="zh-CN" altLang="en-US" sz="1600"/>
          </a:p>
        </p:txBody>
      </p:sp>
      <p:sp>
        <p:nvSpPr>
          <p:cNvPr id="60" name="Rounded Rectangle 17"/>
          <p:cNvSpPr/>
          <p:nvPr/>
        </p:nvSpPr>
        <p:spPr>
          <a:xfrm>
            <a:off x="6169025" y="4648200"/>
            <a:ext cx="4267200" cy="1386840"/>
          </a:xfrm>
          <a:prstGeom prst="roundRect">
            <a:avLst>
              <a:gd name="adj" fmla="val 7717"/>
            </a:avLst>
          </a:prstGeom>
          <a:gradFill rotWithShape="1">
            <a:gsLst>
              <a:gs pos="0">
                <a:srgbClr val="FFFBEB"/>
              </a:gs>
              <a:gs pos="100000">
                <a:srgbClr val="FFF7ED"/>
              </a:gs>
            </a:gsLst>
            <a:lin ang="8100000" scaled="0"/>
          </a:gradFill>
          <a:ln w="16510">
            <a:solidFill>
              <a:srgbClr val="FCD34D"/>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28" descr="image.png"/>
          <p:cNvPicPr>
            <a:picLocks noChangeAspect="1"/>
          </p:cNvPicPr>
          <p:nvPr/>
        </p:nvPicPr>
        <p:blipFill>
          <a:blip r:embed="rId7">
            <a:alphaModFix amt="100000"/>
          </a:blip>
          <a:stretch>
            <a:fillRect/>
          </a:stretch>
        </p:blipFill>
        <p:spPr>
          <a:xfrm>
            <a:off x="6457950" y="5599430"/>
            <a:ext cx="265430" cy="226695"/>
          </a:xfrm>
          <a:prstGeom prst="rect">
            <a:avLst/>
          </a:prstGeom>
        </p:spPr>
      </p:pic>
      <p:sp>
        <p:nvSpPr>
          <p:cNvPr id="70" name="TextBox 29"/>
          <p:cNvSpPr txBox="1"/>
          <p:nvPr/>
        </p:nvSpPr>
        <p:spPr>
          <a:xfrm>
            <a:off x="6787953" y="5583873"/>
            <a:ext cx="3213100" cy="309245"/>
          </a:xfrm>
          <a:prstGeom prst="rect">
            <a:avLst/>
          </a:prstGeom>
          <a:noFill/>
        </p:spPr>
        <p:txBody>
          <a:bodyPr wrap="none" lIns="73152" tIns="54864" rIns="73152" bIns="54864" anchor="ctr">
            <a:spAutoFit/>
          </a:bodyPr>
          <a:lstStyle/>
          <a:p>
            <a:pPr algn="l">
              <a:lnSpc>
                <a:spcPts val="1560"/>
              </a:lnSpc>
              <a:spcBef>
                <a:spcPts val="0"/>
              </a:spcBef>
              <a:spcAft>
                <a:spcPts val="0"/>
              </a:spcAft>
            </a:pPr>
            <a:r>
              <a:rPr lang="zh-CN" altLang="en-US" sz="1600" b="1">
                <a:solidFill>
                  <a:srgbClr val="FF0000"/>
                </a:solidFill>
              </a:rPr>
              <a:t>参赛团队应确保数据来源合法合规</a:t>
            </a:r>
            <a:endParaRPr lang="zh-CN" altLang="en-US" sz="1600" b="1">
              <a:solidFill>
                <a:srgbClr val="FF0000"/>
              </a:solidFill>
            </a:endParaRPr>
          </a:p>
        </p:txBody>
      </p:sp>
      <p:pic>
        <p:nvPicPr>
          <p:cNvPr id="71" name="Picture 18" descr="image.png"/>
          <p:cNvPicPr>
            <a:picLocks noChangeAspect="1"/>
          </p:cNvPicPr>
          <p:nvPr/>
        </p:nvPicPr>
        <p:blipFill>
          <a:blip r:embed="rId8">
            <a:alphaModFix amt="100000"/>
          </a:blip>
          <a:stretch>
            <a:fillRect/>
          </a:stretch>
        </p:blipFill>
        <p:spPr>
          <a:xfrm>
            <a:off x="6457759" y="5046837"/>
            <a:ext cx="285742" cy="268255"/>
          </a:xfrm>
          <a:prstGeom prst="rect">
            <a:avLst/>
          </a:prstGeom>
        </p:spPr>
      </p:pic>
      <p:sp>
        <p:nvSpPr>
          <p:cNvPr id="72" name="TextBox 29"/>
          <p:cNvSpPr txBox="1"/>
          <p:nvPr/>
        </p:nvSpPr>
        <p:spPr>
          <a:xfrm>
            <a:off x="6788150" y="4862513"/>
            <a:ext cx="3389630" cy="509270"/>
          </a:xfrm>
          <a:prstGeom prst="rect">
            <a:avLst/>
          </a:prstGeom>
          <a:noFill/>
        </p:spPr>
        <p:txBody>
          <a:bodyPr wrap="square" lIns="73152" tIns="54864" rIns="73152" bIns="54864" anchor="ctr">
            <a:spAutoFit/>
          </a:bodyPr>
          <a:lstStyle/>
          <a:p>
            <a:pPr algn="l">
              <a:lnSpc>
                <a:spcPts val="1560"/>
              </a:lnSpc>
              <a:spcBef>
                <a:spcPts val="0"/>
              </a:spcBef>
              <a:spcAft>
                <a:spcPts val="0"/>
              </a:spcAft>
            </a:pPr>
            <a:r>
              <a:rPr lang="zh-CN" altLang="en-US" sz="1600" b="1">
                <a:solidFill>
                  <a:schemeClr val="tx1"/>
                </a:solidFill>
              </a:rPr>
              <a:t>可结合开源数据集，并针对系统级使用场景自建数据集</a:t>
            </a:r>
            <a:endParaRPr lang="zh-CN" altLang="en-US" sz="1600" b="1">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183388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可参考</a:t>
            </a:r>
            <a:r>
              <a:rPr kumimoji="1" lang="zh-CN" altLang="en-US" sz="2400" b="1" spc="200" dirty="0">
                <a:latin typeface="微软雅黑" panose="020B0503020204020204" charset="-122"/>
                <a:ea typeface="微软雅黑" panose="020B0503020204020204" charset="-122"/>
              </a:rPr>
              <a:t>框架</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graphicFrame>
        <p:nvGraphicFramePr>
          <p:cNvPr id="2" name="表格 1"/>
          <p:cNvGraphicFramePr/>
          <p:nvPr/>
        </p:nvGraphicFramePr>
        <p:xfrm>
          <a:off x="578803" y="1171795"/>
          <a:ext cx="11033125" cy="5448300"/>
        </p:xfrm>
        <a:graphic>
          <a:graphicData uri="http://schemas.openxmlformats.org/drawingml/2006/table">
            <a:tbl>
              <a:tblPr firstRow="1" firstCol="1" bandCol="1">
                <a:tableStyleId>{10DB61DB-8E41-4F6B-911D-56BE060C25D2}</a:tableStyleId>
              </a:tblPr>
              <a:tblGrid>
                <a:gridCol w="1850390"/>
                <a:gridCol w="3607435"/>
                <a:gridCol w="5575300"/>
              </a:tblGrid>
              <a:tr h="723900">
                <a:tc>
                  <a:txBody>
                    <a:bodyPr/>
                    <a:p>
                      <a:pPr algn="ctr">
                        <a:lnSpc>
                          <a:spcPct val="120000"/>
                        </a:lnSpc>
                      </a:pPr>
                      <a:r>
                        <a:rPr lang="zh-CN" altLang="en-US" sz="2000" b="1" spc="130">
                          <a:solidFill>
                            <a:schemeClr val="bg1"/>
                          </a:solidFill>
                        </a:rPr>
                        <a:t>开发环节</a:t>
                      </a:r>
                      <a:endParaRPr lang="zh-CN" altLang="en-US" sz="2000" b="1" spc="130">
                        <a:solidFill>
                          <a:schemeClr val="bg1"/>
                        </a:solidFill>
                      </a:endParaRPr>
                    </a:p>
                  </a:txBody>
                  <a:tcPr marL="254000" marR="254000" marT="177800" marB="177800" anchor="ctr" anchorCtr="0"/>
                </a:tc>
                <a:tc>
                  <a:txBody>
                    <a:bodyPr/>
                    <a:p>
                      <a:pPr algn="ctr">
                        <a:lnSpc>
                          <a:spcPct val="120000"/>
                        </a:lnSpc>
                      </a:pPr>
                      <a:r>
                        <a:rPr lang="zh-CN" altLang="en-US" sz="2000" b="1" spc="130"/>
                        <a:t>推荐技术</a:t>
                      </a:r>
                      <a:r>
                        <a:rPr lang="en-US" altLang="zh-CN" sz="2000" b="1" spc="130"/>
                        <a:t>/</a:t>
                      </a:r>
                      <a:r>
                        <a:rPr lang="zh-CN" altLang="en-US" sz="2000" b="1" spc="130"/>
                        <a:t>框架</a:t>
                      </a:r>
                      <a:endParaRPr lang="zh-CN" altLang="en-US" sz="2000" b="1" spc="130"/>
                    </a:p>
                  </a:txBody>
                  <a:tcPr marL="254000" marR="254000" marT="177800" marB="177800" anchor="ctr" anchorCtr="0"/>
                </a:tc>
                <a:tc>
                  <a:txBody>
                    <a:bodyPr/>
                    <a:p>
                      <a:pPr algn="ctr">
                        <a:lnSpc>
                          <a:spcPct val="120000"/>
                        </a:lnSpc>
                      </a:pPr>
                      <a:r>
                        <a:rPr lang="zh-CN" altLang="en-US" sz="2000" b="1" spc="130"/>
                        <a:t>官方资源链接</a:t>
                      </a:r>
                      <a:endParaRPr lang="zh-CN" altLang="en-US" sz="2000" b="1" spc="130"/>
                    </a:p>
                  </a:txBody>
                  <a:tcPr marL="254000" marR="254000" marT="177800" marB="177800" anchor="ctr" anchorCtr="0"/>
                </a:tc>
              </a:tr>
              <a:tr h="684530">
                <a:tc>
                  <a:txBody>
                    <a:bodyPr/>
                    <a:p>
                      <a:pPr algn="l">
                        <a:lnSpc>
                          <a:spcPct val="120000"/>
                        </a:lnSpc>
                      </a:pPr>
                      <a:r>
                        <a:rPr lang="zh-CN" altLang="en-US" sz="1800"/>
                        <a:t>后端开发</a:t>
                      </a:r>
                      <a:endParaRPr lang="zh-CN" altLang="en-US" sz="1800"/>
                    </a:p>
                  </a:txBody>
                  <a:tcPr marL="254000" marR="254000" marT="177800" marB="177800" anchor="ctr" anchorCtr="0"/>
                </a:tc>
                <a:tc>
                  <a:txBody>
                    <a:bodyPr/>
                    <a:p>
                      <a:pPr algn="l">
                        <a:lnSpc>
                          <a:spcPct val="120000"/>
                        </a:lnSpc>
                      </a:pPr>
                      <a:r>
                        <a:rPr lang="en-US" altLang="zh-CN" sz="1800"/>
                        <a:t>Python / C++ / Rust</a:t>
                      </a:r>
                      <a:r>
                        <a:rPr lang="zh-CN" altLang="en-US" sz="1800">
                          <a:ea typeface="宋体" panose="02010600030101010101" pitchFamily="2" charset="-122"/>
                        </a:rPr>
                        <a:t>等</a:t>
                      </a:r>
                      <a:endParaRPr lang="zh-CN" altLang="en-US" sz="1800">
                        <a:ea typeface="宋体" panose="02010600030101010101" pitchFamily="2" charset="-122"/>
                      </a:endParaRPr>
                    </a:p>
                  </a:txBody>
                  <a:tcPr marL="254000" marR="254000" marT="177800" marB="177800" anchor="ctr" anchorCtr="0"/>
                </a:tc>
                <a:tc>
                  <a:txBody>
                    <a:bodyPr/>
                    <a:p>
                      <a:pPr algn="l">
                        <a:lnSpc>
                          <a:spcPct val="120000"/>
                        </a:lnSpc>
                      </a:pPr>
                      <a:r>
                        <a:rPr lang="en-US" altLang="zh-CN" sz="1800"/>
                        <a:t>https://docs.python.org</a:t>
                      </a:r>
                      <a:endParaRPr lang="en-US" altLang="zh-CN" sz="1800"/>
                    </a:p>
                    <a:p>
                      <a:pPr algn="l">
                        <a:lnSpc>
                          <a:spcPct val="120000"/>
                        </a:lnSpc>
                      </a:pPr>
                      <a:r>
                        <a:rPr lang="en-US" altLang="zh-CN" sz="1800"/>
                        <a:t>https://doc.rust-lang.org</a:t>
                      </a:r>
                      <a:endParaRPr lang="en-US" altLang="zh-CN" sz="1800"/>
                    </a:p>
                    <a:p>
                      <a:pPr algn="l">
                        <a:lnSpc>
                          <a:spcPct val="120000"/>
                        </a:lnSpc>
                      </a:pPr>
                      <a:r>
                        <a:rPr lang="en-US" altLang="zh-CN" sz="1800"/>
                        <a:t>https://en.cppreference.com/cpp</a:t>
                      </a:r>
                      <a:endParaRPr lang="en-US" altLang="zh-CN" sz="1800"/>
                    </a:p>
                  </a:txBody>
                  <a:tcPr marL="254000" marR="254000" marT="177800" marB="177800" anchor="ctr" anchorCtr="0"/>
                </a:tc>
              </a:tr>
              <a:tr h="993775">
                <a:tc>
                  <a:txBody>
                    <a:bodyPr/>
                    <a:p>
                      <a:pPr algn="l">
                        <a:lnSpc>
                          <a:spcPct val="120000"/>
                        </a:lnSpc>
                      </a:pPr>
                      <a:r>
                        <a:rPr lang="zh-CN" altLang="en-US" sz="1800"/>
                        <a:t>向量数据库</a:t>
                      </a:r>
                      <a:endParaRPr lang="zh-CN" altLang="en-US" sz="1800"/>
                    </a:p>
                  </a:txBody>
                  <a:tcPr marL="254000" marR="254000" marT="177800" marB="177800" anchor="ctr" anchorCtr="0"/>
                </a:tc>
                <a:tc>
                  <a:txBody>
                    <a:bodyPr/>
                    <a:p>
                      <a:pPr algn="l">
                        <a:lnSpc>
                          <a:spcPct val="120000"/>
                        </a:lnSpc>
                      </a:pPr>
                      <a:r>
                        <a:rPr lang="zh-CN" altLang="en-US" sz="1800">
                          <a:ea typeface="宋体" panose="02010600030101010101" pitchFamily="2" charset="-122"/>
                        </a:rPr>
                        <a:t>系统的向量数据库</a:t>
                      </a:r>
                      <a:r>
                        <a:rPr lang="en-US" altLang="zh-CN" sz="1800">
                          <a:ea typeface="宋体" panose="02010600030101010101" pitchFamily="2" charset="-122"/>
                        </a:rPr>
                        <a:t>SDK</a:t>
                      </a:r>
                      <a:endParaRPr lang="en-US" altLang="zh-CN" sz="1800">
                        <a:ea typeface="宋体" panose="02010600030101010101" pitchFamily="2" charset="-122"/>
                      </a:endParaRPr>
                    </a:p>
                    <a:p>
                      <a:pPr algn="l">
                        <a:lnSpc>
                          <a:spcPct val="120000"/>
                        </a:lnSpc>
                      </a:pPr>
                      <a:r>
                        <a:rPr lang="zh-CN" altLang="en-US" sz="1800">
                          <a:ea typeface="宋体" panose="02010600030101010101" pitchFamily="2" charset="-122"/>
                        </a:rPr>
                        <a:t>（</a:t>
                      </a:r>
                      <a:r>
                        <a:rPr lang="en-US" altLang="zh-CN" sz="1800">
                          <a:ea typeface="宋体" panose="02010600030101010101" pitchFamily="2" charset="-122"/>
                        </a:rPr>
                        <a:t>kylin-ai-vector-engine</a:t>
                      </a:r>
                      <a:r>
                        <a:rPr lang="zh-CN" altLang="en-US" sz="1800">
                          <a:ea typeface="宋体" panose="02010600030101010101" pitchFamily="2" charset="-122"/>
                        </a:rPr>
                        <a:t>）</a:t>
                      </a:r>
                      <a:endParaRPr lang="zh-CN" altLang="en-US" sz="1800">
                        <a:ea typeface="宋体" panose="02010600030101010101" pitchFamily="2" charset="-122"/>
                      </a:endParaRPr>
                    </a:p>
                  </a:txBody>
                  <a:tcPr marL="254000" marR="254000" marT="177800" marB="177800" anchor="ctr" anchorCtr="0"/>
                </a:tc>
                <a:tc>
                  <a:txBody>
                    <a:bodyPr/>
                    <a:p>
                      <a:pPr algn="l">
                        <a:lnSpc>
                          <a:spcPct val="120000"/>
                        </a:lnSpc>
                      </a:pPr>
                      <a:r>
                        <a:rPr lang="en-US" altLang="zh-CN" sz="1800"/>
                        <a:t>https://gitee.com/openkylin/libkysdk-vector-engine-client/tree/openkylin/nile-sp2/demo/client</a:t>
                      </a:r>
                      <a:endParaRPr lang="en-US" altLang="zh-CN" sz="1800"/>
                    </a:p>
                  </a:txBody>
                  <a:tcPr marL="254000" marR="254000" marT="177800" marB="177800" anchor="ctr" anchorCtr="0"/>
                </a:tc>
              </a:tr>
              <a:tr h="684530">
                <a:tc>
                  <a:txBody>
                    <a:bodyPr/>
                    <a:p>
                      <a:pPr algn="l">
                        <a:lnSpc>
                          <a:spcPct val="120000"/>
                        </a:lnSpc>
                      </a:pPr>
                      <a:r>
                        <a:rPr lang="zh-CN" altLang="en-US" sz="1800"/>
                        <a:t>文本向量化</a:t>
                      </a:r>
                      <a:endParaRPr lang="zh-CN" altLang="en-US" sz="1800"/>
                    </a:p>
                  </a:txBody>
                  <a:tcPr marL="254000" marR="254000" marT="177800" marB="177800" anchor="ctr" anchorCtr="0"/>
                </a:tc>
                <a:tc>
                  <a:txBody>
                    <a:bodyPr/>
                    <a:p>
                      <a:pPr algn="l">
                        <a:lnSpc>
                          <a:spcPct val="120000"/>
                        </a:lnSpc>
                      </a:pPr>
                      <a:r>
                        <a:rPr lang="zh-CN" altLang="en-US" sz="1800"/>
                        <a:t>系统的</a:t>
                      </a:r>
                      <a:r>
                        <a:rPr lang="en-US" altLang="zh-CN" sz="1800"/>
                        <a:t>Embedding </a:t>
                      </a:r>
                      <a:r>
                        <a:rPr lang="zh-CN" altLang="en-US" sz="1800">
                          <a:ea typeface="宋体" panose="02010600030101010101" pitchFamily="2" charset="-122"/>
                        </a:rPr>
                        <a:t>接口</a:t>
                      </a:r>
                      <a:endParaRPr lang="zh-CN" altLang="en-US" sz="1800">
                        <a:ea typeface="宋体" panose="02010600030101010101" pitchFamily="2" charset="-122"/>
                      </a:endParaRPr>
                    </a:p>
                    <a:p>
                      <a:pPr algn="l">
                        <a:lnSpc>
                          <a:spcPct val="120000"/>
                        </a:lnSpc>
                      </a:pPr>
                      <a:r>
                        <a:rPr lang="zh-CN" altLang="en-US" sz="1800">
                          <a:ea typeface="宋体" panose="02010600030101010101" pitchFamily="2" charset="-122"/>
                        </a:rPr>
                        <a:t>（</a:t>
                      </a:r>
                      <a:r>
                        <a:rPr lang="en-US" altLang="zh-CN" sz="1800">
                          <a:ea typeface="宋体" panose="02010600030101010101" pitchFamily="2" charset="-122"/>
                        </a:rPr>
                        <a:t>kylin-coreai-embedding</a:t>
                      </a:r>
                      <a:r>
                        <a:rPr lang="zh-CN" altLang="en-US" sz="1800">
                          <a:ea typeface="宋体" panose="02010600030101010101" pitchFamily="2" charset="-122"/>
                        </a:rPr>
                        <a:t>）</a:t>
                      </a:r>
                      <a:endParaRPr lang="zh-CN" altLang="en-US" sz="1800">
                        <a:ea typeface="宋体" panose="02010600030101010101" pitchFamily="2" charset="-122"/>
                      </a:endParaRPr>
                    </a:p>
                  </a:txBody>
                  <a:tcPr marL="254000" marR="254000" marT="177800" marB="177800" anchor="ctr" anchorCtr="0"/>
                </a:tc>
                <a:tc>
                  <a:txBody>
                    <a:bodyPr/>
                    <a:p>
                      <a:pPr algn="l">
                        <a:lnSpc>
                          <a:spcPct val="120000"/>
                        </a:lnSpc>
                      </a:pPr>
                      <a:r>
                        <a:rPr lang="en-US" altLang="zh-CN" sz="1800"/>
                        <a:t>https://gitee.com/openkylin/kylin-coreai-embedding/blob/openkylin/nile-sp2/test/testEmbeddingApi.cpp</a:t>
                      </a:r>
                      <a:endParaRPr lang="en-US" altLang="zh-CN" sz="1800"/>
                    </a:p>
                  </a:txBody>
                  <a:tcPr marL="254000" marR="254000" marT="177800" marB="177800" anchor="ctr" anchorCtr="0"/>
                </a:tc>
              </a:tr>
            </a:tbl>
          </a:graphicData>
        </a:graphic>
      </p:graphicFrame>
      <p:sp>
        <p:nvSpPr>
          <p:cNvPr id="5" name="文本框 4"/>
          <p:cNvSpPr txBox="1"/>
          <p:nvPr/>
        </p:nvSpPr>
        <p:spPr>
          <a:xfrm>
            <a:off x="4572000" y="666750"/>
            <a:ext cx="3048000" cy="368300"/>
          </a:xfrm>
          <a:prstGeom prst="rect">
            <a:avLst/>
          </a:prstGeom>
          <a:noFill/>
        </p:spPr>
        <p:txBody>
          <a:bodyPr wrap="square" rtlCol="0">
            <a:spAutoFit/>
          </a:bodyPr>
          <a:p>
            <a:r>
              <a:rPr lang="zh-CN" altLang="en-US" b="1" i="1">
                <a:solidFill>
                  <a:srgbClr val="FF0000"/>
                </a:solidFill>
                <a:latin typeface="微软雅黑" panose="020B0503020204020204" charset="-122"/>
                <a:ea typeface="微软雅黑" panose="020B0503020204020204" charset="-122"/>
                <a:sym typeface="+mn-ea"/>
              </a:rPr>
              <a:t>具体</a:t>
            </a:r>
            <a:r>
              <a:rPr lang="zh-CN" altLang="en-US" b="1" i="1">
                <a:solidFill>
                  <a:srgbClr val="FF0000"/>
                </a:solidFill>
                <a:latin typeface="微软雅黑" panose="020B0503020204020204" charset="-122"/>
                <a:ea typeface="微软雅黑" panose="020B0503020204020204" charset="-122"/>
                <a:sym typeface="+mn-ea"/>
              </a:rPr>
              <a:t>编程语言不做限制！</a:t>
            </a:r>
            <a:endParaRPr lang="zh-CN" altLang="en-US" b="1" i="1">
              <a:solidFill>
                <a:srgbClr val="FF00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710451" y="2489771"/>
            <a:ext cx="2011680" cy="1198880"/>
          </a:xfrm>
          <a:prstGeom prst="rect">
            <a:avLst/>
          </a:prstGeom>
          <a:noFill/>
        </p:spPr>
        <p:txBody>
          <a:bodyPr wrap="none" rtlCol="0">
            <a:spAutoFit/>
          </a:bodyPr>
          <a:lstStyle/>
          <a:p>
            <a:r>
              <a:rPr lang="zh-CN" altLang="en-US" sz="7200" b="1" dirty="0">
                <a:solidFill>
                  <a:srgbClr val="CA1F25"/>
                </a:solidFill>
                <a:latin typeface="微软雅黑" panose="020B0503020204020204" charset="-122"/>
                <a:ea typeface="微软雅黑" panose="020B0503020204020204" charset="-122"/>
              </a:rPr>
              <a:t>目录</a:t>
            </a:r>
            <a:endParaRPr lang="zh-CN" altLang="en-US" sz="7200" b="1" dirty="0">
              <a:solidFill>
                <a:srgbClr val="CA1F25"/>
              </a:solidFill>
              <a:latin typeface="微软雅黑" panose="020B0503020204020204" charset="-122"/>
              <a:ea typeface="微软雅黑" panose="020B0503020204020204" charset="-122"/>
            </a:endParaRPr>
          </a:p>
        </p:txBody>
      </p:sp>
      <p:grpSp>
        <p:nvGrpSpPr>
          <p:cNvPr id="15" name="组合 14"/>
          <p:cNvGrpSpPr/>
          <p:nvPr>
            <p:custDataLst>
              <p:tags r:id="rId1"/>
            </p:custDataLst>
          </p:nvPr>
        </p:nvGrpSpPr>
        <p:grpSpPr>
          <a:xfrm>
            <a:off x="3907155" y="1466850"/>
            <a:ext cx="4669790" cy="720090"/>
            <a:chOff x="5148" y="3225"/>
            <a:chExt cx="7354" cy="1134"/>
          </a:xfrm>
        </p:grpSpPr>
        <p:sp>
          <p:nvSpPr>
            <p:cNvPr id="51" name="文本框 50"/>
            <p:cNvSpPr txBox="1"/>
            <p:nvPr>
              <p:custDataLst>
                <p:tags r:id="rId2"/>
              </p:custDataLst>
            </p:nvPr>
          </p:nvSpPr>
          <p:spPr>
            <a:xfrm>
              <a:off x="6834" y="3225"/>
              <a:ext cx="5669" cy="1134"/>
            </a:xfrm>
            <a:prstGeom prst="rect">
              <a:avLst/>
            </a:prstGeom>
            <a:noFill/>
          </p:spPr>
          <p:txBody>
            <a:bodyPr wrap="square" rtlCol="0">
              <a:noAutofit/>
              <a:scene3d>
                <a:camera prst="orthographicFront"/>
                <a:lightRig rig="threePt" dir="t"/>
              </a:scene3d>
              <a:sp3d contourW="12700"/>
            </a:bodyPr>
            <a:lstStyle/>
            <a:p>
              <a:pPr algn="l"/>
              <a:r>
                <a:rPr lang="zh-CN" altLang="en-US" sz="2500" b="1" dirty="0">
                  <a:solidFill>
                    <a:schemeClr val="tx1"/>
                  </a:solidFill>
                  <a:latin typeface="Arial" panose="020B0604020202020204" pitchFamily="34" charset="0"/>
                  <a:ea typeface="微软雅黑" panose="020B0503020204020204" charset="-122"/>
                  <a:cs typeface="+mn-ea"/>
                  <a:sym typeface="+mn-ea"/>
                </a:rPr>
                <a:t>赛题背景与需求</a:t>
              </a:r>
              <a:endParaRPr lang="zh-CN" altLang="en-US" sz="2500" b="1" dirty="0">
                <a:solidFill>
                  <a:schemeClr val="tx1"/>
                </a:solidFill>
                <a:latin typeface="Arial" panose="020B0604020202020204" pitchFamily="34" charset="0"/>
                <a:ea typeface="微软雅黑" panose="020B0503020204020204" charset="-122"/>
                <a:cs typeface="+mn-ea"/>
                <a:sym typeface="+mn-ea"/>
              </a:endParaRPr>
            </a:p>
          </p:txBody>
        </p:sp>
        <p:grpSp>
          <p:nvGrpSpPr>
            <p:cNvPr id="8" name="组合 7"/>
            <p:cNvGrpSpPr/>
            <p:nvPr>
              <p:custDataLst>
                <p:tags r:id="rId3"/>
              </p:custDataLst>
            </p:nvPr>
          </p:nvGrpSpPr>
          <p:grpSpPr>
            <a:xfrm>
              <a:off x="5148" y="3225"/>
              <a:ext cx="1098" cy="1062"/>
              <a:chOff x="6115" y="4115"/>
              <a:chExt cx="1098" cy="1062"/>
            </a:xfrm>
          </p:grpSpPr>
          <p:sp>
            <p:nvSpPr>
              <p:cNvPr id="46" name="椭圆 45"/>
              <p:cNvSpPr/>
              <p:nvPr>
                <p:custDataLst>
                  <p:tags r:id="rId4"/>
                </p:custDataLst>
              </p:nvPr>
            </p:nvSpPr>
            <p:spPr>
              <a:xfrm>
                <a:off x="6115" y="4115"/>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62" name="文本框 61"/>
              <p:cNvSpPr txBox="1"/>
              <p:nvPr>
                <p:custDataLst>
                  <p:tags r:id="rId5"/>
                </p:custDataLst>
              </p:nvPr>
            </p:nvSpPr>
            <p:spPr>
              <a:xfrm>
                <a:off x="6135" y="4185"/>
                <a:ext cx="1078" cy="919"/>
              </a:xfrm>
              <a:prstGeom prst="rect">
                <a:avLst/>
              </a:prstGeom>
              <a:noFill/>
            </p:spPr>
            <p:txBody>
              <a:bodyPr wrap="none" rtlCol="0">
                <a:spAutoFit/>
              </a:bodyPr>
              <a:lstStyle/>
              <a:p>
                <a:r>
                  <a:rPr lang="en-US" altLang="zh-CN" sz="3200" b="1">
                    <a:solidFill>
                      <a:srgbClr val="FEFEFE"/>
                    </a:solidFill>
                    <a:latin typeface="微软雅黑" panose="020B0503020204020204" charset="-122"/>
                    <a:ea typeface="微软雅黑" panose="020B0503020204020204" charset="-122"/>
                  </a:rPr>
                  <a:t>01</a:t>
                </a:r>
                <a:endParaRPr lang="en-US" altLang="zh-CN" sz="3200" b="1">
                  <a:solidFill>
                    <a:srgbClr val="FEFEFE"/>
                  </a:solidFill>
                  <a:latin typeface="微软雅黑" panose="020B0503020204020204" charset="-122"/>
                  <a:ea typeface="微软雅黑" panose="020B0503020204020204" charset="-122"/>
                </a:endParaRPr>
              </a:p>
            </p:txBody>
          </p:sp>
        </p:grpSp>
      </p:grpSp>
      <p:sp>
        <p:nvSpPr>
          <p:cNvPr id="64" name="文本框 63"/>
          <p:cNvSpPr txBox="1"/>
          <p:nvPr/>
        </p:nvSpPr>
        <p:spPr>
          <a:xfrm>
            <a:off x="777386" y="3507784"/>
            <a:ext cx="1896745" cy="506730"/>
          </a:xfrm>
          <a:prstGeom prst="rect">
            <a:avLst/>
          </a:prstGeom>
          <a:noFill/>
        </p:spPr>
        <p:txBody>
          <a:bodyPr wrap="none" rtlCol="0">
            <a:spAutoFit/>
          </a:bodyPr>
          <a:lstStyle/>
          <a:p>
            <a:r>
              <a:rPr lang="en-US" altLang="zh-CN" sz="2700" b="1">
                <a:solidFill>
                  <a:srgbClr val="161915"/>
                </a:solidFill>
                <a:latin typeface="微软雅黑" panose="020B0503020204020204" charset="-122"/>
                <a:ea typeface="微软雅黑" panose="020B0503020204020204" charset="-122"/>
              </a:rPr>
              <a:t>CONTENT</a:t>
            </a:r>
            <a:endParaRPr lang="zh-CN" altLang="en-US" sz="2700" b="1">
              <a:solidFill>
                <a:srgbClr val="161915"/>
              </a:solidFill>
              <a:latin typeface="微软雅黑" panose="020B0503020204020204" charset="-122"/>
              <a:ea typeface="微软雅黑" panose="020B0503020204020204" charset="-122"/>
            </a:endParaRPr>
          </a:p>
        </p:txBody>
      </p:sp>
      <p:grpSp>
        <p:nvGrpSpPr>
          <p:cNvPr id="16" name="组合 15"/>
          <p:cNvGrpSpPr/>
          <p:nvPr>
            <p:custDataLst>
              <p:tags r:id="rId6"/>
            </p:custDataLst>
          </p:nvPr>
        </p:nvGrpSpPr>
        <p:grpSpPr>
          <a:xfrm>
            <a:off x="3913505" y="2547620"/>
            <a:ext cx="4663440" cy="718820"/>
            <a:chOff x="5158" y="4775"/>
            <a:chExt cx="7344" cy="1132"/>
          </a:xfrm>
        </p:grpSpPr>
        <p:grpSp>
          <p:nvGrpSpPr>
            <p:cNvPr id="9" name="组合 8"/>
            <p:cNvGrpSpPr/>
            <p:nvPr>
              <p:custDataLst>
                <p:tags r:id="rId7"/>
              </p:custDataLst>
            </p:nvPr>
          </p:nvGrpSpPr>
          <p:grpSpPr>
            <a:xfrm>
              <a:off x="5158" y="4775"/>
              <a:ext cx="1078" cy="1062"/>
              <a:chOff x="6234" y="5849"/>
              <a:chExt cx="1078" cy="1062"/>
            </a:xfrm>
          </p:grpSpPr>
          <p:sp>
            <p:nvSpPr>
              <p:cNvPr id="30" name="椭圆 29"/>
              <p:cNvSpPr/>
              <p:nvPr>
                <p:custDataLst>
                  <p:tags r:id="rId8"/>
                </p:custDataLst>
              </p:nvPr>
            </p:nvSpPr>
            <p:spPr>
              <a:xfrm>
                <a:off x="6242" y="5849"/>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34" name="文本框 33"/>
              <p:cNvSpPr txBox="1"/>
              <p:nvPr>
                <p:custDataLst>
                  <p:tags r:id="rId9"/>
                </p:custDataLst>
              </p:nvPr>
            </p:nvSpPr>
            <p:spPr>
              <a:xfrm>
                <a:off x="6234" y="5920"/>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02</a:t>
                </a:r>
                <a:endParaRPr lang="en-US" altLang="zh-CN" sz="3200" b="1">
                  <a:solidFill>
                    <a:srgbClr val="FCFCFC"/>
                  </a:solidFill>
                  <a:latin typeface="微软雅黑" panose="020B0503020204020204" charset="-122"/>
                  <a:ea typeface="微软雅黑" panose="020B0503020204020204" charset="-122"/>
                </a:endParaRPr>
              </a:p>
            </p:txBody>
          </p:sp>
        </p:grpSp>
        <p:sp>
          <p:nvSpPr>
            <p:cNvPr id="7" name="文本框 6"/>
            <p:cNvSpPr txBox="1"/>
            <p:nvPr>
              <p:custDataLst>
                <p:tags r:id="rId10"/>
              </p:custDataLst>
            </p:nvPr>
          </p:nvSpPr>
          <p:spPr>
            <a:xfrm>
              <a:off x="6834" y="4775"/>
              <a:ext cx="5669" cy="1133"/>
            </a:xfrm>
            <a:prstGeom prst="rect">
              <a:avLst/>
            </a:prstGeom>
            <a:noFill/>
          </p:spPr>
          <p:txBody>
            <a:bodyPr wrap="square" rtlCol="0" anchor="t">
              <a:noAutofit/>
            </a:bodyPr>
            <a:p>
              <a:pPr algn="l"/>
              <a:r>
                <a:rPr lang="zh-CN" altLang="en-US" sz="2500" b="1" dirty="0">
                  <a:solidFill>
                    <a:srgbClr val="161915"/>
                  </a:solidFill>
                  <a:latin typeface="Arial" panose="020B0604020202020204" pitchFamily="34" charset="0"/>
                  <a:ea typeface="微软雅黑" panose="020B0503020204020204" charset="-122"/>
                  <a:cs typeface="+mn-ea"/>
                </a:rPr>
                <a:t>技术实现与</a:t>
              </a:r>
              <a:r>
                <a:rPr lang="zh-CN" altLang="en-US" sz="2500" b="1" dirty="0">
                  <a:solidFill>
                    <a:srgbClr val="161915"/>
                  </a:solidFill>
                  <a:latin typeface="Arial" panose="020B0604020202020204" pitchFamily="34" charset="0"/>
                  <a:ea typeface="微软雅黑" panose="020B0503020204020204" charset="-122"/>
                  <a:cs typeface="+mn-ea"/>
                </a:rPr>
                <a:t>架构</a:t>
              </a:r>
              <a:endParaRPr lang="zh-CN" altLang="en-US" sz="2500" b="1" dirty="0">
                <a:solidFill>
                  <a:srgbClr val="161915"/>
                </a:solidFill>
                <a:latin typeface="Arial" panose="020B0604020202020204" pitchFamily="34" charset="0"/>
                <a:ea typeface="微软雅黑" panose="020B0503020204020204" charset="-122"/>
                <a:cs typeface="+mn-ea"/>
              </a:endParaRPr>
            </a:p>
          </p:txBody>
        </p:sp>
      </p:grpSp>
      <p:grpSp>
        <p:nvGrpSpPr>
          <p:cNvPr id="17" name="组合 16"/>
          <p:cNvGrpSpPr/>
          <p:nvPr>
            <p:custDataLst>
              <p:tags r:id="rId11"/>
            </p:custDataLst>
          </p:nvPr>
        </p:nvGrpSpPr>
        <p:grpSpPr>
          <a:xfrm>
            <a:off x="3913505" y="3627120"/>
            <a:ext cx="4663440" cy="718820"/>
            <a:chOff x="5158" y="6324"/>
            <a:chExt cx="7344" cy="1132"/>
          </a:xfrm>
        </p:grpSpPr>
        <p:grpSp>
          <p:nvGrpSpPr>
            <p:cNvPr id="10" name="组合 9"/>
            <p:cNvGrpSpPr/>
            <p:nvPr>
              <p:custDataLst>
                <p:tags r:id="rId12"/>
              </p:custDataLst>
            </p:nvPr>
          </p:nvGrpSpPr>
          <p:grpSpPr>
            <a:xfrm>
              <a:off x="5158" y="6324"/>
              <a:ext cx="1078" cy="1062"/>
              <a:chOff x="6633" y="6999"/>
              <a:chExt cx="1078" cy="1062"/>
            </a:xfrm>
          </p:grpSpPr>
          <p:sp>
            <p:nvSpPr>
              <p:cNvPr id="2" name="椭圆 1"/>
              <p:cNvSpPr/>
              <p:nvPr>
                <p:custDataLst>
                  <p:tags r:id="rId13"/>
                </p:custDataLst>
              </p:nvPr>
            </p:nvSpPr>
            <p:spPr>
              <a:xfrm>
                <a:off x="6641" y="6999"/>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4" name="文本框 3"/>
              <p:cNvSpPr txBox="1"/>
              <p:nvPr>
                <p:custDataLst>
                  <p:tags r:id="rId14"/>
                </p:custDataLst>
              </p:nvPr>
            </p:nvSpPr>
            <p:spPr>
              <a:xfrm>
                <a:off x="6633" y="7071"/>
                <a:ext cx="1078" cy="919"/>
              </a:xfrm>
              <a:prstGeom prst="rect">
                <a:avLst/>
              </a:prstGeom>
              <a:noFill/>
            </p:spPr>
            <p:txBody>
              <a:bodyPr wrap="none" rtlCol="0">
                <a:spAutoFit/>
              </a:bodyPr>
              <a:p>
                <a:r>
                  <a:rPr lang="en-US" altLang="zh-CN" sz="3200" b="1">
                    <a:solidFill>
                      <a:srgbClr val="FEFEFE"/>
                    </a:solidFill>
                    <a:latin typeface="微软雅黑" panose="020B0503020204020204" charset="-122"/>
                    <a:ea typeface="微软雅黑" panose="020B0503020204020204" charset="-122"/>
                  </a:rPr>
                  <a:t>03</a:t>
                </a:r>
                <a:endParaRPr lang="en-US" altLang="zh-CN" sz="3200" b="1">
                  <a:solidFill>
                    <a:srgbClr val="FEFEFE"/>
                  </a:solidFill>
                  <a:latin typeface="微软雅黑" panose="020B0503020204020204" charset="-122"/>
                  <a:ea typeface="微软雅黑" panose="020B0503020204020204" charset="-122"/>
                </a:endParaRPr>
              </a:p>
            </p:txBody>
          </p:sp>
        </p:grpSp>
        <p:sp>
          <p:nvSpPr>
            <p:cNvPr id="12" name="文本框 11"/>
            <p:cNvSpPr txBox="1"/>
            <p:nvPr>
              <p:custDataLst>
                <p:tags r:id="rId15"/>
              </p:custDataLst>
            </p:nvPr>
          </p:nvSpPr>
          <p:spPr>
            <a:xfrm>
              <a:off x="6834" y="6324"/>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FF0000"/>
                  </a:solidFill>
                  <a:latin typeface="Arial" panose="020B0604020202020204" pitchFamily="34" charset="0"/>
                  <a:ea typeface="微软雅黑" panose="020B0503020204020204" charset="-122"/>
                  <a:cs typeface="+mn-ea"/>
                  <a:sym typeface="Arial" panose="020B0604020202020204" pitchFamily="34" charset="0"/>
                </a:rPr>
                <a:t>评分标准与提交</a:t>
              </a:r>
              <a:endParaRPr lang="zh-CN" altLang="en-US" sz="2500" b="1" dirty="0">
                <a:solidFill>
                  <a:srgbClr val="FF0000"/>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8" name="组合 17"/>
          <p:cNvGrpSpPr/>
          <p:nvPr>
            <p:custDataLst>
              <p:tags r:id="rId16"/>
            </p:custDataLst>
          </p:nvPr>
        </p:nvGrpSpPr>
        <p:grpSpPr>
          <a:xfrm>
            <a:off x="3913505" y="4706620"/>
            <a:ext cx="4620260" cy="718820"/>
            <a:chOff x="5158" y="8327"/>
            <a:chExt cx="7276" cy="1132"/>
          </a:xfrm>
        </p:grpSpPr>
        <p:grpSp>
          <p:nvGrpSpPr>
            <p:cNvPr id="3" name="组合 2"/>
            <p:cNvGrpSpPr/>
            <p:nvPr>
              <p:custDataLst>
                <p:tags r:id="rId17"/>
              </p:custDataLst>
            </p:nvPr>
          </p:nvGrpSpPr>
          <p:grpSpPr>
            <a:xfrm>
              <a:off x="5158" y="8327"/>
              <a:ext cx="1078" cy="1062"/>
              <a:chOff x="6598" y="5764"/>
              <a:chExt cx="1078" cy="1062"/>
            </a:xfrm>
          </p:grpSpPr>
          <p:sp>
            <p:nvSpPr>
              <p:cNvPr id="5" name="椭圆 4"/>
              <p:cNvSpPr/>
              <p:nvPr>
                <p:custDataLst>
                  <p:tags r:id="rId18"/>
                </p:custDataLst>
              </p:nvPr>
            </p:nvSpPr>
            <p:spPr>
              <a:xfrm>
                <a:off x="6606" y="5764"/>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6" name="文本框 5"/>
              <p:cNvSpPr txBox="1"/>
              <p:nvPr>
                <p:custDataLst>
                  <p:tags r:id="rId19"/>
                </p:custDataLst>
              </p:nvPr>
            </p:nvSpPr>
            <p:spPr>
              <a:xfrm>
                <a:off x="6598" y="5836"/>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04</a:t>
                </a:r>
                <a:endParaRPr lang="en-US" altLang="zh-CN" sz="3200" b="1">
                  <a:solidFill>
                    <a:srgbClr val="FCFCFC"/>
                  </a:solidFill>
                  <a:latin typeface="微软雅黑" panose="020B0503020204020204" charset="-122"/>
                  <a:ea typeface="微软雅黑" panose="020B0503020204020204" charset="-122"/>
                </a:endParaRPr>
              </a:p>
            </p:txBody>
          </p:sp>
        </p:grpSp>
        <p:sp>
          <p:nvSpPr>
            <p:cNvPr id="13" name="文本框 12"/>
            <p:cNvSpPr txBox="1"/>
            <p:nvPr>
              <p:custDataLst>
                <p:tags r:id="rId20"/>
              </p:custDataLst>
            </p:nvPr>
          </p:nvSpPr>
          <p:spPr>
            <a:xfrm>
              <a:off x="6766" y="8327"/>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备赛建议与</a:t>
              </a: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答疑</a:t>
              </a:r>
              <a:endPar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timing>
    <p:tnLst>
      <p:par>
        <p:cTn id="1" dur="indefinite" restart="never" nodeType="tmRoot"/>
      </p:par>
    </p:tnLst>
    <p:bldLst>
      <p:bldP spid="37" grpId="0"/>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6250" y="227965"/>
            <a:ext cx="9431020"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kumimoji="1" lang="zh-CN" altLang="en-US" sz="2400" b="1" spc="200" dirty="0">
                <a:solidFill>
                  <a:schemeClr val="tx1"/>
                </a:solidFill>
                <a:latin typeface="微软雅黑" panose="020B0503020204020204" charset="-122"/>
                <a:ea typeface="微软雅黑" panose="020B0503020204020204" charset="-122"/>
                <a:sym typeface="+mn-ea"/>
              </a:rPr>
              <a:t>评分占比</a:t>
            </a:r>
            <a:endParaRPr lang="zh-CN" altLang="en-US" sz="1800" dirty="0">
              <a:solidFill>
                <a:schemeClr val="tx1"/>
              </a:solidFill>
              <a:latin typeface="微软雅黑" panose="020B0503020204020204" charset="-122"/>
              <a:ea typeface="微软雅黑" panose="020B0503020204020204" charset="-122"/>
              <a:sym typeface="+mn-ea"/>
            </a:endParaRPr>
          </a:p>
        </p:txBody>
      </p:sp>
      <p:sp>
        <p:nvSpPr>
          <p:cNvPr id="4" name="矩形 3"/>
          <p:cNvSpPr/>
          <p:nvPr>
            <p:custDataLst>
              <p:tags r:id="rId2"/>
            </p:custDataLst>
          </p:nvPr>
        </p:nvSpPr>
        <p:spPr>
          <a:xfrm>
            <a:off x="262382" y="24934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pic>
        <p:nvPicPr>
          <p:cNvPr id="7" name="图片 6"/>
          <p:cNvPicPr>
            <a:picLocks noChangeAspect="1"/>
          </p:cNvPicPr>
          <p:nvPr>
            <p:custDataLst>
              <p:tags r:id="rId3"/>
            </p:custDataLst>
          </p:nvPr>
        </p:nvPicPr>
        <p:blipFill>
          <a:blip r:embed="rId4"/>
          <a:stretch>
            <a:fillRect/>
          </a:stretch>
        </p:blipFill>
        <p:spPr>
          <a:xfrm>
            <a:off x="10830560" y="109855"/>
            <a:ext cx="972820" cy="581660"/>
          </a:xfrm>
          <a:prstGeom prst="rect">
            <a:avLst/>
          </a:prstGeom>
        </p:spPr>
      </p:pic>
      <p:sp>
        <p:nvSpPr>
          <p:cNvPr id="6" name="文本框 5"/>
          <p:cNvSpPr txBox="1"/>
          <p:nvPr/>
        </p:nvSpPr>
        <p:spPr>
          <a:xfrm>
            <a:off x="3378835" y="5770245"/>
            <a:ext cx="5173980" cy="706755"/>
          </a:xfrm>
          <a:prstGeom prst="rect">
            <a:avLst/>
          </a:prstGeom>
          <a:noFill/>
        </p:spPr>
        <p:txBody>
          <a:bodyPr wrap="square" rtlCol="0">
            <a:spAutoFit/>
          </a:bodyPr>
          <a:p>
            <a:pPr marL="285750" indent="-285750">
              <a:buFont typeface="Arial" panose="020B0604020202020204" pitchFamily="34" charset="0"/>
              <a:buChar char="•"/>
            </a:pPr>
            <a:r>
              <a:rPr lang="zh-CN" altLang="en-US" sz="2000" b="1">
                <a:solidFill>
                  <a:srgbClr val="6B7280">
                    <a:alpha val="100000"/>
                  </a:srgbClr>
                </a:solidFill>
                <a:latin typeface="微软雅黑" panose="020B0503020204020204" charset="-122"/>
                <a:ea typeface="微软雅黑" panose="020B0503020204020204" charset="-122"/>
                <a:cs typeface="微软雅黑" panose="020B0503020204020204" charset="-122"/>
                <a:sym typeface="+mn-ea"/>
              </a:rPr>
              <a:t>技术创新性与方案可行性</a:t>
            </a:r>
            <a:r>
              <a:rPr lang="en-US" sz="2000" b="1">
                <a:solidFill>
                  <a:srgbClr val="6B7280">
                    <a:alpha val="100000"/>
                  </a:srgbClr>
                </a:solidFill>
                <a:latin typeface="微软雅黑" panose="020B0503020204020204" charset="-122"/>
                <a:ea typeface="微软雅黑" panose="020B0503020204020204" charset="-122"/>
                <a:cs typeface="微软雅黑" panose="020B0503020204020204" charset="-122"/>
                <a:sym typeface="+mn-ea"/>
              </a:rPr>
              <a:t>同样重要</a:t>
            </a:r>
            <a:endParaRPr lang="en-US" sz="2000" b="1"/>
          </a:p>
          <a:p>
            <a:endParaRPr lang="en-US" altLang="en-US" sz="2000" b="1"/>
          </a:p>
        </p:txBody>
      </p:sp>
      <p:graphicFrame>
        <p:nvGraphicFramePr>
          <p:cNvPr id="8" name="图表 7"/>
          <p:cNvGraphicFramePr/>
          <p:nvPr/>
        </p:nvGraphicFramePr>
        <p:xfrm>
          <a:off x="1621790" y="919480"/>
          <a:ext cx="8794750" cy="443865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slow" p14:dur="39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2382" y="24934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pic>
        <p:nvPicPr>
          <p:cNvPr id="7" name="图片 6"/>
          <p:cNvPicPr>
            <a:picLocks noChangeAspect="1"/>
          </p:cNvPicPr>
          <p:nvPr>
            <p:custDataLst>
              <p:tags r:id="rId2"/>
            </p:custDataLst>
          </p:nvPr>
        </p:nvPicPr>
        <p:blipFill>
          <a:blip r:embed="rId3"/>
          <a:stretch>
            <a:fillRect/>
          </a:stretch>
        </p:blipFill>
        <p:spPr>
          <a:xfrm>
            <a:off x="10830560" y="109855"/>
            <a:ext cx="972820" cy="581660"/>
          </a:xfrm>
          <a:prstGeom prst="rect">
            <a:avLst/>
          </a:prstGeom>
        </p:spPr>
      </p:pic>
      <p:sp>
        <p:nvSpPr>
          <p:cNvPr id="3" name="文本框 2"/>
          <p:cNvSpPr txBox="1"/>
          <p:nvPr/>
        </p:nvSpPr>
        <p:spPr>
          <a:xfrm>
            <a:off x="476250" y="1540510"/>
            <a:ext cx="5320665" cy="4568190"/>
          </a:xfrm>
          <a:prstGeom prst="rect">
            <a:avLst/>
          </a:prstGeom>
          <a:noFill/>
        </p:spPr>
        <p:txBody>
          <a:bodyPr wrap="square" rtlCol="0">
            <a:noAutofit/>
          </a:bodyPr>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项目报告（ppt）1份；</a:t>
            </a:r>
          </a:p>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技术方案（word、pdf）1份：含用户手册、安装部署、测试结果及效果验证报告；</a:t>
            </a:r>
          </a:p>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功能演示视频1份：5-10分钟，zip，大小不超过200M，演示所有已实现核心功能，建议字幕；</a:t>
            </a:r>
          </a:p>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完整源代码及必要技术规范要素1份。</a:t>
            </a:r>
          </a:p>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目录：学校+作品名称+主申报人姓名（外层及内层同名），源代码目录与内层目录并列。</a:t>
            </a:r>
          </a:p>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命名与平台一致；作品内容不得含学校、学院、校徽、师生姓名等身份信息。</a:t>
            </a:r>
          </a:p>
          <a:p>
            <a:pPr marL="342900" indent="-342900">
              <a:lnSpc>
                <a:spcPct val="200000"/>
              </a:lnSpc>
              <a:buAutoNum type="arabicPeriod"/>
            </a:pPr>
            <a:r>
              <a:rPr lang="zh-CN" altLang="en-US" sz="1400">
                <a:latin typeface="微软雅黑" panose="020B0503020204020204" charset="-122"/>
                <a:ea typeface="微软雅黑" panose="020B0503020204020204" charset="-122"/>
                <a:cs typeface="微软雅黑" panose="020B0503020204020204" charset="-122"/>
              </a:rPr>
              <a:t>完整要求唯一见 docs/DELIVERY_PLAN.md §0。</a:t>
            </a:r>
          </a:p>
        </p:txBody>
      </p:sp>
      <p:sp>
        <p:nvSpPr>
          <p:cNvPr id="6" name="文本框 5"/>
          <p:cNvSpPr txBox="1"/>
          <p:nvPr/>
        </p:nvSpPr>
        <p:spPr>
          <a:xfrm>
            <a:off x="6721263" y="1080135"/>
            <a:ext cx="5191760" cy="5446395"/>
          </a:xfrm>
          <a:prstGeom prst="rect">
            <a:avLst/>
          </a:prstGeom>
          <a:noFill/>
        </p:spPr>
        <p:txBody>
          <a:bodyPr wrap="square" rtlCol="0">
            <a:spAutoFit/>
          </a:bodyPr>
          <a:p>
            <a:r>
              <a:rPr lang="zh-CN" altLang="en-US" sz="2400" b="1">
                <a:solidFill>
                  <a:srgbClr val="FF0000"/>
                </a:solidFill>
                <a:latin typeface="微软雅黑" panose="020B0503020204020204" charset="-122"/>
                <a:ea typeface="微软雅黑" panose="020B0503020204020204" charset="-122"/>
                <a:cs typeface="微软雅黑" panose="020B0503020204020204" charset="-122"/>
              </a:rPr>
              <a:t>容易踩雷的点：</a:t>
            </a:r>
            <a:endParaRPr lang="zh-CN" altLang="en-US" sz="2135" b="1">
              <a:solidFill>
                <a:srgbClr val="FF0000"/>
              </a:solidFill>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cs typeface="微软雅黑" panose="020B0503020204020204" charset="-122"/>
              </a:rPr>
              <a:t>未充分适配端侧部署，导致检索响应时间超标或资源占用过高</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cs typeface="微软雅黑" panose="020B0503020204020204" charset="-122"/>
              </a:rPr>
              <a:t>关联检索策略低效，导致记忆无法满足</a:t>
            </a:r>
            <a:r>
              <a:rPr lang="en-US" altLang="zh-CN">
                <a:solidFill>
                  <a:schemeClr val="tx1"/>
                </a:solidFill>
                <a:latin typeface="微软雅黑" panose="020B0503020204020204" charset="-122"/>
                <a:ea typeface="微软雅黑" panose="020B0503020204020204" charset="-122"/>
                <a:cs typeface="微软雅黑" panose="020B0503020204020204" charset="-122"/>
              </a:rPr>
              <a:t>OS Agent</a:t>
            </a:r>
            <a:r>
              <a:rPr lang="zh-CN" altLang="en-US">
                <a:solidFill>
                  <a:schemeClr val="tx1"/>
                </a:solidFill>
                <a:latin typeface="微软雅黑" panose="020B0503020204020204" charset="-122"/>
                <a:ea typeface="微软雅黑" panose="020B0503020204020204" charset="-122"/>
                <a:cs typeface="微软雅黑" panose="020B0503020204020204" charset="-122"/>
              </a:rPr>
              <a:t>的上下文需求</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zh-CN" altLang="en-US">
                <a:solidFill>
                  <a:schemeClr val="tx1"/>
                </a:solidFill>
                <a:latin typeface="微软雅黑" panose="020B0503020204020204" charset="-122"/>
                <a:ea typeface="微软雅黑" panose="020B0503020204020204" charset="-122"/>
                <a:cs typeface="微软雅黑" panose="020B0503020204020204" charset="-122"/>
              </a:rPr>
              <a:t>评测数据集构建不标准</a:t>
            </a:r>
            <a:r>
              <a:rPr lang="zh-CN" altLang="en-US">
                <a:latin typeface="微软雅黑" panose="020B0503020204020204" charset="-122"/>
                <a:ea typeface="微软雅黑" panose="020B0503020204020204" charset="-122"/>
                <a:cs typeface="微软雅黑" panose="020B0503020204020204" charset="-122"/>
              </a:rPr>
              <a:t>，无法验证核心指标</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en-US" altLang="zh-CN">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解释</a:t>
            </a:r>
            <a:r>
              <a:rPr lang="zh-CN" altLang="en-US">
                <a:latin typeface="微软雅黑" panose="020B0503020204020204" charset="-122"/>
                <a:ea typeface="微软雅黑" panose="020B0503020204020204" charset="-122"/>
                <a:cs typeface="微软雅黑" panose="020B0503020204020204" charset="-122"/>
                <a:sym typeface="+mn-ea"/>
              </a:rPr>
              <a:t>不</a:t>
            </a:r>
            <a:r>
              <a:rPr lang="zh-CN" altLang="en-US">
                <a:latin typeface="微软雅黑" panose="020B0503020204020204" charset="-122"/>
                <a:ea typeface="微软雅黑" panose="020B0503020204020204" charset="-122"/>
                <a:cs typeface="微软雅黑" panose="020B0503020204020204" charset="-122"/>
              </a:rPr>
              <a:t>清楚作品实现架构、技术栈</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en-US" altLang="zh-CN" b="1">
                <a:solidFill>
                  <a:schemeClr val="tx1"/>
                </a:solidFill>
                <a:latin typeface="微软雅黑" panose="020B0503020204020204" charset="-122"/>
                <a:ea typeface="微软雅黑" panose="020B0503020204020204" charset="-122"/>
                <a:cs typeface="微软雅黑" panose="020B0503020204020204" charset="-122"/>
              </a:rPr>
              <a:t> </a:t>
            </a:r>
            <a:r>
              <a:rPr lang="zh-CN" altLang="en-US" b="1">
                <a:solidFill>
                  <a:srgbClr val="FF0000"/>
                </a:solidFill>
                <a:latin typeface="微软雅黑" panose="020B0503020204020204" charset="-122"/>
                <a:ea typeface="微软雅黑" panose="020B0503020204020204" charset="-122"/>
                <a:cs typeface="微软雅黑" panose="020B0503020204020204" charset="-122"/>
              </a:rPr>
              <a:t>纯文字介绍</a:t>
            </a:r>
            <a:r>
              <a:rPr lang="zh-CN" altLang="en-US">
                <a:latin typeface="微软雅黑" panose="020B0503020204020204" charset="-122"/>
                <a:ea typeface="微软雅黑" panose="020B0503020204020204" charset="-122"/>
                <a:cs typeface="微软雅黑" panose="020B0503020204020204" charset="-122"/>
              </a:rPr>
              <a:t>与简陋的</a:t>
            </a:r>
            <a:r>
              <a:rPr lang="en-US" altLang="zh-CN">
                <a:latin typeface="微软雅黑" panose="020B0503020204020204" charset="-122"/>
                <a:ea typeface="微软雅黑" panose="020B0503020204020204" charset="-122"/>
                <a:cs typeface="微软雅黑" panose="020B0503020204020204" charset="-122"/>
              </a:rPr>
              <a:t>txt</a:t>
            </a:r>
            <a:r>
              <a:rPr lang="zh-CN" altLang="en-US">
                <a:latin typeface="微软雅黑" panose="020B0503020204020204" charset="-122"/>
                <a:ea typeface="微软雅黑" panose="020B0503020204020204" charset="-122"/>
                <a:cs typeface="微软雅黑" panose="020B0503020204020204" charset="-122"/>
              </a:rPr>
              <a:t>文件</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en-US" altLang="zh-CN" b="1">
                <a:solidFill>
                  <a:schemeClr val="tx1"/>
                </a:solidFill>
                <a:latin typeface="微软雅黑" panose="020B0503020204020204" charset="-122"/>
                <a:ea typeface="微软雅黑" panose="020B0503020204020204" charset="-122"/>
                <a:cs typeface="微软雅黑" panose="020B0503020204020204" charset="-122"/>
              </a:rPr>
              <a:t> </a:t>
            </a:r>
            <a:r>
              <a:rPr lang="zh-CN" altLang="en-US" b="1" u="sng">
                <a:solidFill>
                  <a:srgbClr val="FF0000"/>
                </a:solidFill>
                <a:latin typeface="微软雅黑" panose="020B0503020204020204" charset="-122"/>
                <a:ea typeface="微软雅黑" panose="020B0503020204020204" charset="-122"/>
                <a:cs typeface="微软雅黑" panose="020B0503020204020204" charset="-122"/>
              </a:rPr>
              <a:t>没有体现在麒麟操作系统上实现</a:t>
            </a:r>
            <a:endParaRPr lang="zh-CN" altLang="en-US">
              <a:latin typeface="微软雅黑" panose="020B0503020204020204" charset="-122"/>
              <a:ea typeface="微软雅黑" panose="020B0503020204020204" charset="-122"/>
              <a:cs typeface="微软雅黑" panose="020B0503020204020204" charset="-122"/>
            </a:endParaRPr>
          </a:p>
          <a:p>
            <a:pPr marL="285750" indent="-285750">
              <a:lnSpc>
                <a:spcPct val="200000"/>
              </a:lnSpc>
              <a:buFont typeface="Arial" panose="020B0604020202020204" pitchFamily="34" charset="0"/>
              <a:buChar char="•"/>
            </a:pPr>
            <a:r>
              <a:rPr lang="en-US" altLang="zh-CN" b="1">
                <a:solidFill>
                  <a:schemeClr val="tx1"/>
                </a:solidFill>
                <a:latin typeface="微软雅黑" panose="020B0503020204020204" charset="-122"/>
                <a:ea typeface="微软雅黑" panose="020B0503020204020204" charset="-122"/>
                <a:cs typeface="微软雅黑" panose="020B0503020204020204" charset="-122"/>
              </a:rPr>
              <a:t> </a:t>
            </a:r>
            <a:r>
              <a:rPr lang="zh-CN" altLang="en-US" b="1">
                <a:solidFill>
                  <a:schemeClr val="tx1"/>
                </a:solidFill>
                <a:latin typeface="微软雅黑" panose="020B0503020204020204" charset="-122"/>
                <a:ea typeface="微软雅黑" panose="020B0503020204020204" charset="-122"/>
                <a:cs typeface="微软雅黑" panose="020B0503020204020204" charset="-122"/>
              </a:rPr>
              <a:t>直接用</a:t>
            </a:r>
            <a:r>
              <a:rPr lang="zh-CN" altLang="en-US" b="1">
                <a:solidFill>
                  <a:srgbClr val="FF0000"/>
                </a:solidFill>
                <a:latin typeface="微软雅黑" panose="020B0503020204020204" charset="-122"/>
                <a:ea typeface="微软雅黑" panose="020B0503020204020204" charset="-122"/>
                <a:cs typeface="微软雅黑" panose="020B0503020204020204" charset="-122"/>
              </a:rPr>
              <a:t>开源软件</a:t>
            </a:r>
            <a:r>
              <a:rPr lang="zh-CN" altLang="en-US">
                <a:latin typeface="微软雅黑" panose="020B0503020204020204" charset="-122"/>
                <a:ea typeface="微软雅黑" panose="020B0503020204020204" charset="-122"/>
                <a:cs typeface="微软雅黑" panose="020B0503020204020204" charset="-122"/>
              </a:rPr>
              <a:t>作为作品提交</a:t>
            </a:r>
            <a:endParaRPr lang="zh-CN" altLang="en-US">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594360" y="997797"/>
            <a:ext cx="4083473" cy="460375"/>
          </a:xfrm>
          <a:prstGeom prst="rect">
            <a:avLst/>
          </a:prstGeom>
          <a:noFill/>
        </p:spPr>
        <p:txBody>
          <a:bodyPr wrap="square" rtlCol="0" anchor="t">
            <a:spAutoFit/>
          </a:bodyPr>
          <a:p>
            <a:pPr algn="l">
              <a:buClrTx/>
              <a:buSzTx/>
              <a:buFont typeface="Arial" panose="020B0604020202020204" pitchFamily="34" charset="0"/>
              <a:buNone/>
            </a:pPr>
            <a:r>
              <a:rPr lang="zh-CN" altLang="en-US" sz="24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黑体" panose="02010609060101010101" charset="-122"/>
                <a:sym typeface="+mn-ea"/>
              </a:rPr>
              <a:t>提交要求（2026-09-08按新图片更新）：</a:t>
            </a:r>
            <a:r>
              <a:rPr lang="zh-CN" altLang="en-US" sz="24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黑体" panose="02010609060101010101" charset="-122"/>
                <a:sym typeface="+mn-ea"/>
              </a:rPr>
              <a:t/>
            </a:r>
            <a:endParaRPr lang="zh-CN" altLang="en-US" sz="24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黑体" panose="02010609060101010101" charset="-122"/>
              <a:sym typeface="+mn-ea"/>
            </a:endParaRPr>
          </a:p>
        </p:txBody>
      </p:sp>
      <p:sp>
        <p:nvSpPr>
          <p:cNvPr id="9" name="文本框 8"/>
          <p:cNvSpPr txBox="1"/>
          <p:nvPr/>
        </p:nvSpPr>
        <p:spPr>
          <a:xfrm>
            <a:off x="476250" y="227965"/>
            <a:ext cx="9431020"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kumimoji="1" lang="zh-CN" altLang="en-US" sz="2400" b="1" spc="200" dirty="0">
                <a:solidFill>
                  <a:schemeClr val="tx1"/>
                </a:solidFill>
                <a:latin typeface="微软雅黑" panose="020B0503020204020204" charset="-122"/>
                <a:ea typeface="微软雅黑" panose="020B0503020204020204" charset="-122"/>
                <a:sym typeface="+mn-ea"/>
              </a:rPr>
              <a:t>提交</a:t>
            </a:r>
            <a:r>
              <a:rPr kumimoji="1" lang="zh-CN" altLang="en-US" sz="2400" b="1" spc="200" dirty="0">
                <a:solidFill>
                  <a:schemeClr val="tx1"/>
                </a:solidFill>
                <a:latin typeface="微软雅黑" panose="020B0503020204020204" charset="-122"/>
                <a:ea typeface="微软雅黑" panose="020B0503020204020204" charset="-122"/>
                <a:sym typeface="+mn-ea"/>
              </a:rPr>
              <a:t>要求</a:t>
            </a:r>
            <a:endParaRPr kumimoji="1" lang="zh-CN" altLang="en-US" sz="2400" b="1" spc="200" dirty="0">
              <a:solidFill>
                <a:schemeClr val="tx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39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nvSpPr>
        <p:spPr>
          <a:xfrm>
            <a:off x="710451" y="2489771"/>
            <a:ext cx="2011680" cy="1198880"/>
          </a:xfrm>
          <a:prstGeom prst="rect">
            <a:avLst/>
          </a:prstGeom>
          <a:noFill/>
        </p:spPr>
        <p:txBody>
          <a:bodyPr wrap="none" rtlCol="0">
            <a:spAutoFit/>
          </a:bodyPr>
          <a:lstStyle/>
          <a:p>
            <a:r>
              <a:rPr lang="zh-CN" altLang="en-US" sz="7200" b="1" dirty="0">
                <a:solidFill>
                  <a:srgbClr val="CA1F25"/>
                </a:solidFill>
                <a:latin typeface="微软雅黑" panose="020B0503020204020204" charset="-122"/>
                <a:ea typeface="微软雅黑" panose="020B0503020204020204" charset="-122"/>
              </a:rPr>
              <a:t>目录</a:t>
            </a:r>
            <a:endParaRPr lang="zh-CN" altLang="en-US" sz="7200" b="1" dirty="0">
              <a:solidFill>
                <a:srgbClr val="CA1F25"/>
              </a:solidFill>
              <a:latin typeface="微软雅黑" panose="020B0503020204020204" charset="-122"/>
              <a:ea typeface="微软雅黑" panose="020B0503020204020204" charset="-122"/>
            </a:endParaRPr>
          </a:p>
        </p:txBody>
      </p:sp>
      <p:grpSp>
        <p:nvGrpSpPr>
          <p:cNvPr id="15" name="组合 14"/>
          <p:cNvGrpSpPr/>
          <p:nvPr>
            <p:custDataLst>
              <p:tags r:id="rId1"/>
            </p:custDataLst>
          </p:nvPr>
        </p:nvGrpSpPr>
        <p:grpSpPr>
          <a:xfrm>
            <a:off x="4296410" y="1419225"/>
            <a:ext cx="4669790" cy="720090"/>
            <a:chOff x="5148" y="3225"/>
            <a:chExt cx="7354" cy="1134"/>
          </a:xfrm>
        </p:grpSpPr>
        <p:sp>
          <p:nvSpPr>
            <p:cNvPr id="51" name="文本框 50"/>
            <p:cNvSpPr txBox="1"/>
            <p:nvPr>
              <p:custDataLst>
                <p:tags r:id="rId2"/>
              </p:custDataLst>
            </p:nvPr>
          </p:nvSpPr>
          <p:spPr>
            <a:xfrm>
              <a:off x="6834" y="3225"/>
              <a:ext cx="5669" cy="1134"/>
            </a:xfrm>
            <a:prstGeom prst="rect">
              <a:avLst/>
            </a:prstGeom>
            <a:noFill/>
          </p:spPr>
          <p:txBody>
            <a:bodyPr wrap="square" rtlCol="0">
              <a:noAutofit/>
              <a:scene3d>
                <a:camera prst="orthographicFront"/>
                <a:lightRig rig="threePt" dir="t"/>
              </a:scene3d>
              <a:sp3d contourW="12700"/>
            </a:bodyPr>
            <a:lstStyle/>
            <a:p>
              <a:pPr algn="l"/>
              <a:r>
                <a:rPr lang="zh-CN" altLang="en-US" sz="2500" b="1" dirty="0">
                  <a:solidFill>
                    <a:schemeClr val="tx1"/>
                  </a:solidFill>
                  <a:latin typeface="Arial" panose="020B0604020202020204" pitchFamily="34" charset="0"/>
                  <a:ea typeface="微软雅黑" panose="020B0503020204020204" charset="-122"/>
                  <a:cs typeface="+mn-ea"/>
                  <a:sym typeface="+mn-ea"/>
                </a:rPr>
                <a:t>赛题背景与需求</a:t>
              </a:r>
              <a:endParaRPr lang="zh-CN" altLang="en-US" sz="2500" b="1" dirty="0">
                <a:solidFill>
                  <a:schemeClr val="tx1"/>
                </a:solidFill>
                <a:latin typeface="Arial" panose="020B0604020202020204" pitchFamily="34" charset="0"/>
                <a:ea typeface="微软雅黑" panose="020B0503020204020204" charset="-122"/>
                <a:cs typeface="+mn-ea"/>
                <a:sym typeface="+mn-ea"/>
              </a:endParaRPr>
            </a:p>
          </p:txBody>
        </p:sp>
        <p:grpSp>
          <p:nvGrpSpPr>
            <p:cNvPr id="8" name="组合 7"/>
            <p:cNvGrpSpPr/>
            <p:nvPr>
              <p:custDataLst>
                <p:tags r:id="rId3"/>
              </p:custDataLst>
            </p:nvPr>
          </p:nvGrpSpPr>
          <p:grpSpPr>
            <a:xfrm>
              <a:off x="5148" y="3225"/>
              <a:ext cx="1098" cy="1062"/>
              <a:chOff x="6115" y="4115"/>
              <a:chExt cx="1098" cy="1062"/>
            </a:xfrm>
          </p:grpSpPr>
          <p:sp>
            <p:nvSpPr>
              <p:cNvPr id="46" name="椭圆 45"/>
              <p:cNvSpPr/>
              <p:nvPr>
                <p:custDataLst>
                  <p:tags r:id="rId4"/>
                </p:custDataLst>
              </p:nvPr>
            </p:nvSpPr>
            <p:spPr>
              <a:xfrm>
                <a:off x="6115" y="4115"/>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62" name="文本框 61"/>
              <p:cNvSpPr txBox="1"/>
              <p:nvPr>
                <p:custDataLst>
                  <p:tags r:id="rId5"/>
                </p:custDataLst>
              </p:nvPr>
            </p:nvSpPr>
            <p:spPr>
              <a:xfrm>
                <a:off x="6135" y="4185"/>
                <a:ext cx="1078" cy="919"/>
              </a:xfrm>
              <a:prstGeom prst="rect">
                <a:avLst/>
              </a:prstGeom>
              <a:noFill/>
            </p:spPr>
            <p:txBody>
              <a:bodyPr wrap="none" rtlCol="0">
                <a:spAutoFit/>
              </a:bodyPr>
              <a:lstStyle/>
              <a:p>
                <a:r>
                  <a:rPr lang="en-US" altLang="zh-CN" sz="3200" b="1">
                    <a:solidFill>
                      <a:srgbClr val="FEFEFE"/>
                    </a:solidFill>
                    <a:latin typeface="微软雅黑" panose="020B0503020204020204" charset="-122"/>
                    <a:ea typeface="微软雅黑" panose="020B0503020204020204" charset="-122"/>
                  </a:rPr>
                  <a:t>01</a:t>
                </a:r>
                <a:endParaRPr lang="en-US" altLang="zh-CN" sz="3200" b="1">
                  <a:solidFill>
                    <a:srgbClr val="FEFEFE"/>
                  </a:solidFill>
                  <a:latin typeface="微软雅黑" panose="020B0503020204020204" charset="-122"/>
                  <a:ea typeface="微软雅黑" panose="020B0503020204020204" charset="-122"/>
                </a:endParaRPr>
              </a:p>
            </p:txBody>
          </p:sp>
        </p:grpSp>
      </p:grpSp>
      <p:sp>
        <p:nvSpPr>
          <p:cNvPr id="64" name="文本框 63"/>
          <p:cNvSpPr txBox="1"/>
          <p:nvPr/>
        </p:nvSpPr>
        <p:spPr>
          <a:xfrm>
            <a:off x="777386" y="3507784"/>
            <a:ext cx="1896745" cy="506730"/>
          </a:xfrm>
          <a:prstGeom prst="rect">
            <a:avLst/>
          </a:prstGeom>
          <a:noFill/>
        </p:spPr>
        <p:txBody>
          <a:bodyPr wrap="none" rtlCol="0">
            <a:spAutoFit/>
          </a:bodyPr>
          <a:lstStyle/>
          <a:p>
            <a:r>
              <a:rPr lang="en-US" altLang="zh-CN" sz="2700" b="1">
                <a:solidFill>
                  <a:srgbClr val="161915"/>
                </a:solidFill>
                <a:latin typeface="微软雅黑" panose="020B0503020204020204" charset="-122"/>
                <a:ea typeface="微软雅黑" panose="020B0503020204020204" charset="-122"/>
              </a:rPr>
              <a:t>CONTENT</a:t>
            </a:r>
            <a:endParaRPr lang="zh-CN" altLang="en-US" sz="2700" b="1">
              <a:solidFill>
                <a:srgbClr val="161915"/>
              </a:solidFill>
              <a:latin typeface="微软雅黑" panose="020B0503020204020204" charset="-122"/>
              <a:ea typeface="微软雅黑" panose="020B0503020204020204" charset="-122"/>
            </a:endParaRPr>
          </a:p>
        </p:txBody>
      </p:sp>
      <p:grpSp>
        <p:nvGrpSpPr>
          <p:cNvPr id="16" name="组合 15"/>
          <p:cNvGrpSpPr/>
          <p:nvPr>
            <p:custDataLst>
              <p:tags r:id="rId6"/>
            </p:custDataLst>
          </p:nvPr>
        </p:nvGrpSpPr>
        <p:grpSpPr>
          <a:xfrm>
            <a:off x="4302760" y="2499995"/>
            <a:ext cx="4663440" cy="718820"/>
            <a:chOff x="5158" y="4775"/>
            <a:chExt cx="7344" cy="1132"/>
          </a:xfrm>
        </p:grpSpPr>
        <p:grpSp>
          <p:nvGrpSpPr>
            <p:cNvPr id="9" name="组合 8"/>
            <p:cNvGrpSpPr/>
            <p:nvPr>
              <p:custDataLst>
                <p:tags r:id="rId7"/>
              </p:custDataLst>
            </p:nvPr>
          </p:nvGrpSpPr>
          <p:grpSpPr>
            <a:xfrm>
              <a:off x="5158" y="4775"/>
              <a:ext cx="1078" cy="1062"/>
              <a:chOff x="6234" y="5849"/>
              <a:chExt cx="1078" cy="1062"/>
            </a:xfrm>
          </p:grpSpPr>
          <p:sp>
            <p:nvSpPr>
              <p:cNvPr id="30" name="椭圆 29"/>
              <p:cNvSpPr/>
              <p:nvPr>
                <p:custDataLst>
                  <p:tags r:id="rId8"/>
                </p:custDataLst>
              </p:nvPr>
            </p:nvSpPr>
            <p:spPr>
              <a:xfrm>
                <a:off x="6242" y="5849"/>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34" name="文本框 33"/>
              <p:cNvSpPr txBox="1"/>
              <p:nvPr>
                <p:custDataLst>
                  <p:tags r:id="rId9"/>
                </p:custDataLst>
              </p:nvPr>
            </p:nvSpPr>
            <p:spPr>
              <a:xfrm>
                <a:off x="6234" y="5920"/>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02</a:t>
                </a:r>
                <a:endParaRPr lang="en-US" altLang="zh-CN" sz="3200" b="1">
                  <a:solidFill>
                    <a:srgbClr val="FCFCFC"/>
                  </a:solidFill>
                  <a:latin typeface="微软雅黑" panose="020B0503020204020204" charset="-122"/>
                  <a:ea typeface="微软雅黑" panose="020B0503020204020204" charset="-122"/>
                </a:endParaRPr>
              </a:p>
            </p:txBody>
          </p:sp>
        </p:grpSp>
        <p:sp>
          <p:nvSpPr>
            <p:cNvPr id="7" name="文本框 6"/>
            <p:cNvSpPr txBox="1"/>
            <p:nvPr>
              <p:custDataLst>
                <p:tags r:id="rId10"/>
              </p:custDataLst>
            </p:nvPr>
          </p:nvSpPr>
          <p:spPr>
            <a:xfrm>
              <a:off x="6834" y="4775"/>
              <a:ext cx="5669" cy="1133"/>
            </a:xfrm>
            <a:prstGeom prst="rect">
              <a:avLst/>
            </a:prstGeom>
            <a:noFill/>
          </p:spPr>
          <p:txBody>
            <a:bodyPr wrap="square" rtlCol="0" anchor="t">
              <a:noAutofit/>
            </a:bodyPr>
            <a:p>
              <a:pPr algn="l"/>
              <a:r>
                <a:rPr lang="zh-CN" altLang="en-US" sz="2500" b="1" dirty="0">
                  <a:solidFill>
                    <a:srgbClr val="161915"/>
                  </a:solidFill>
                  <a:latin typeface="Arial" panose="020B0604020202020204" pitchFamily="34" charset="0"/>
                  <a:ea typeface="微软雅黑" panose="020B0503020204020204" charset="-122"/>
                  <a:cs typeface="+mn-ea"/>
                </a:rPr>
                <a:t>技术实现与</a:t>
              </a:r>
              <a:r>
                <a:rPr lang="zh-CN" altLang="en-US" sz="2500" b="1" dirty="0">
                  <a:solidFill>
                    <a:srgbClr val="161915"/>
                  </a:solidFill>
                  <a:latin typeface="Arial" panose="020B0604020202020204" pitchFamily="34" charset="0"/>
                  <a:ea typeface="微软雅黑" panose="020B0503020204020204" charset="-122"/>
                  <a:cs typeface="+mn-ea"/>
                </a:rPr>
                <a:t>架构</a:t>
              </a:r>
              <a:endParaRPr lang="zh-CN" altLang="en-US" sz="2500" b="1" dirty="0">
                <a:solidFill>
                  <a:srgbClr val="161915"/>
                </a:solidFill>
                <a:latin typeface="Arial" panose="020B0604020202020204" pitchFamily="34" charset="0"/>
                <a:ea typeface="微软雅黑" panose="020B0503020204020204" charset="-122"/>
                <a:cs typeface="+mn-ea"/>
              </a:endParaRPr>
            </a:p>
          </p:txBody>
        </p:sp>
      </p:grpSp>
      <p:grpSp>
        <p:nvGrpSpPr>
          <p:cNvPr id="17" name="组合 16"/>
          <p:cNvGrpSpPr/>
          <p:nvPr>
            <p:custDataLst>
              <p:tags r:id="rId11"/>
            </p:custDataLst>
          </p:nvPr>
        </p:nvGrpSpPr>
        <p:grpSpPr>
          <a:xfrm>
            <a:off x="4302760" y="3579495"/>
            <a:ext cx="4663440" cy="718820"/>
            <a:chOff x="5158" y="6324"/>
            <a:chExt cx="7344" cy="1132"/>
          </a:xfrm>
        </p:grpSpPr>
        <p:grpSp>
          <p:nvGrpSpPr>
            <p:cNvPr id="10" name="组合 9"/>
            <p:cNvGrpSpPr/>
            <p:nvPr>
              <p:custDataLst>
                <p:tags r:id="rId12"/>
              </p:custDataLst>
            </p:nvPr>
          </p:nvGrpSpPr>
          <p:grpSpPr>
            <a:xfrm>
              <a:off x="5158" y="6324"/>
              <a:ext cx="1078" cy="1062"/>
              <a:chOff x="6633" y="6999"/>
              <a:chExt cx="1078" cy="1062"/>
            </a:xfrm>
          </p:grpSpPr>
          <p:sp>
            <p:nvSpPr>
              <p:cNvPr id="2" name="椭圆 1"/>
              <p:cNvSpPr/>
              <p:nvPr>
                <p:custDataLst>
                  <p:tags r:id="rId13"/>
                </p:custDataLst>
              </p:nvPr>
            </p:nvSpPr>
            <p:spPr>
              <a:xfrm>
                <a:off x="6641" y="6999"/>
                <a:ext cx="1062" cy="1062"/>
              </a:xfrm>
              <a:prstGeom prst="ellipse">
                <a:avLst/>
              </a:prstGeom>
              <a:solidFill>
                <a:srgbClr val="DF071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endParaRPr>
              </a:p>
            </p:txBody>
          </p:sp>
          <p:sp>
            <p:nvSpPr>
              <p:cNvPr id="4" name="文本框 3"/>
              <p:cNvSpPr txBox="1"/>
              <p:nvPr>
                <p:custDataLst>
                  <p:tags r:id="rId14"/>
                </p:custDataLst>
              </p:nvPr>
            </p:nvSpPr>
            <p:spPr>
              <a:xfrm>
                <a:off x="6633" y="7071"/>
                <a:ext cx="1078" cy="919"/>
              </a:xfrm>
              <a:prstGeom prst="rect">
                <a:avLst/>
              </a:prstGeom>
              <a:noFill/>
            </p:spPr>
            <p:txBody>
              <a:bodyPr wrap="none" rtlCol="0">
                <a:spAutoFit/>
              </a:bodyPr>
              <a:p>
                <a:r>
                  <a:rPr lang="en-US" altLang="zh-CN" sz="3200" b="1">
                    <a:solidFill>
                      <a:srgbClr val="FEFEFE"/>
                    </a:solidFill>
                    <a:latin typeface="微软雅黑" panose="020B0503020204020204" charset="-122"/>
                    <a:ea typeface="微软雅黑" panose="020B0503020204020204" charset="-122"/>
                  </a:rPr>
                  <a:t>03</a:t>
                </a:r>
                <a:endParaRPr lang="en-US" altLang="zh-CN" sz="3200" b="1">
                  <a:solidFill>
                    <a:srgbClr val="FEFEFE"/>
                  </a:solidFill>
                  <a:latin typeface="微软雅黑" panose="020B0503020204020204" charset="-122"/>
                  <a:ea typeface="微软雅黑" panose="020B0503020204020204" charset="-122"/>
                </a:endParaRPr>
              </a:p>
            </p:txBody>
          </p:sp>
        </p:grpSp>
        <p:sp>
          <p:nvSpPr>
            <p:cNvPr id="12" name="文本框 11"/>
            <p:cNvSpPr txBox="1"/>
            <p:nvPr>
              <p:custDataLst>
                <p:tags r:id="rId15"/>
              </p:custDataLst>
            </p:nvPr>
          </p:nvSpPr>
          <p:spPr>
            <a:xfrm>
              <a:off x="6834" y="6324"/>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rPr>
                <a:t>评分标准与提交</a:t>
              </a:r>
              <a:endParaRPr lang="zh-CN" altLang="en-US" sz="2500" b="1" dirty="0">
                <a:solidFill>
                  <a:srgbClr val="161915"/>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8" name="组合 17"/>
          <p:cNvGrpSpPr/>
          <p:nvPr>
            <p:custDataLst>
              <p:tags r:id="rId16"/>
            </p:custDataLst>
          </p:nvPr>
        </p:nvGrpSpPr>
        <p:grpSpPr>
          <a:xfrm>
            <a:off x="4302760" y="4658995"/>
            <a:ext cx="4620260" cy="718820"/>
            <a:chOff x="5158" y="8327"/>
            <a:chExt cx="7276" cy="1132"/>
          </a:xfrm>
        </p:grpSpPr>
        <p:grpSp>
          <p:nvGrpSpPr>
            <p:cNvPr id="3" name="组合 2"/>
            <p:cNvGrpSpPr/>
            <p:nvPr>
              <p:custDataLst>
                <p:tags r:id="rId17"/>
              </p:custDataLst>
            </p:nvPr>
          </p:nvGrpSpPr>
          <p:grpSpPr>
            <a:xfrm>
              <a:off x="5158" y="8327"/>
              <a:ext cx="1078" cy="1062"/>
              <a:chOff x="6598" y="5764"/>
              <a:chExt cx="1078" cy="1062"/>
            </a:xfrm>
          </p:grpSpPr>
          <p:sp>
            <p:nvSpPr>
              <p:cNvPr id="5" name="椭圆 4"/>
              <p:cNvSpPr/>
              <p:nvPr>
                <p:custDataLst>
                  <p:tags r:id="rId18"/>
                </p:custDataLst>
              </p:nvPr>
            </p:nvSpPr>
            <p:spPr>
              <a:xfrm>
                <a:off x="6606" y="5764"/>
                <a:ext cx="1062" cy="1062"/>
              </a:xfrm>
              <a:prstGeom prst="ellipse">
                <a:avLst/>
              </a:prstGeom>
              <a:solidFill>
                <a:srgbClr val="10A7F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1"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endParaRPr>
              </a:p>
            </p:txBody>
          </p:sp>
          <p:sp>
            <p:nvSpPr>
              <p:cNvPr id="6" name="文本框 5"/>
              <p:cNvSpPr txBox="1"/>
              <p:nvPr>
                <p:custDataLst>
                  <p:tags r:id="rId19"/>
                </p:custDataLst>
              </p:nvPr>
            </p:nvSpPr>
            <p:spPr>
              <a:xfrm>
                <a:off x="6598" y="5836"/>
                <a:ext cx="1078" cy="919"/>
              </a:xfrm>
              <a:prstGeom prst="rect">
                <a:avLst/>
              </a:prstGeom>
              <a:noFill/>
            </p:spPr>
            <p:txBody>
              <a:bodyPr wrap="none" rtlCol="0">
                <a:spAutoFit/>
              </a:bodyPr>
              <a:lstStyle/>
              <a:p>
                <a:r>
                  <a:rPr lang="en-US" altLang="zh-CN" sz="3200" b="1">
                    <a:solidFill>
                      <a:srgbClr val="FCFCFC"/>
                    </a:solidFill>
                    <a:latin typeface="微软雅黑" panose="020B0503020204020204" charset="-122"/>
                    <a:ea typeface="微软雅黑" panose="020B0503020204020204" charset="-122"/>
                  </a:rPr>
                  <a:t>04</a:t>
                </a:r>
                <a:endParaRPr lang="en-US" altLang="zh-CN" sz="3200" b="1">
                  <a:solidFill>
                    <a:srgbClr val="FCFCFC"/>
                  </a:solidFill>
                  <a:latin typeface="微软雅黑" panose="020B0503020204020204" charset="-122"/>
                  <a:ea typeface="微软雅黑" panose="020B0503020204020204" charset="-122"/>
                </a:endParaRPr>
              </a:p>
            </p:txBody>
          </p:sp>
        </p:grpSp>
        <p:sp>
          <p:nvSpPr>
            <p:cNvPr id="13" name="文本框 12"/>
            <p:cNvSpPr txBox="1"/>
            <p:nvPr>
              <p:custDataLst>
                <p:tags r:id="rId20"/>
              </p:custDataLst>
            </p:nvPr>
          </p:nvSpPr>
          <p:spPr>
            <a:xfrm>
              <a:off x="6766" y="8327"/>
              <a:ext cx="5669" cy="1133"/>
            </a:xfrm>
            <a:prstGeom prst="rect">
              <a:avLst/>
            </a:prstGeom>
            <a:noFill/>
          </p:spPr>
          <p:txBody>
            <a:bodyPr wrap="square" rtlCol="0">
              <a:noAutofit/>
              <a:scene3d>
                <a:camera prst="orthographicFront"/>
                <a:lightRig rig="threePt" dir="t"/>
              </a:scene3d>
              <a:sp3d contourW="12700"/>
            </a:bodyPr>
            <a:p>
              <a:pPr algn="l">
                <a:buClrTx/>
                <a:buSzTx/>
                <a:buFontTx/>
              </a:pPr>
              <a:r>
                <a:rPr lang="zh-CN" altLang="en-US" sz="2500" b="1" dirty="0">
                  <a:solidFill>
                    <a:srgbClr val="FF0000"/>
                  </a:solidFill>
                  <a:latin typeface="Arial" panose="020B0604020202020204" pitchFamily="34" charset="0"/>
                  <a:ea typeface="微软雅黑" panose="020B0503020204020204" charset="-122"/>
                  <a:cs typeface="+mn-ea"/>
                  <a:sym typeface="Arial" panose="020B0604020202020204" pitchFamily="34" charset="0"/>
                </a:rPr>
                <a:t>备赛建议与答疑</a:t>
              </a:r>
              <a:endParaRPr lang="zh-CN" altLang="en-US" sz="2500" b="1" dirty="0">
                <a:solidFill>
                  <a:srgbClr val="FF0000"/>
                </a:solidFill>
                <a:latin typeface="Arial" panose="020B0604020202020204" pitchFamily="34" charset="0"/>
                <a:ea typeface="微软雅黑" panose="020B0503020204020204" charset="-122"/>
                <a:cs typeface="+mn-ea"/>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timing>
    <p:tnLst>
      <p:par>
        <p:cTn id="1" dur="indefinite" restart="never" nodeType="tmRoot"/>
      </p:par>
    </p:tnLst>
    <p:bldLst>
      <p:bldP spid="37" grpId="0"/>
      <p:bldP spid="6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2"/>
          <a:stretch>
            <a:fillRect/>
          </a:stretch>
        </p:blipFill>
        <p:spPr>
          <a:xfrm>
            <a:off x="10841990" y="121285"/>
            <a:ext cx="1016000" cy="607695"/>
          </a:xfrm>
          <a:prstGeom prst="rect">
            <a:avLst/>
          </a:prstGeom>
        </p:spPr>
      </p:pic>
      <p:sp>
        <p:nvSpPr>
          <p:cNvPr id="3" name="矩形 2"/>
          <p:cNvSpPr/>
          <p:nvPr>
            <p:custDataLst>
              <p:tags r:id="rId3"/>
            </p:custDataLst>
          </p:nvPr>
        </p:nvSpPr>
        <p:spPr>
          <a:xfrm>
            <a:off x="666766" y="206360"/>
            <a:ext cx="1508760" cy="460375"/>
          </a:xfrm>
          <a:prstGeom prst="rect">
            <a:avLst/>
          </a:prstGeom>
        </p:spPr>
        <p:txBody>
          <a:bodyPr wrap="none">
            <a:spAutoFit/>
          </a:bodyPr>
          <a:p>
            <a:pPr algn="l"/>
            <a:r>
              <a:rPr kumimoji="1" lang="zh-CN" altLang="en-US" sz="2400" b="1" spc="200" dirty="0">
                <a:latin typeface="微软雅黑" panose="020B0503020204020204" charset="-122"/>
                <a:ea typeface="微软雅黑" panose="020B0503020204020204" charset="-122"/>
              </a:rPr>
              <a:t>备赛建议</a:t>
            </a:r>
            <a:endParaRPr kumimoji="1" lang="zh-CN" altLang="en-US" sz="2400" b="1" spc="200" dirty="0">
              <a:latin typeface="微软雅黑" panose="020B0503020204020204" charset="-122"/>
              <a:ea typeface="微软雅黑" panose="020B0503020204020204" charset="-122"/>
            </a:endParaRPr>
          </a:p>
        </p:txBody>
      </p:sp>
      <p:sp>
        <p:nvSpPr>
          <p:cNvPr id="15" name="矩形 14"/>
          <p:cNvSpPr/>
          <p:nvPr>
            <p:custDataLst>
              <p:tags r:id="rId4"/>
            </p:custDataLst>
          </p:nvPr>
        </p:nvSpPr>
        <p:spPr>
          <a:xfrm>
            <a:off x="384937" y="215059"/>
            <a:ext cx="89809" cy="41702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endParaRPr>
          </a:p>
        </p:txBody>
      </p:sp>
      <p:sp>
        <p:nvSpPr>
          <p:cNvPr id="8" name="任意多边形 7"/>
          <p:cNvSpPr/>
          <p:nvPr>
            <p:custDataLst>
              <p:tags r:id="rId5"/>
            </p:custDataLst>
          </p:nvPr>
        </p:nvSpPr>
        <p:spPr>
          <a:xfrm>
            <a:off x="596900" y="1390650"/>
            <a:ext cx="2872105"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1" name="任意多边形 30"/>
          <p:cNvSpPr/>
          <p:nvPr>
            <p:custDataLst>
              <p:tags r:id="rId6"/>
            </p:custDataLst>
          </p:nvPr>
        </p:nvSpPr>
        <p:spPr>
          <a:xfrm>
            <a:off x="1695069" y="181959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1">
              <a:lumMod val="0"/>
              <a:lumOff val="100000"/>
            </a:schemeClr>
          </a:solidFill>
          <a:ln w="14288">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0" name="图片 29" descr="wpsai:10787481750.svg"/>
          <p:cNvPicPr preferRelativeResize="0"/>
          <p:nvPr>
            <p:custDataLst>
              <p:tags r:id="rId7"/>
            </p:custDataLst>
          </p:nvPr>
        </p:nvPicPr>
        <p:blipFill rotWithShape="1">
          <a:blip r:embed="rId8">
            <a:extLst>
              <a:ext uri="{96DAC541-7B7A-43D3-8B79-37D633B846F1}">
                <asvg:svgBlip xmlns:asvg="http://schemas.microsoft.com/office/drawing/2016/SVG/main" r:embed="rId9"/>
              </a:ext>
            </a:extLst>
          </a:blip>
          <a:stretch>
            <a:fillRect/>
          </a:stretch>
        </p:blipFill>
        <p:spPr>
          <a:xfrm>
            <a:off x="1822069" y="1946593"/>
            <a:ext cx="355600" cy="355600"/>
          </a:xfrm>
          <a:prstGeom prst="rect">
            <a:avLst/>
          </a:prstGeom>
          <a:noFill/>
        </p:spPr>
      </p:pic>
      <p:sp>
        <p:nvSpPr>
          <p:cNvPr id="267" name="文本框 266"/>
          <p:cNvSpPr txBox="1"/>
          <p:nvPr>
            <p:custDataLst>
              <p:tags r:id="rId10"/>
            </p:custDataLst>
          </p:nvPr>
        </p:nvSpPr>
        <p:spPr>
          <a:xfrm>
            <a:off x="1289050" y="2632393"/>
            <a:ext cx="1421638" cy="355600"/>
          </a:xfrm>
          <a:prstGeom prst="rect">
            <a:avLst/>
          </a:prstGeom>
          <a:noFill/>
        </p:spPr>
        <p:txBody>
          <a:bodyPr wrap="square" lIns="17780" tIns="0" rIns="17780" bIns="0" rtlCol="0" anchor="t">
            <a:noAutofit/>
          </a:bodyPr>
          <a:p>
            <a:pPr algn="ctr"/>
            <a:r>
              <a:rPr lang="zh-CN" altLang="en-US" sz="2135">
                <a:solidFill>
                  <a:schemeClr val="bg1"/>
                </a:solidFill>
                <a:latin typeface="微软雅黑" panose="020B0503020204020204" charset="-122"/>
                <a:ea typeface="微软雅黑" panose="020B0503020204020204" charset="-122"/>
                <a:cs typeface="微软雅黑" panose="020B0503020204020204" charset="-122"/>
              </a:rPr>
              <a:t>阶段1</a:t>
            </a:r>
            <a:endParaRPr lang="zh-CN" altLang="en-US" sz="2135"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268" name="文本框 267"/>
          <p:cNvSpPr txBox="1"/>
          <p:nvPr>
            <p:custDataLst>
              <p:tags r:id="rId11"/>
            </p:custDataLst>
          </p:nvPr>
        </p:nvSpPr>
        <p:spPr>
          <a:xfrm>
            <a:off x="857250" y="3258820"/>
            <a:ext cx="2368550" cy="1587500"/>
          </a:xfrm>
          <a:prstGeom prst="rect">
            <a:avLst/>
          </a:prstGeom>
          <a:noFill/>
        </p:spPr>
        <p:txBody>
          <a:bodyPr wrap="square" lIns="17780" tIns="0" rIns="17780" bIns="0" rtlCol="0" anchor="t">
            <a:noAutofit/>
          </a:bodyPr>
          <a:p>
            <a:pPr marL="342900" indent="-34290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开发环境与轻量化存储</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多源数据整合，实现数据清洗与标准化</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设计记忆交互逻辑，开发基础接口</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 name="任意多边形 9"/>
          <p:cNvSpPr/>
          <p:nvPr>
            <p:custDataLst>
              <p:tags r:id="rId12"/>
            </p:custDataLst>
          </p:nvPr>
        </p:nvSpPr>
        <p:spPr>
          <a:xfrm>
            <a:off x="4667250" y="1390650"/>
            <a:ext cx="2845435"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2"/>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3" name="任意多边形 32"/>
          <p:cNvSpPr/>
          <p:nvPr>
            <p:custDataLst>
              <p:tags r:id="rId13"/>
            </p:custDataLst>
          </p:nvPr>
        </p:nvSpPr>
        <p:spPr>
          <a:xfrm>
            <a:off x="5760847" y="181959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2">
              <a:lumMod val="0"/>
              <a:lumOff val="100000"/>
            </a:schemeClr>
          </a:solidFill>
          <a:ln w="14288">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2" name="图片 31" descr="wpsai:10787481879.svg"/>
          <p:cNvPicPr preferRelativeResize="0"/>
          <p:nvPr>
            <p:custDataLst>
              <p:tags r:id="rId14"/>
            </p:custDataLst>
          </p:nvPr>
        </p:nvPicPr>
        <p:blipFill rotWithShape="1">
          <a:blip r:embed="rId15">
            <a:extLst>
              <a:ext uri="{96DAC541-7B7A-43D3-8B79-37D633B846F1}">
                <asvg:svgBlip xmlns:asvg="http://schemas.microsoft.com/office/drawing/2016/SVG/main" r:embed="rId16"/>
              </a:ext>
            </a:extLst>
          </a:blip>
          <a:stretch>
            <a:fillRect/>
          </a:stretch>
        </p:blipFill>
        <p:spPr>
          <a:xfrm>
            <a:off x="5887847" y="1946593"/>
            <a:ext cx="355600" cy="355600"/>
          </a:xfrm>
          <a:prstGeom prst="rect">
            <a:avLst/>
          </a:prstGeom>
          <a:noFill/>
        </p:spPr>
      </p:pic>
      <p:sp>
        <p:nvSpPr>
          <p:cNvPr id="269" name="文本框 268"/>
          <p:cNvSpPr txBox="1"/>
          <p:nvPr>
            <p:custDataLst>
              <p:tags r:id="rId17"/>
            </p:custDataLst>
          </p:nvPr>
        </p:nvSpPr>
        <p:spPr>
          <a:xfrm>
            <a:off x="5354828" y="2632393"/>
            <a:ext cx="1421638" cy="355600"/>
          </a:xfrm>
          <a:prstGeom prst="rect">
            <a:avLst/>
          </a:prstGeom>
          <a:noFill/>
        </p:spPr>
        <p:txBody>
          <a:bodyPr wrap="square" lIns="17780" tIns="0" rIns="17780" bIns="0" rtlCol="0" anchor="t">
            <a:noAutofit/>
          </a:bodyPr>
          <a:p>
            <a:pPr algn="ctr">
              <a:buClrTx/>
              <a:buSzTx/>
              <a:buFontTx/>
            </a:pPr>
            <a:r>
              <a:rPr lang="zh-CN" altLang="en-US" sz="2135">
                <a:solidFill>
                  <a:schemeClr val="bg1"/>
                </a:solidFill>
                <a:latin typeface="微软雅黑" panose="020B0503020204020204" charset="-122"/>
                <a:ea typeface="微软雅黑" panose="020B0503020204020204" charset="-122"/>
                <a:cs typeface="微软雅黑" panose="020B0503020204020204" charset="-122"/>
              </a:rPr>
              <a:t>阶段2</a:t>
            </a:r>
            <a:endParaRPr lang="zh-CN" altLang="en-US" sz="2135">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0" name="文本框 269"/>
          <p:cNvSpPr txBox="1"/>
          <p:nvPr>
            <p:custDataLst>
              <p:tags r:id="rId18"/>
            </p:custDataLst>
          </p:nvPr>
        </p:nvSpPr>
        <p:spPr>
          <a:xfrm>
            <a:off x="4910455" y="3550285"/>
            <a:ext cx="2322830" cy="1186180"/>
          </a:xfrm>
          <a:prstGeom prst="rect">
            <a:avLst/>
          </a:prstGeom>
          <a:noFill/>
        </p:spPr>
        <p:txBody>
          <a:bodyPr wrap="square" lIns="17780" tIns="0" rIns="17780" bIns="0" rtlCol="0" anchor="t">
            <a:noAutofit/>
          </a:bodyPr>
          <a:p>
            <a:pPr marL="285750" indent="-28575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偏好记忆动态捕捉</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marL="285750" indent="-28575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知识记忆提取与整合</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marL="285750" indent="-28575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敏感信息处理</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 name="任意多边形 12"/>
          <p:cNvSpPr/>
          <p:nvPr>
            <p:custDataLst>
              <p:tags r:id="rId19"/>
            </p:custDataLst>
          </p:nvPr>
        </p:nvSpPr>
        <p:spPr>
          <a:xfrm>
            <a:off x="8710930" y="1390650"/>
            <a:ext cx="2856865" cy="3725545"/>
          </a:xfrm>
          <a:custGeom>
            <a:avLst/>
            <a:gdLst>
              <a:gd name="sw" fmla="*/ 1 w 2958"/>
              <a:gd name="sh" fmla="*/ 1 h 5867"/>
              <a:gd name="mins" fmla="min sw sh"/>
              <a:gd name="dsw" fmla="+- 0 sw mins"/>
              <a:gd name="dsh" fmla="+- 0 sh mins"/>
              <a:gd name="p0x0" fmla="*/ 480 w 2958"/>
              <a:gd name="p0y0" fmla="*/ 0 h 5867"/>
              <a:gd name="p0x1" fmla="*/ 2478 w 2958"/>
              <a:gd name="p0y1" fmla="*/ 0 h 5867"/>
              <a:gd name="p0x2" fmla="*/ 2743 w 2958"/>
              <a:gd name="p0y2" fmla="*/ 0 h 5867"/>
              <a:gd name="p0x3" fmla="*/ 2958 w 2958"/>
              <a:gd name="p0y3" fmla="*/ 214 h 5867"/>
              <a:gd name="p0x4" fmla="*/ 2958 w 2958"/>
              <a:gd name="p0y4" fmla="*/ 480 h 5867"/>
              <a:gd name="p0x5" fmla="*/ 2958 w 2958"/>
              <a:gd name="p0y5" fmla="*/ 5387 h 5867"/>
              <a:gd name="p0x6" fmla="*/ 2958 w 2958"/>
              <a:gd name="p0y6" fmla="*/ 5652 h 5867"/>
              <a:gd name="p0x7" fmla="*/ 2743 w 2958"/>
              <a:gd name="p0y7" fmla="*/ 5867 h 5867"/>
              <a:gd name="p0x8" fmla="*/ 2478 w 2958"/>
              <a:gd name="p0y8" fmla="*/ 5867 h 5867"/>
              <a:gd name="p0x9" fmla="*/ 480 w 2958"/>
              <a:gd name="p0y9" fmla="*/ 5867 h 5867"/>
              <a:gd name="p0x10" fmla="*/ 214 w 2958"/>
              <a:gd name="p0y10" fmla="*/ 5867 h 5867"/>
              <a:gd name="p0x11" fmla="*/ 0 w 2958"/>
              <a:gd name="p0y11" fmla="*/ 5652 h 5867"/>
              <a:gd name="p0x12" fmla="*/ 0 w 2958"/>
              <a:gd name="p0y12" fmla="*/ 5387 h 5867"/>
              <a:gd name="p0x13" fmla="*/ 0 w 2958"/>
              <a:gd name="p0y13" fmla="*/ 480 h 5867"/>
              <a:gd name="p0x14" fmla="*/ 0 w 2958"/>
              <a:gd name="p0y14" fmla="*/ 214 h 5867"/>
              <a:gd name="p0x15" fmla="*/ 214 w 2958"/>
              <a:gd name="p0y15" fmla="*/ 0 h 5867"/>
              <a:gd name="p0x16" fmla="*/ 480 w 2958"/>
              <a:gd name="p0y16" fmla="*/ 0 h 5867"/>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chemeClr val="accent1"/>
          </a:solidFill>
          <a:ln>
            <a:noFill/>
          </a:ln>
          <a:effectLst>
            <a:outerShdw blurRad="642938" dist="285750" dir="5399999" algn="tl" rotWithShape="0">
              <a:srgbClr val="000000">
                <a:alpha val="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sp>
        <p:nvSpPr>
          <p:cNvPr id="35" name="任意多边形 34"/>
          <p:cNvSpPr/>
          <p:nvPr>
            <p:custDataLst>
              <p:tags r:id="rId20"/>
            </p:custDataLst>
          </p:nvPr>
        </p:nvSpPr>
        <p:spPr>
          <a:xfrm>
            <a:off x="9834245" y="1684973"/>
            <a:ext cx="609600" cy="609600"/>
          </a:xfrm>
          <a:custGeom>
            <a:avLst/>
            <a:gdLst>
              <a:gd name="sw" fmla="*/ 1 w 685800"/>
              <a:gd name="sh" fmla="*/ 1 h 685800"/>
              <a:gd name="mins" fmla="min sw sh"/>
              <a:gd name="dsw" fmla="+- 0 sw mins"/>
              <a:gd name="dsh" fmla="+- 0 sh mins"/>
              <a:gd name="scale" fmla="*/ mins 1 1"/>
              <a:gd name="dswFixed" fmla="+- 0 sw scale"/>
              <a:gd name="dshFixed" fmla="+- 0 sh scale"/>
              <a:gd name="p0x0" fmla="*/ 342900 w 685800"/>
              <a:gd name="p0y0" fmla="*/ 34211 h 685800"/>
              <a:gd name="p0x1" fmla="*/ 447934 w 685800"/>
              <a:gd name="p0y1" fmla="*/ 34211 h 685800"/>
              <a:gd name="p0x2" fmla="*/ 530603 w 685800"/>
              <a:gd name="p0y2" fmla="*/ 41106 h 685800"/>
              <a:gd name="p0x3" fmla="*/ 587833 w 685800"/>
              <a:gd name="p0y3" fmla="*/ 98133 h 685800"/>
              <a:gd name="p0x4" fmla="*/ 645173 w 685800"/>
              <a:gd name="p0y4" fmla="*/ 155270 h 685800"/>
              <a:gd name="p0x5" fmla="*/ 651578 w 685800"/>
              <a:gd name="p0y5" fmla="*/ 237976 h 685800"/>
              <a:gd name="p0x6" fmla="*/ 651578 w 685800"/>
              <a:gd name="p0y6" fmla="*/ 343216 h 685800"/>
              <a:gd name="p0x7" fmla="*/ 651578 w 685800"/>
              <a:gd name="p0y7" fmla="*/ 448299 h 685800"/>
              <a:gd name="p0x8" fmla="*/ 645225 w 685800"/>
              <a:gd name="p0y8" fmla="*/ 530976 h 685800"/>
              <a:gd name="p0x9" fmla="*/ 588038 w 685800"/>
              <a:gd name="p0y9" fmla="*/ 588112 h 685800"/>
              <a:gd name="p0x10" fmla="*/ 530849 w 685800"/>
              <a:gd name="p0y10" fmla="*/ 645251 h 685800"/>
              <a:gd name="p0x11" fmla="*/ 448117 w 685800"/>
              <a:gd name="p0y11" fmla="*/ 651578 h 685800"/>
              <a:gd name="p0x12" fmla="*/ 342900 w 685800"/>
              <a:gd name="p0y12" fmla="*/ 651578 h 685800"/>
              <a:gd name="p0x13" fmla="*/ 237682 w 685800"/>
              <a:gd name="p0y13" fmla="*/ 651578 h 685800"/>
              <a:gd name="p0x14" fmla="*/ 154950 w 685800"/>
              <a:gd name="p0y14" fmla="*/ 645249 h 685800"/>
              <a:gd name="p0x15" fmla="*/ 97761 w 685800"/>
              <a:gd name="p0y15" fmla="*/ 588112 h 685800"/>
              <a:gd name="p0x16" fmla="*/ 40548 w 685800"/>
              <a:gd name="p0y16" fmla="*/ 530950 h 685800"/>
              <a:gd name="p0x17" fmla="*/ 34211 w 685800"/>
              <a:gd name="p0y17" fmla="*/ 448326 h 685800"/>
              <a:gd name="p0x18" fmla="*/ 34211 w 685800"/>
              <a:gd name="p0y18" fmla="*/ 343216 h 685800"/>
              <a:gd name="p0x19" fmla="*/ 34211 w 685800"/>
              <a:gd name="p0y19" fmla="*/ 238102 h 685800"/>
              <a:gd name="p0x20" fmla="*/ 40547 w 685800"/>
              <a:gd name="p0y20" fmla="*/ 155448 h 685800"/>
              <a:gd name="p0x21" fmla="*/ 97733 w 685800"/>
              <a:gd name="p0y21" fmla="*/ 98338 h 685800"/>
              <a:gd name="p0x22" fmla="*/ 154938 w 685800"/>
              <a:gd name="p0y22" fmla="*/ 41186 h 685800"/>
              <a:gd name="p0x23" fmla="*/ 237710 w 685800"/>
              <a:gd name="p0y23" fmla="*/ 34211 h 685800"/>
              <a:gd name="p0x24" fmla="*/ 342900 w 685800"/>
              <a:gd name="p0y24" fmla="*/ 34211 h 68580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ubicBezTo>
                  <a:pt x="p0x13" y="p0y13"/>
                  <a:pt x="p0x14" y="p0y14"/>
                  <a:pt x="p0x15" y="p0y15"/>
                </a:cubicBezTo>
                <a:cubicBezTo>
                  <a:pt x="p0x16" y="p0y16"/>
                  <a:pt x="p0x17" y="p0y17"/>
                  <a:pt x="p0x18" y="p0y18"/>
                </a:cubicBezTo>
                <a:cubicBezTo>
                  <a:pt x="p0x19" y="p0y19"/>
                  <a:pt x="p0x20" y="p0y20"/>
                  <a:pt x="p0x21" y="p0y21"/>
                </a:cubicBezTo>
                <a:cubicBezTo>
                  <a:pt x="p0x22" y="p0y22"/>
                  <a:pt x="p0x23" y="p0y23"/>
                  <a:pt x="p0x24" y="p0y24"/>
                </a:cubicBezTo>
                <a:close/>
              </a:path>
            </a:pathLst>
          </a:custGeom>
          <a:solidFill>
            <a:schemeClr val="accent1">
              <a:lumMod val="0"/>
              <a:lumOff val="100000"/>
            </a:schemeClr>
          </a:solidFill>
          <a:ln w="14288">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latin typeface="等线" panose="02010600030101010101" charset="-122"/>
              <a:ea typeface="等线" panose="02010600030101010101" charset="-122"/>
            </a:endParaRPr>
          </a:p>
        </p:txBody>
      </p:sp>
      <p:pic>
        <p:nvPicPr>
          <p:cNvPr id="34" name="图片 33" descr="wpsai:10787480512.svg"/>
          <p:cNvPicPr preferRelativeResize="0"/>
          <p:nvPr>
            <p:custDataLst>
              <p:tags r:id="rId21"/>
            </p:custDataLst>
          </p:nvPr>
        </p:nvPicPr>
        <p:blipFill rotWithShape="1">
          <a:blip r:embed="rId22">
            <a:extLst>
              <a:ext uri="{96DAC541-7B7A-43D3-8B79-37D633B846F1}">
                <asvg:svgBlip xmlns:asvg="http://schemas.microsoft.com/office/drawing/2016/SVG/main" r:embed="rId23"/>
              </a:ext>
            </a:extLst>
          </a:blip>
          <a:stretch>
            <a:fillRect/>
          </a:stretch>
        </p:blipFill>
        <p:spPr>
          <a:xfrm>
            <a:off x="9961245" y="1811973"/>
            <a:ext cx="355600" cy="355600"/>
          </a:xfrm>
          <a:prstGeom prst="rect">
            <a:avLst/>
          </a:prstGeom>
          <a:noFill/>
        </p:spPr>
      </p:pic>
      <p:sp>
        <p:nvSpPr>
          <p:cNvPr id="271" name="文本框 270"/>
          <p:cNvSpPr txBox="1"/>
          <p:nvPr>
            <p:custDataLst>
              <p:tags r:id="rId24"/>
            </p:custDataLst>
          </p:nvPr>
        </p:nvSpPr>
        <p:spPr>
          <a:xfrm>
            <a:off x="9428226" y="2497773"/>
            <a:ext cx="1421638" cy="355600"/>
          </a:xfrm>
          <a:prstGeom prst="rect">
            <a:avLst/>
          </a:prstGeom>
          <a:noFill/>
        </p:spPr>
        <p:txBody>
          <a:bodyPr wrap="square" lIns="17780" tIns="0" rIns="17780" bIns="0" rtlCol="0" anchor="t">
            <a:noAutofit/>
          </a:bodyPr>
          <a:p>
            <a:pPr algn="ctr">
              <a:buClrTx/>
              <a:buSzTx/>
              <a:buFontTx/>
            </a:pPr>
            <a:r>
              <a:rPr lang="zh-CN" altLang="en-US" sz="2135">
                <a:solidFill>
                  <a:schemeClr val="bg1"/>
                </a:solidFill>
                <a:latin typeface="微软雅黑" panose="020B0503020204020204" charset="-122"/>
                <a:ea typeface="微软雅黑" panose="020B0503020204020204" charset="-122"/>
                <a:cs typeface="微软雅黑" panose="020B0503020204020204" charset="-122"/>
              </a:rPr>
              <a:t>阶段3</a:t>
            </a:r>
            <a:endParaRPr lang="zh-CN" altLang="en-US" sz="2135">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2" name="文本框 271"/>
          <p:cNvSpPr txBox="1"/>
          <p:nvPr>
            <p:custDataLst>
              <p:tags r:id="rId25"/>
            </p:custDataLst>
          </p:nvPr>
        </p:nvSpPr>
        <p:spPr>
          <a:xfrm>
            <a:off x="8989060" y="3415665"/>
            <a:ext cx="2312035" cy="1565910"/>
          </a:xfrm>
          <a:prstGeom prst="rect">
            <a:avLst/>
          </a:prstGeom>
          <a:noFill/>
        </p:spPr>
        <p:txBody>
          <a:bodyPr wrap="square" lIns="17780" tIns="0" rIns="17780" bIns="0" rtlCol="0" anchor="t">
            <a:noAutofit/>
          </a:bodyPr>
          <a:p>
            <a:pPr marL="342900" indent="-34290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量化评测</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lgn="l">
              <a:lnSpc>
                <a:spcPct val="100000"/>
              </a:lnSpc>
              <a:buClrTx/>
              <a:buSzTx/>
              <a:buFont typeface="Arial" panose="020B0604020202020204" pitchFamily="34" charset="0"/>
              <a:buChar char="•"/>
            </a:pPr>
            <a:r>
              <a:rPr lang="zh-CN" altLang="en-US" sz="1600">
                <a:solidFill>
                  <a:schemeClr val="bg1"/>
                </a:solidFill>
                <a:latin typeface="微软雅黑" panose="020B0503020204020204" charset="-122"/>
                <a:ea typeface="微软雅黑" panose="020B0503020204020204" charset="-122"/>
                <a:cs typeface="微软雅黑" panose="020B0503020204020204" charset="-122"/>
              </a:rPr>
              <a:t>作品提交</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ustDataLst>
      <p:tags r:id="rId2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5" r="5"/>
          <a:stretch>
            <a:fillRect/>
          </a:stretch>
        </p:blipFill>
        <p:spPr>
          <a:xfrm>
            <a:off x="495300" y="6045200"/>
            <a:ext cx="11264900" cy="431800"/>
          </a:xfrm>
          <a:prstGeom prst="rect">
            <a:avLst/>
          </a:prstGeom>
          <a:noFill/>
          <a:ln w="25400" cap="flat" cmpd="sng">
            <a:noFill/>
            <a:prstDash val="solid"/>
            <a:round/>
          </a:ln>
        </p:spPr>
      </p:pic>
      <p:pic>
        <p:nvPicPr>
          <p:cNvPr id="3" name="Picture 3"/>
          <p:cNvPicPr>
            <a:picLocks noChangeAspect="1"/>
          </p:cNvPicPr>
          <p:nvPr/>
        </p:nvPicPr>
        <p:blipFill>
          <a:blip r:embed="rId2"/>
          <a:srcRect l="148" r="148"/>
          <a:stretch>
            <a:fillRect/>
          </a:stretch>
        </p:blipFill>
        <p:spPr>
          <a:xfrm>
            <a:off x="10401300" y="63500"/>
            <a:ext cx="1371600" cy="965200"/>
          </a:xfrm>
          <a:prstGeom prst="rect">
            <a:avLst/>
          </a:prstGeom>
          <a:noFill/>
          <a:ln w="25400" cap="flat" cmpd="sng">
            <a:noFill/>
            <a:prstDash val="solid"/>
            <a:round/>
          </a:ln>
        </p:spPr>
      </p:pic>
      <p:sp>
        <p:nvSpPr>
          <p:cNvPr id="4" name="AutoShape 4"/>
          <p:cNvSpPr/>
          <p:nvPr/>
        </p:nvSpPr>
        <p:spPr>
          <a:xfrm>
            <a:off x="558800" y="393700"/>
            <a:ext cx="88900" cy="419100"/>
          </a:xfrm>
          <a:prstGeom prst="roundRect">
            <a:avLst>
              <a:gd name="adj" fmla="val 0"/>
            </a:avLst>
          </a:prstGeom>
          <a:solidFill>
            <a:srgbClr val="FF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00100" y="304800"/>
            <a:ext cx="5715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高频疑问解答</a:t>
            </a:r>
            <a:endParaRPr lang="en-US" sz="1100"/>
          </a:p>
        </p:txBody>
      </p:sp>
      <p:sp>
        <p:nvSpPr>
          <p:cNvPr id="6" name="AutoShape 6"/>
          <p:cNvSpPr/>
          <p:nvPr/>
        </p:nvSpPr>
        <p:spPr>
          <a:xfrm>
            <a:off x="508000" y="1524000"/>
            <a:ext cx="3556000" cy="4191000"/>
          </a:xfrm>
          <a:prstGeom prst="roundRect">
            <a:avLst>
              <a:gd name="adj" fmla="val 0"/>
            </a:avLst>
          </a:prstGeom>
          <a:solidFill>
            <a:srgbClr val="F9FAFB">
              <a:alpha val="100000"/>
            </a:srgbClr>
          </a:solidFill>
          <a:ln w="12700" cap="flat" cmpd="sng">
            <a:solidFill>
              <a:srgbClr val="E5E7EB">
                <a:alpha val="100000"/>
              </a:srgbClr>
            </a:solidFill>
            <a:prstDash val="solid"/>
            <a:round/>
          </a:ln>
          <a:effectLst>
            <a:outerShdw blurRad="50800" dist="38100" dir="2700000" algn="tl" rotWithShape="0">
              <a:prstClr val="black">
                <a:alpha val="40000"/>
              </a:prstClr>
            </a:outerShdw>
          </a:effectLst>
        </p:spPr>
        <p:txBody>
          <a:bodyPr vert="horz" wrap="square" lIns="63500" tIns="63500" rIns="63500" bIns="63500" rtlCol="0" anchor="ctr"/>
          <a:lstStyle/>
          <a:p>
            <a:pPr algn="ctr">
              <a:defRPr/>
            </a:pPr>
          </a:p>
        </p:txBody>
      </p:sp>
      <p:sp>
        <p:nvSpPr>
          <p:cNvPr id="7" name="AutoShape 7"/>
          <p:cNvSpPr/>
          <p:nvPr/>
        </p:nvSpPr>
        <p:spPr>
          <a:xfrm>
            <a:off x="698500" y="1778000"/>
            <a:ext cx="317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ym typeface="Noto Sans SC" panose="020B0200000000000000" charset="-122"/>
              </a:rPr>
              <a:t>Q1. OS Agent 和 ChatGPT、Siri 啥区别？</a:t>
            </a:r>
            <a:endParaRPr lang="zh-CN" altLang="en-US" sz="2000" b="1"/>
          </a:p>
        </p:txBody>
      </p:sp>
      <p:sp>
        <p:nvSpPr>
          <p:cNvPr id="8" name="AutoShape 8"/>
          <p:cNvSpPr/>
          <p:nvPr/>
        </p:nvSpPr>
        <p:spPr>
          <a:xfrm>
            <a:off x="698500" y="3048000"/>
            <a:ext cx="3175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ym typeface="Noto Sans SC" panose="020B0200000000000000" charset="-122"/>
              </a:rPr>
              <a:t>会用工具、会规划、会记忆 —— 不只是聊天。</a:t>
            </a:r>
            <a:endParaRPr lang="zh-CN" altLang="en-US" sz="1600" b="1"/>
          </a:p>
          <a:p>
            <a:pPr indent="0" algn="l">
              <a:lnSpc>
                <a:spcPct val="125000"/>
              </a:lnSpc>
              <a:spcBef>
                <a:spcPts val="1200"/>
              </a:spcBef>
            </a:pPr>
            <a:r>
              <a:rPr lang="zh-CN" altLang="en-US" sz="1600" b="1" i="0" u="none" strike="noStrike">
                <a:sym typeface="Noto Sans SC" panose="020B0200000000000000" charset="-122"/>
              </a:rPr>
              <a:t>相比传统的聊天机器人或语音助手，OS Agent 具备更强的主动性和执行能力，它能理解复杂指令，调用外部工具解决问题，并在交互中持续学习和记忆。</a:t>
            </a:r>
            <a:endParaRPr lang="zh-CN" altLang="en-US" sz="1600" b="1" i="0" u="none" strike="noStrike">
              <a:sym typeface="Noto Sans SC" panose="020B0200000000000000" charset="-122"/>
            </a:endParaRPr>
          </a:p>
        </p:txBody>
      </p:sp>
      <p:sp>
        <p:nvSpPr>
          <p:cNvPr id="9" name="AutoShape 9"/>
          <p:cNvSpPr/>
          <p:nvPr/>
        </p:nvSpPr>
        <p:spPr>
          <a:xfrm>
            <a:off x="4318000" y="1524000"/>
            <a:ext cx="3556000" cy="4191000"/>
          </a:xfrm>
          <a:prstGeom prst="roundRect">
            <a:avLst>
              <a:gd name="adj" fmla="val 0"/>
            </a:avLst>
          </a:prstGeom>
          <a:solidFill>
            <a:srgbClr val="F9FAFB">
              <a:alpha val="100000"/>
            </a:srgbClr>
          </a:solidFill>
          <a:ln w="12700" cap="flat" cmpd="sng">
            <a:solidFill>
              <a:srgbClr val="E5E7EB">
                <a:alpha val="100000"/>
              </a:srgbClr>
            </a:solidFill>
            <a:prstDash val="solid"/>
            <a:round/>
          </a:ln>
          <a:effectLst>
            <a:outerShdw blurRad="50800" dist="38100" dir="2700000" algn="tl" rotWithShape="0">
              <a:prstClr val="black">
                <a:alpha val="40000"/>
              </a:prstClr>
            </a:outerShdw>
          </a:effectLst>
        </p:spPr>
        <p:txBody>
          <a:bodyPr vert="horz" wrap="square" lIns="63500" tIns="63500" rIns="63500" bIns="63500" rtlCol="0" anchor="ctr"/>
          <a:lstStyle/>
          <a:p>
            <a:pPr algn="ctr">
              <a:defRPr/>
            </a:pPr>
          </a:p>
        </p:txBody>
      </p:sp>
      <p:sp>
        <p:nvSpPr>
          <p:cNvPr id="10" name="AutoShape 10"/>
          <p:cNvSpPr/>
          <p:nvPr/>
        </p:nvSpPr>
        <p:spPr>
          <a:xfrm>
            <a:off x="4508500" y="1778000"/>
            <a:ext cx="317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ym typeface="Noto Sans SC" panose="020B0200000000000000" charset="-122"/>
              </a:rPr>
              <a:t>Q2. 偏好记忆 vs 知识记忆？</a:t>
            </a:r>
            <a:endParaRPr lang="zh-CN" altLang="en-US" sz="2000" b="1"/>
          </a:p>
        </p:txBody>
      </p:sp>
      <p:sp>
        <p:nvSpPr>
          <p:cNvPr id="11" name="AutoShape 11"/>
          <p:cNvSpPr/>
          <p:nvPr/>
        </p:nvSpPr>
        <p:spPr>
          <a:xfrm>
            <a:off x="4508500" y="3048000"/>
            <a:ext cx="3175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ym typeface="Noto Sans SC" panose="020B0200000000000000" charset="-122"/>
              </a:rPr>
              <a:t>偏好 ≈ 用户口味 (你爱喝咖啡)；</a:t>
            </a:r>
            <a:br>
              <a:rPr lang="zh-CN" altLang="en-US" sz="1600" b="1" i="0" u="none" strike="noStrike">
                <a:sym typeface="Noto Sans SC" panose="020B0200000000000000" charset="-122"/>
              </a:rPr>
            </a:br>
            <a:r>
              <a:rPr lang="zh-CN" altLang="en-US" sz="1600" b="1" i="0" u="none" strike="noStrike">
                <a:sym typeface="Noto Sans SC" panose="020B0200000000000000" charset="-122"/>
              </a:rPr>
              <a:t>知识 ≈ 外部事实 (咖啡机怎么用)。</a:t>
            </a:r>
            <a:endParaRPr lang="zh-CN" altLang="en-US" sz="1600" b="1"/>
          </a:p>
          <a:p>
            <a:pPr indent="0" algn="l">
              <a:lnSpc>
                <a:spcPct val="125000"/>
              </a:lnSpc>
              <a:spcBef>
                <a:spcPts val="1200"/>
              </a:spcBef>
            </a:pPr>
            <a:r>
              <a:rPr lang="zh-CN" altLang="en-US" sz="1600" b="1" i="0" u="none" strike="noStrike">
                <a:sym typeface="Noto Sans SC" panose="020B0200000000000000" charset="-122"/>
              </a:rPr>
              <a:t>偏好是个性化、主观的用户特征；知识则是客观的、通用的事实性信息。系统需区分处理以提供既有温度又准确的服务。</a:t>
            </a:r>
            <a:endParaRPr lang="zh-CN" altLang="en-US" sz="1600" b="1" i="0" u="none" strike="noStrike">
              <a:sym typeface="Noto Sans SC" panose="020B0200000000000000" charset="-122"/>
            </a:endParaRPr>
          </a:p>
        </p:txBody>
      </p:sp>
      <p:sp>
        <p:nvSpPr>
          <p:cNvPr id="12" name="AutoShape 12"/>
          <p:cNvSpPr/>
          <p:nvPr/>
        </p:nvSpPr>
        <p:spPr>
          <a:xfrm>
            <a:off x="8128000" y="1524000"/>
            <a:ext cx="3556000" cy="4191000"/>
          </a:xfrm>
          <a:prstGeom prst="roundRect">
            <a:avLst>
              <a:gd name="adj" fmla="val 0"/>
            </a:avLst>
          </a:prstGeom>
          <a:solidFill>
            <a:srgbClr val="F9FAFB">
              <a:alpha val="100000"/>
            </a:srgbClr>
          </a:solidFill>
          <a:ln w="12700" cap="flat" cmpd="sng">
            <a:solidFill>
              <a:srgbClr val="E5E7EB">
                <a:alpha val="100000"/>
              </a:srgbClr>
            </a:solidFill>
            <a:prstDash val="solid"/>
            <a:round/>
          </a:ln>
          <a:effectLst>
            <a:outerShdw blurRad="50800" dist="38100" dir="2700000" algn="tl" rotWithShape="0">
              <a:prstClr val="black">
                <a:alpha val="40000"/>
              </a:prstClr>
            </a:outerShdw>
          </a:effectLst>
        </p:spPr>
        <p:txBody>
          <a:bodyPr vert="horz" wrap="square" lIns="63500" tIns="63500" rIns="63500" bIns="63500" rtlCol="0" anchor="ctr"/>
          <a:lstStyle/>
          <a:p>
            <a:pPr algn="ctr">
              <a:defRPr/>
            </a:pPr>
          </a:p>
        </p:txBody>
      </p:sp>
      <p:sp>
        <p:nvSpPr>
          <p:cNvPr id="13" name="AutoShape 13"/>
          <p:cNvSpPr/>
          <p:nvPr/>
        </p:nvSpPr>
        <p:spPr>
          <a:xfrm>
            <a:off x="8318500" y="1778000"/>
            <a:ext cx="317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ym typeface="Noto Sans SC" panose="020B0200000000000000" charset="-122"/>
              </a:rPr>
              <a:t>Q3. </a:t>
            </a:r>
            <a:r>
              <a:rPr lang="zh-CN" altLang="en-US" sz="2000" b="1">
                <a:sym typeface="Noto Sans SC" panose="020B0200000000000000" charset="-122"/>
              </a:rPr>
              <a:t>必须用系统的</a:t>
            </a:r>
            <a:r>
              <a:rPr lang="en-US" altLang="zh-CN" sz="2000" b="1">
                <a:sym typeface="Noto Sans SC" panose="020B0200000000000000" charset="-122"/>
              </a:rPr>
              <a:t>embedding </a:t>
            </a:r>
            <a:r>
              <a:rPr lang="zh-CN" altLang="en-US" sz="2000" b="1">
                <a:sym typeface="Noto Sans SC" panose="020B0200000000000000" charset="-122"/>
              </a:rPr>
              <a:t>接口吗？能用 BGE 替代？</a:t>
            </a:r>
            <a:endParaRPr lang="zh-CN" altLang="en-US" sz="2000" b="1"/>
          </a:p>
        </p:txBody>
      </p:sp>
      <p:sp>
        <p:nvSpPr>
          <p:cNvPr id="14" name="AutoShape 14"/>
          <p:cNvSpPr/>
          <p:nvPr/>
        </p:nvSpPr>
        <p:spPr>
          <a:xfrm>
            <a:off x="8318500" y="3048000"/>
            <a:ext cx="3175000" cy="21590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zh-CN" altLang="en-US" sz="1600" b="1" i="0" u="none" strike="noStrike">
                <a:sym typeface="Noto Sans SC" panose="020B0200000000000000" charset="-122"/>
              </a:rPr>
              <a:t>必须使用指定接口。但可以在对比实验中加入BGE-M3作为对照组进行性能与效果对比。</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defRPr/>
            </a:pPr>
            <a:endPar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defRPr/>
            </a:pPr>
            <a:endPar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defRPr/>
            </a:pPr>
            <a:endPar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defRPr/>
            </a:pPr>
            <a:endPar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a:off x="558800" y="431800"/>
            <a:ext cx="88900" cy="457200"/>
          </a:xfrm>
          <a:prstGeom prst="roundRect">
            <a:avLst>
              <a:gd name="adj" fmla="val 0"/>
            </a:avLst>
          </a:prstGeom>
          <a:solidFill>
            <a:srgbClr val="D92D2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47700" y="317500"/>
            <a:ext cx="1562735"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25000"/>
              </a:lnSpc>
              <a:defRPr/>
            </a:pP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答疑咨询</a:t>
            </a:r>
            <a:endPar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p:cNvPicPr>
            <a:picLocks noChangeAspect="1"/>
          </p:cNvPicPr>
          <p:nvPr/>
        </p:nvPicPr>
        <p:blipFill>
          <a:blip r:embed="rId1"/>
          <a:srcRect t="13889" b="20370"/>
          <a:stretch>
            <a:fillRect/>
          </a:stretch>
        </p:blipFill>
        <p:spPr>
          <a:xfrm>
            <a:off x="3729355" y="1079500"/>
            <a:ext cx="3856990" cy="4508500"/>
          </a:xfrm>
          <a:prstGeom prst="rect">
            <a:avLst/>
          </a:prstGeom>
        </p:spPr>
      </p:pic>
      <p:sp>
        <p:nvSpPr>
          <p:cNvPr id="7" name="文本框 6"/>
          <p:cNvSpPr txBox="1"/>
          <p:nvPr/>
        </p:nvSpPr>
        <p:spPr>
          <a:xfrm>
            <a:off x="4923155" y="5709285"/>
            <a:ext cx="1683385" cy="590550"/>
          </a:xfrm>
          <a:prstGeom prst="rect">
            <a:avLst/>
          </a:prstGeom>
          <a:noFill/>
        </p:spPr>
        <p:txBody>
          <a:bodyPr wrap="square" rtlCol="0">
            <a:noAutofit/>
          </a:bodyPr>
          <a:p>
            <a:r>
              <a:rPr lang="zh-CN" altLang="en-US" sz="1600" b="1">
                <a:latin typeface="微软雅黑" panose="020B0503020204020204" charset="-122"/>
                <a:ea typeface="微软雅黑" panose="020B0503020204020204" charset="-122"/>
              </a:rPr>
              <a:t>赛题答疑群</a:t>
            </a:r>
            <a:endParaRPr lang="zh-CN" altLang="en-US" sz="1600" b="1">
              <a:latin typeface="微软雅黑" panose="020B0503020204020204" charset="-122"/>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27" b="127"/>
          <a:stretch>
            <a:fillRect/>
          </a:stretch>
        </p:blipFill>
        <p:spPr>
          <a:xfrm>
            <a:off x="10782300" y="381000"/>
            <a:ext cx="863600" cy="508000"/>
          </a:xfrm>
          <a:prstGeom prst="rect">
            <a:avLst/>
          </a:prstGeom>
          <a:noFill/>
          <a:ln w="25400" cap="flat" cmpd="sng">
            <a:noFill/>
            <a:prstDash val="solid"/>
            <a:round/>
          </a:ln>
        </p:spPr>
      </p:pic>
      <p:pic>
        <p:nvPicPr>
          <p:cNvPr id="3" name="Picture 3"/>
          <p:cNvPicPr>
            <a:picLocks noChangeAspect="1"/>
          </p:cNvPicPr>
          <p:nvPr/>
        </p:nvPicPr>
        <p:blipFill>
          <a:blip r:embed="rId2"/>
          <a:srcRect l="5" r="5"/>
          <a:stretch>
            <a:fillRect/>
          </a:stretch>
        </p:blipFill>
        <p:spPr>
          <a:xfrm>
            <a:off x="495300" y="6045200"/>
            <a:ext cx="11264900" cy="431800"/>
          </a:xfrm>
          <a:prstGeom prst="rect">
            <a:avLst/>
          </a:prstGeom>
          <a:noFill/>
          <a:ln w="25400" cap="flat" cmpd="sng">
            <a:noFill/>
            <a:prstDash val="solid"/>
            <a:round/>
          </a:ln>
        </p:spPr>
      </p:pic>
      <p:sp>
        <p:nvSpPr>
          <p:cNvPr id="4" name="AutoShape 4"/>
          <p:cNvSpPr/>
          <p:nvPr/>
        </p:nvSpPr>
        <p:spPr>
          <a:xfrm>
            <a:off x="10579100" y="254000"/>
            <a:ext cx="1257300" cy="863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3"/>
          <a:srcRect t="43" b="43"/>
          <a:stretch>
            <a:fillRect/>
          </a:stretch>
        </p:blipFill>
        <p:spPr>
          <a:xfrm>
            <a:off x="0" y="0"/>
            <a:ext cx="12192000" cy="6858000"/>
          </a:xfrm>
          <a:prstGeom prst="rect">
            <a:avLst/>
          </a:prstGeom>
          <a:noFill/>
          <a:ln w="25400" cap="flat" cmpd="sng">
            <a:noFill/>
            <a:prstDash val="solid"/>
            <a:round/>
          </a:ln>
        </p:spPr>
      </p:pic>
      <p:pic>
        <p:nvPicPr>
          <p:cNvPr id="6" name="Picture 6"/>
          <p:cNvPicPr>
            <a:picLocks noChangeAspect="1"/>
          </p:cNvPicPr>
          <p:nvPr/>
        </p:nvPicPr>
        <p:blipFill>
          <a:blip r:embed="rId4"/>
          <a:srcRect l="522" r="522"/>
          <a:stretch>
            <a:fillRect/>
          </a:stretch>
        </p:blipFill>
        <p:spPr>
          <a:xfrm>
            <a:off x="4965700" y="1143000"/>
            <a:ext cx="2286000" cy="1358900"/>
          </a:xfrm>
          <a:prstGeom prst="rect">
            <a:avLst/>
          </a:prstGeom>
          <a:noFill/>
          <a:ln w="25400" cap="flat" cmpd="sng">
            <a:noFill/>
            <a:prstDash val="solid"/>
            <a:round/>
          </a:ln>
        </p:spPr>
      </p:pic>
      <p:sp>
        <p:nvSpPr>
          <p:cNvPr id="7" name="AutoShape 7"/>
          <p:cNvSpPr/>
          <p:nvPr/>
        </p:nvSpPr>
        <p:spPr>
          <a:xfrm>
            <a:off x="0" y="2667000"/>
            <a:ext cx="12192000" cy="1016000"/>
          </a:xfrm>
          <a:prstGeom prst="rect">
            <a:avLst/>
          </a:prstGeom>
          <a:noFill/>
          <a:ln w="12700" cap="flat" cmpd="sng">
            <a:noFill/>
            <a:prstDash val="solid"/>
            <a:round/>
          </a:ln>
        </p:spPr>
        <p:txBody>
          <a:bodyPr vert="horz" wrap="square" lIns="0" tIns="63500" rIns="0" bIns="63500" rtlCol="0" anchor="ctr" anchorCtr="0"/>
          <a:lstStyle/>
          <a:p>
            <a:pPr indent="0" algn="ctr">
              <a:lnSpc>
                <a:spcPct val="108000"/>
              </a:lnSpc>
              <a:defRPr/>
            </a:pPr>
            <a:r>
              <a:rPr lang="en-US" sz="4200" b="1" i="0" u="none" strike="noStrike">
                <a:solidFill>
                  <a:srgbClr val="ED2B3B"/>
                </a:solidFill>
                <a:latin typeface="Noto Sans SC" panose="020B0200000000000000" charset="-122"/>
                <a:ea typeface="Noto Sans SC" panose="020B0200000000000000" charset="-122"/>
                <a:cs typeface="Noto Sans SC" panose="020B0200000000000000" charset="-122"/>
                <a:sym typeface="Noto Sans SC" panose="020B0200000000000000" charset="-122"/>
              </a:rPr>
              <a:t>感 谢 聆 听</a:t>
            </a:r>
            <a:endParaRPr lang="en-US" sz="1100"/>
          </a:p>
        </p:txBody>
      </p:sp>
      <p:sp>
        <p:nvSpPr>
          <p:cNvPr id="8" name="AutoShape 8"/>
          <p:cNvSpPr/>
          <p:nvPr/>
        </p:nvSpPr>
        <p:spPr>
          <a:xfrm>
            <a:off x="0" y="3810000"/>
            <a:ext cx="12192000" cy="635000"/>
          </a:xfrm>
          <a:prstGeom prst="rect">
            <a:avLst/>
          </a:prstGeom>
          <a:noFill/>
          <a:ln w="12700" cap="flat" cmpd="sng">
            <a:noFill/>
            <a:prstDash val="solid"/>
            <a:round/>
          </a:ln>
        </p:spPr>
        <p:txBody>
          <a:bodyPr vert="horz" wrap="square" lIns="0" tIns="63500" rIns="0" bIns="63500" rtlCol="0" anchor="t" anchorCtr="0"/>
          <a:lstStyle/>
          <a:p>
            <a:pPr indent="0" algn="ctr">
              <a:lnSpc>
                <a:spcPct val="117000"/>
              </a:lnSpc>
              <a:defRPr/>
            </a:pP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创新的舞台已经搭就，我们期待你们的精彩表现 · 预祝大家取得优异成绩！</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25,&quot;left&quot;:65,&quot;top&quot;:140,&quot;width&quot;:820}"/>
</p:tagLst>
</file>

<file path=ppt/tags/tag2.xml><?xml version="1.0" encoding="utf-8"?>
<p:tagLst xmlns:p="http://schemas.openxmlformats.org/presentationml/2006/main">
  <p:tag name="KSO_WM_DIAGRAM_VIRTUALLY_FRAME" val="{&quot;height&quot;:325,&quot;left&quot;:65,&quot;top&quot;:140,&quot;width&quot;:820}"/>
</p:tagLst>
</file>

<file path=ppt/tags/tag3.xml><?xml version="1.0" encoding="utf-8"?>
<p:tagLst xmlns:p="http://schemas.openxmlformats.org/presentationml/2006/main">
  <p:tag name="KSO_WM_DIAGRAM_VIRTUALLY_FRAME" val="{&quot;height&quot;:325,&quot;left&quot;:65,&quot;top&quot;:140,&quot;width&quot;:820}"/>
</p:tagLst>
</file>

<file path=ppt/tags/tag4.xml><?xml version="1.0" encoding="utf-8"?>
<p:tagLst xmlns:p="http://schemas.openxmlformats.org/presentationml/2006/main">
  <p:tag name="KSO_WM_DIAGRAM_VIRTUALLY_FRAME" val="{&quot;height&quot;:325,&quot;left&quot;:65,&quot;top&quot;:140,&quot;width&quot;:820}"/>
</p:tagLst>
</file>

<file path=ppt/tags/tag5.xml><?xml version="1.0" encoding="utf-8"?>
<p:tagLst xmlns:p="http://schemas.openxmlformats.org/presentationml/2006/main">
  <p:tag name="KSO_WM_DIAGRAM_VIRTUALLY_FRAME" val="{&quot;height&quot;:325,&quot;left&quot;:65,&quot;top&quot;:140,&quot;width&quot;:820}"/>
</p:tagLst>
</file>

<file path=ppt/tags/tag6.xml><?xml version="1.0" encoding="utf-8"?>
<p:tagLst xmlns:p="http://schemas.openxmlformats.org/presentationml/2006/main">
  <p:tag name="KSO_WM_DIAGRAM_VIRTUALLY_FRAME" val="{&quot;height&quot;:325,&quot;left&quot;:65,&quot;top&quot;:140,&quot;width&quot;:820}"/>
</p:tagLst>
</file>

<file path=ppt/tags/tag7.xml><?xml version="1.0" encoding="utf-8"?>
<p:tagLst xmlns:p="http://schemas.openxmlformats.org/presentationml/2006/main">
  <p:tag name="KSO_WM_DIAGRAM_VIRTUALLY_FRAME" val="{&quot;height&quot;:325,&quot;left&quot;:65,&quot;top&quot;:140,&quot;width&quot;:820}"/>
</p:tagLst>
</file>

<file path=ppt/tags/tag8.xml><?xml version="1.0" encoding="utf-8"?>
<p:tagLst xmlns:p="http://schemas.openxmlformats.org/presentationml/2006/main">
  <p:tag name="KSO_WM_DIAGRAM_VIRTUALLY_FRAME" val="{&quot;height&quot;:325,&quot;left&quot;:65,&quot;top&quot;:140,&quot;width&quot;:820}"/>
</p:tagLst>
</file>

<file path=ppt/tags/tag9.xml><?xml version="1.0" encoding="utf-8"?>
<p:tagLst xmlns:p="http://schemas.openxmlformats.org/presentationml/2006/main">
  <p:tag name="KSO_WM_DIAGRAM_VIRTUALLY_FRAME" val="{&quot;height&quot;:325,&quot;left&quot;:65,&quot;top&quot;:140,&quot;width&quot;:820}"/>
</p:tagLst>
</file>

<file path=ppt/tags/tag10.xml><?xml version="1.0" encoding="utf-8"?>
<p:tagLst xmlns:p="http://schemas.openxmlformats.org/presentationml/2006/main">
  <p:tag name="KSO_WM_DIAGRAM_VIRTUALLY_FRAME" val="{&quot;height&quot;:325,&quot;left&quot;:65,&quot;top&quot;:140,&quot;width&quot;:820}"/>
</p:tagLst>
</file>

<file path=ppt/tags/tag11.xml><?xml version="1.0" encoding="utf-8"?>
<p:tagLst xmlns:p="http://schemas.openxmlformats.org/presentationml/2006/main">
  <p:tag name="KSO_WM_DIAGRAM_VIRTUALLY_FRAME" val="{&quot;height&quot;:325,&quot;left&quot;:65,&quot;top&quot;:140,&quot;width&quot;:820}"/>
</p:tagLst>
</file>

<file path=ppt/tags/tag12.xml><?xml version="1.0" encoding="utf-8"?>
<p:tagLst xmlns:p="http://schemas.openxmlformats.org/presentationml/2006/main">
  <p:tag name="KSO_WM_DIAGRAM_VIRTUALLY_FRAME" val="{&quot;height&quot;:325,&quot;left&quot;:65,&quot;top&quot;:140,&quot;width&quot;:820}"/>
</p:tagLst>
</file>

<file path=ppt/tags/tag13.xml><?xml version="1.0" encoding="utf-8"?>
<p:tagLst xmlns:p="http://schemas.openxmlformats.org/presentationml/2006/main">
  <p:tag name="KSO_WM_DIAGRAM_VIRTUALLY_FRAME" val="{&quot;height&quot;:325,&quot;left&quot;:65,&quot;top&quot;:140,&quot;width&quot;:820}"/>
</p:tagLst>
</file>

<file path=ppt/tags/tag14.xml><?xml version="1.0" encoding="utf-8"?>
<p:tagLst xmlns:p="http://schemas.openxmlformats.org/presentationml/2006/main">
  <p:tag name="KSO_WM_DIAGRAM_VIRTUALLY_FRAME" val="{&quot;height&quot;:325,&quot;left&quot;:65,&quot;top&quot;:140,&quot;width&quot;:820}"/>
</p:tagLst>
</file>

<file path=ppt/tags/tag15.xml><?xml version="1.0" encoding="utf-8"?>
<p:tagLst xmlns:p="http://schemas.openxmlformats.org/presentationml/2006/main">
  <p:tag name="KSO_WM_DIAGRAM_VIRTUALLY_FRAME" val="{&quot;height&quot;:325,&quot;left&quot;:65,&quot;top&quot;:140,&quot;width&quot;:820}"/>
</p:tagLst>
</file>

<file path=ppt/tags/tag16.xml><?xml version="1.0" encoding="utf-8"?>
<p:tagLst xmlns:p="http://schemas.openxmlformats.org/presentationml/2006/main">
  <p:tag name="KSO_WM_DIAGRAM_VIRTUALLY_FRAME" val="{&quot;height&quot;:325,&quot;left&quot;:65,&quot;top&quot;:140,&quot;width&quot;:820}"/>
</p:tagLst>
</file>

<file path=ppt/tags/tag17.xml><?xml version="1.0" encoding="utf-8"?>
<p:tagLst xmlns:p="http://schemas.openxmlformats.org/presentationml/2006/main">
  <p:tag name="KSO_WM_DIAGRAM_VIRTUALLY_FRAME" val="{&quot;height&quot;:319.4429130554199,&quot;left&quot;:255.25,&quot;top&quot;:157.15,&quot;width&quot;:560.5}"/>
</p:tagLst>
</file>

<file path=ppt/tags/tag18.xml><?xml version="1.0" encoding="utf-8"?>
<p:tagLst xmlns:p="http://schemas.openxmlformats.org/presentationml/2006/main">
  <p:tag name="KSO_WM_DIAGRAM_VIRTUALLY_FRAME" val="{&quot;height&quot;:319.4429130554199,&quot;left&quot;:255.25,&quot;top&quot;:157.15,&quot;width&quot;:560.5}"/>
</p:tagLst>
</file>

<file path=ppt/tags/tag19.xml><?xml version="1.0" encoding="utf-8"?>
<p:tagLst xmlns:p="http://schemas.openxmlformats.org/presentationml/2006/main">
  <p:tag name="KSO_WM_DIAGRAM_VIRTUALLY_FRAME" val="{&quot;height&quot;:319.4429130554199,&quot;left&quot;:255.25,&quot;top&quot;:157.15,&quot;width&quot;:560.5}"/>
</p:tagLst>
</file>

<file path=ppt/tags/tag20.xml><?xml version="1.0" encoding="utf-8"?>
<p:tagLst xmlns:p="http://schemas.openxmlformats.org/presentationml/2006/main">
  <p:tag name="KSO_WM_DIAGRAM_VIRTUALLY_FRAME" val="{&quot;height&quot;:319.4429130554199,&quot;left&quot;:255.25,&quot;top&quot;:157.15,&quot;width&quot;:560.5}"/>
</p:tagLst>
</file>

<file path=ppt/tags/tag21.xml><?xml version="1.0" encoding="utf-8"?>
<p:tagLst xmlns:p="http://schemas.openxmlformats.org/presentationml/2006/main">
  <p:tag name="KSO_WM_DIAGRAM_VIRTUALLY_FRAME" val="{&quot;height&quot;:319.4429130554199,&quot;left&quot;:255.25,&quot;top&quot;:157.15,&quot;width&quot;:560.5}"/>
</p:tagLst>
</file>

<file path=ppt/tags/tag22.xml><?xml version="1.0" encoding="utf-8"?>
<p:tagLst xmlns:p="http://schemas.openxmlformats.org/presentationml/2006/main">
  <p:tag name="KSO_WM_DIAGRAM_VIRTUALLY_FRAME" val="{&quot;height&quot;:319.4429130554199,&quot;left&quot;:255.25,&quot;top&quot;:157.15,&quot;width&quot;:560.5}"/>
</p:tagLst>
</file>

<file path=ppt/tags/tag23.xml><?xml version="1.0" encoding="utf-8"?>
<p:tagLst xmlns:p="http://schemas.openxmlformats.org/presentationml/2006/main">
  <p:tag name="KSO_WM_DIAGRAM_VIRTUALLY_FRAME" val="{&quot;height&quot;:319.4429130554199,&quot;left&quot;:255.25,&quot;top&quot;:157.15,&quot;width&quot;:560.5}"/>
</p:tagLst>
</file>

<file path=ppt/tags/tag24.xml><?xml version="1.0" encoding="utf-8"?>
<p:tagLst xmlns:p="http://schemas.openxmlformats.org/presentationml/2006/main">
  <p:tag name="KSO_WM_DIAGRAM_VIRTUALLY_FRAME" val="{&quot;height&quot;:319.4429130554199,&quot;left&quot;:255.25,&quot;top&quot;:157.15,&quot;width&quot;:560.5}"/>
</p:tagLst>
</file>

<file path=ppt/tags/tag25.xml><?xml version="1.0" encoding="utf-8"?>
<p:tagLst xmlns:p="http://schemas.openxmlformats.org/presentationml/2006/main">
  <p:tag name="KSO_WM_DIAGRAM_VIRTUALLY_FRAME" val="{&quot;height&quot;:319.4429130554199,&quot;left&quot;:255.25,&quot;top&quot;:157.15,&quot;width&quot;:560.5}"/>
</p:tagLst>
</file>

<file path=ppt/tags/tag26.xml><?xml version="1.0" encoding="utf-8"?>
<p:tagLst xmlns:p="http://schemas.openxmlformats.org/presentationml/2006/main">
  <p:tag name="KSO_WM_DIAGRAM_VIRTUALLY_FRAME" val="{&quot;height&quot;:319.4429130554199,&quot;left&quot;:255.25,&quot;top&quot;:157.15,&quot;width&quot;:560.5}"/>
</p:tagLst>
</file>

<file path=ppt/tags/tag27.xml><?xml version="1.0" encoding="utf-8"?>
<p:tagLst xmlns:p="http://schemas.openxmlformats.org/presentationml/2006/main">
  <p:tag name="KSO_WM_DIAGRAM_VIRTUALLY_FRAME" val="{&quot;height&quot;:319.4429130554199,&quot;left&quot;:255.25,&quot;top&quot;:157.15,&quot;width&quot;:560.5}"/>
</p:tagLst>
</file>

<file path=ppt/tags/tag28.xml><?xml version="1.0" encoding="utf-8"?>
<p:tagLst xmlns:p="http://schemas.openxmlformats.org/presentationml/2006/main">
  <p:tag name="KSO_WM_DIAGRAM_VIRTUALLY_FRAME" val="{&quot;height&quot;:319.4429130554199,&quot;left&quot;:255.25,&quot;top&quot;:157.15,&quot;width&quot;:560.5}"/>
</p:tagLst>
</file>

<file path=ppt/tags/tag29.xml><?xml version="1.0" encoding="utf-8"?>
<p:tagLst xmlns:p="http://schemas.openxmlformats.org/presentationml/2006/main">
  <p:tag name="KSO_WM_DIAGRAM_VIRTUALLY_FRAME" val="{&quot;height&quot;:319.4429130554199,&quot;left&quot;:255.25,&quot;top&quot;:157.15,&quot;width&quot;:560.5}"/>
</p:tagLst>
</file>

<file path=ppt/tags/tag30.xml><?xml version="1.0" encoding="utf-8"?>
<p:tagLst xmlns:p="http://schemas.openxmlformats.org/presentationml/2006/main">
  <p:tag name="KSO_WM_DIAGRAM_VIRTUALLY_FRAME" val="{&quot;height&quot;:319.4429130554199,&quot;left&quot;:255.25,&quot;top&quot;:157.15,&quot;width&quot;:560.5}"/>
</p:tagLst>
</file>

<file path=ppt/tags/tag31.xml><?xml version="1.0" encoding="utf-8"?>
<p:tagLst xmlns:p="http://schemas.openxmlformats.org/presentationml/2006/main">
  <p:tag name="KSO_WM_DIAGRAM_VIRTUALLY_FRAME" val="{&quot;height&quot;:319.4429130554199,&quot;left&quot;:255.25,&quot;top&quot;:157.15,&quot;width&quot;:560.5}"/>
</p:tagLst>
</file>

<file path=ppt/tags/tag32.xml><?xml version="1.0" encoding="utf-8"?>
<p:tagLst xmlns:p="http://schemas.openxmlformats.org/presentationml/2006/main">
  <p:tag name="KSO_WM_DIAGRAM_VIRTUALLY_FRAME" val="{&quot;height&quot;:319.4429130554199,&quot;left&quot;:255.25,&quot;top&quot;:157.15,&quot;width&quot;:560.5}"/>
</p:tagLst>
</file>

<file path=ppt/tags/tag33.xml><?xml version="1.0" encoding="utf-8"?>
<p:tagLst xmlns:p="http://schemas.openxmlformats.org/presentationml/2006/main">
  <p:tag name="KSO_WM_DIAGRAM_VIRTUALLY_FRAME" val="{&quot;height&quot;:319.4429130554199,&quot;left&quot;:255.25,&quot;top&quot;:157.15,&quot;width&quot;:560.5}"/>
</p:tagLst>
</file>

<file path=ppt/tags/tag34.xml><?xml version="1.0" encoding="utf-8"?>
<p:tagLst xmlns:p="http://schemas.openxmlformats.org/presentationml/2006/main">
  <p:tag name="KSO_WM_DIAGRAM_VIRTUALLY_FRAME" val="{&quot;height&quot;:319.4429130554199,&quot;left&quot;:255.25,&quot;top&quot;:157.15,&quot;width&quot;:560.5}"/>
</p:tagLst>
</file>

<file path=ppt/tags/tag35.xml><?xml version="1.0" encoding="utf-8"?>
<p:tagLst xmlns:p="http://schemas.openxmlformats.org/presentationml/2006/main">
  <p:tag name="KSO_WM_DIAGRAM_VIRTUALLY_FRAME" val="{&quot;height&quot;:319.4429130554199,&quot;left&quot;:255.25,&quot;top&quot;:157.15,&quot;width&quot;:560.5}"/>
</p:tagLst>
</file>

<file path=ppt/tags/tag36.xml><?xml version="1.0" encoding="utf-8"?>
<p:tagLst xmlns:p="http://schemas.openxmlformats.org/presentationml/2006/main">
  <p:tag name="KSO_WM_DIAGRAM_VIRTUALLY_FRAME" val="{&quot;height&quot;:319.4429130554199,&quot;left&quot;:255.25,&quot;top&quot;:157.15,&quot;width&quot;:560.5}"/>
</p:tagLst>
</file>

<file path=ppt/tags/tag37.xml><?xml version="1.0" encoding="utf-8"?>
<p:tagLst xmlns:p="http://schemas.openxmlformats.org/presentationml/2006/main">
  <p:tag name="KSO_WM_FULL_TEXT_BEAUTIFY_COPY_ID" val="9"/>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FULL_TEXT_BEAUTIFY_COPY_ID" val="9"/>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FULL_TEXT_BEAUTIFY_COPY_ID" val="9"/>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FULL_TEXT_BEAUTIFY_COPY_ID" val="9"/>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1_1*l_h_y*"/>
  <p:tag name="KSO_WM_SLIDE_FIGMA_DIAGRAM" val="1"/>
  <p:tag name="KSO_WM_UNIT_INDEX" val="1_1_1"/>
  <p:tag name="KSO_WM_UNIT_TYPE" val="l_h_i"/>
  <p:tag name="KSO_WM_CARDGROUP_LAYOUT_DATA" val="{&quot;cardRct&quot;:[1572,2776,2958.8,5867],&quot;lytRct&quot;:[1572,2776,16074,5867],&quot;rct&quot;:[1572,2776,16074,5867],&quot;spRct&quot;:[0,0,2958,5866]}"/>
</p:tagLst>
</file>

<file path=ppt/tags/tag50.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1_1*l_h_x*"/>
  <p:tag name="KSO_WM_SLIDE_FIGMA_DIAGRAM" val="1"/>
  <p:tag name="KSO_WM_UNIT_INDEX" val="1_1_2"/>
  <p:tag name="KSO_WM_UNIT_TYPE" val="l_h_i"/>
  <p:tag name="KSO_WM_CARDGROUP_LAYOUT_DATA" val="{&quot;cardRct&quot;:[1572,2776,2958.8,5867],&quot;lytRct&quot;:[1572,2776,16074,5867],&quot;rct&quot;:[1572,2776,16074,5867],&quot;spRct&quot;:[999,463,1959,1423]}"/>
</p:tagLst>
</file>

<file path=ppt/tags/tag51.xml><?xml version="1.0" encoding="utf-8"?>
<p:tagLst xmlns:p="http://schemas.openxmlformats.org/presentationml/2006/main">
  <p:tag name="KSO_WM_ICON_DRAW_MD4" val="04df74c3ad947ed48a84bfef5acddbcb"/>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1_1"/>
  <p:tag name="KSO_WM_UNIT_TYPE" val="l_h_x"/>
  <p:tag name="KSO_WM_UNIT_PRESET_IMAGE_MD4" val="UnK8N9z9rDHEwV7wllurfw=="/>
  <p:tag name="KSO_WM_CARDGROUP_LAYOUT_DATA" val="{&quot;cardRct&quot;:[1572,2776,2958.8,5867],&quot;lytRct&quot;:[1572,2776,16074,5867],&quot;rct&quot;:[1572,2776,16074,5867],&quot;spRct&quot;:[1199,663,1759,1223]}"/>
</p:tagLst>
</file>

<file path=ppt/tags/tag52.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1_1"/>
  <p:tag name="KSO_WM_UNIT_PRESET_TEXT" val="请在此输入您的标题"/>
  <p:tag name="KSO_WM_UNIT_TYPE" val="l_h_a"/>
  <p:tag name="KSO_WM_CARDGROUP_LAYOUT_DATA" val="{&quot;cardRct&quot;:[1572,2776,2958.8,5867],&quot;lytRct&quot;:[1572,2776,16074,5867],&quot;rct&quot;:[1572,2776,16074,5867],&quot;spRct&quot;:[360,1743,2598,2303]}"/>
</p:tagLst>
</file>

<file path=ppt/tags/tag53.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1_1"/>
  <p:tag name="KSO_WM_UNIT_PRESET_TEXT" val="请在此输入您的文本。"/>
  <p:tag name="KSO_WM_UNIT_TYPE" val="l_h_f"/>
  <p:tag name="KSO_WM_CARDGROUP_LAYOUT_DATA" val="{&quot;cardRct&quot;:[1572,2776,2958.8,5867],&quot;lytRct&quot;:[1572,2776,16074,5867],&quot;rct&quot;:[1572,2776,16074,5867],&quot;spRct&quot;:[360,2463,2598,5403]}"/>
</p:tagLst>
</file>

<file path=ppt/tags/tag54.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2_1*l_h_y*"/>
  <p:tag name="KSO_WM_SLIDE_FIGMA_DIAGRAM" val="1"/>
  <p:tag name="KSO_WM_UNIT_INDEX" val="1_2_1"/>
  <p:tag name="KSO_WM_UNIT_TYPE" val="l_h_i"/>
  <p:tag name="KSO_WM_CARDGROUP_LAYOUT_DATA" val="{&quot;cardRct&quot;:[4850.8,2776,2958.8,5867],&quot;lytRct&quot;:[1572,2776,16074,5867],&quot;rct&quot;:[1572,2776,16074,5867],&quot;spRct&quot;:[3278,0,6237,5866]}"/>
</p:tagLst>
</file>

<file path=ppt/tags/tag55.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2_1*l_h_x*"/>
  <p:tag name="KSO_WM_SLIDE_FIGMA_DIAGRAM" val="1"/>
  <p:tag name="KSO_WM_UNIT_INDEX" val="1_2_2"/>
  <p:tag name="KSO_WM_UNIT_TYPE" val="l_h_i"/>
  <p:tag name="KSO_WM_CARDGROUP_LAYOUT_DATA" val="{&quot;cardRct&quot;:[4850.8,2776,2958.8,5867],&quot;lytRct&quot;:[1572,2776,16074,5867],&quot;rct&quot;:[1572,2776,16074,5867],&quot;spRct&quot;:[4278,463,5238,1423]}"/>
</p:tagLst>
</file>

<file path=ppt/tags/tag56.xml><?xml version="1.0" encoding="utf-8"?>
<p:tagLst xmlns:p="http://schemas.openxmlformats.org/presentationml/2006/main">
  <p:tag name="KSO_WM_ICON_DRAW_MD4" val="057bc861ae2130e01d64a328f0666989"/>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2_1"/>
  <p:tag name="KSO_WM_UNIT_TYPE" val="l_h_x"/>
  <p:tag name="KSO_WM_UNIT_PRESET_IMAGE_MD4" val="aZHlZBa7wA9TeNtkAyawww=="/>
  <p:tag name="KSO_WM_CARDGROUP_LAYOUT_DATA" val="{&quot;cardRct&quot;:[4850.8,2776,2958.8,5867],&quot;lytRct&quot;:[1572,2776,16074,5867],&quot;rct&quot;:[1572,2776,16074,5867],&quot;spRct&quot;:[4478,663,5038,1223]}"/>
</p:tagLst>
</file>

<file path=ppt/tags/tag57.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2_1"/>
  <p:tag name="KSO_WM_UNIT_PRESET_TEXT" val="请在此输入您的标题"/>
  <p:tag name="KSO_WM_UNIT_TYPE" val="l_h_a"/>
  <p:tag name="KSO_WM_CARDGROUP_LAYOUT_DATA" val="{&quot;cardRct&quot;:[4850.8,2776,2958.8,5867],&quot;lytRct&quot;:[1572,2776,16074,5867],&quot;rct&quot;:[1572,2776,16074,5867],&quot;spRct&quot;:[3638,1743,5877,2303]}"/>
</p:tagLst>
</file>

<file path=ppt/tags/tag58.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2_1"/>
  <p:tag name="KSO_WM_UNIT_PRESET_TEXT" val="请在此输入您的文本。"/>
  <p:tag name="KSO_WM_UNIT_TYPE" val="l_h_f"/>
  <p:tag name="KSO_WM_CARDGROUP_LAYOUT_DATA" val="{&quot;cardRct&quot;:[4850.8,2776,2958.8,5867],&quot;lytRct&quot;:[1572,2776,16074,5867],&quot;rct&quot;:[1572,2776,16074,5867],&quot;spRct&quot;:[3638,2463,5877,5403]}"/>
</p:tagLst>
</file>

<file path=ppt/tags/tag59.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3_1*l_h_y*"/>
  <p:tag name="KSO_WM_SLIDE_FIGMA_DIAGRAM" val="1"/>
  <p:tag name="KSO_WM_UNIT_INDEX" val="1_3_1"/>
  <p:tag name="KSO_WM_UNIT_TYPE" val="l_h_i"/>
  <p:tag name="KSO_WM_CARDGROUP_LAYOUT_DATA" val="{&quot;cardRct&quot;:[8129.6,2776,2958.8,5867],&quot;lytRct&quot;:[1572,2776,16074,5867],&quot;rct&quot;:[1572,2776,16074,5867],&quot;spRct&quot;:[6557,0,9516,5866]}"/>
</p:tagLst>
</file>

<file path=ppt/tags/tag60.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3_1*l_h_x*"/>
  <p:tag name="KSO_WM_SLIDE_FIGMA_DIAGRAM" val="1"/>
  <p:tag name="KSO_WM_UNIT_INDEX" val="1_3_2"/>
  <p:tag name="KSO_WM_UNIT_TYPE" val="l_h_i"/>
  <p:tag name="KSO_WM_CARDGROUP_LAYOUT_DATA" val="{&quot;cardRct&quot;:[8129.6,2776,2958.8,5867],&quot;lytRct&quot;:[1572,2776,16074,5867],&quot;rct&quot;:[1572,2776,16074,5867],&quot;spRct&quot;:[7557,463,8516,1423]}"/>
</p:tagLst>
</file>

<file path=ppt/tags/tag61.xml><?xml version="1.0" encoding="utf-8"?>
<p:tagLst xmlns:p="http://schemas.openxmlformats.org/presentationml/2006/main">
  <p:tag name="KSO_WM_ICON_DRAW_MD4" val="25857cf22980ec3213e59aba32425a66"/>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3_1"/>
  <p:tag name="KSO_WM_UNIT_TYPE" val="l_h_x"/>
  <p:tag name="KSO_WM_UNIT_PRESET_IMAGE_MD4" val="0Y3SQrsWwTwd7cPjDTZYqg=="/>
  <p:tag name="KSO_WM_CARDGROUP_LAYOUT_DATA" val="{&quot;cardRct&quot;:[8129.6,2776,2958.8,5867],&quot;lytRct&quot;:[1572,2776,16074,5867],&quot;rct&quot;:[1572,2776,16074,5867],&quot;spRct&quot;:[7757,663,8317,1223]}"/>
</p:tagLst>
</file>

<file path=ppt/tags/tag62.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3_1"/>
  <p:tag name="KSO_WM_UNIT_PRESET_TEXT" val="请在此输入您的标题"/>
  <p:tag name="KSO_WM_UNIT_TYPE" val="l_h_a"/>
  <p:tag name="KSO_WM_CARDGROUP_LAYOUT_DATA" val="{&quot;cardRct&quot;:[8129.6,2776,2958.8,5867],&quot;lytRct&quot;:[1572,2776,16074,5867],&quot;rct&quot;:[1572,2776,16074,5867],&quot;spRct&quot;:[6917,1743,9156,2303]}"/>
</p:tagLst>
</file>

<file path=ppt/tags/tag63.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3_1"/>
  <p:tag name="KSO_WM_UNIT_PRESET_TEXT" val="请在此输入您的文本。"/>
  <p:tag name="KSO_WM_UNIT_TYPE" val="l_h_f"/>
  <p:tag name="KSO_WM_CARDGROUP_LAYOUT_DATA" val="{&quot;cardRct&quot;:[8129.6,2776,2958.8,5867],&quot;lytRct&quot;:[1572,2776,16074,5867],&quot;rct&quot;:[1572,2776,16074,5867],&quot;spRct&quot;:[6917,2463,9156,5403]}"/>
</p:tagLst>
</file>

<file path=ppt/tags/tag64.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4_1*l_h_y*"/>
  <p:tag name="KSO_WM_SLIDE_FIGMA_DIAGRAM" val="1"/>
  <p:tag name="KSO_WM_UNIT_INDEX" val="1_4_1"/>
  <p:tag name="KSO_WM_UNIT_TYPE" val="l_h_i"/>
  <p:tag name="KSO_WM_CARDGROUP_LAYOUT_DATA" val="{&quot;cardRct&quot;:[11408.4,2776,2958.8,5867],&quot;lytRct&quot;:[1572,2776,16074,5867],&quot;rct&quot;:[1572,2776,16074,5867],&quot;spRct&quot;:[9836,0,12795,5866]}"/>
</p:tagLst>
</file>

<file path=ppt/tags/tag65.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4_1*l_h_x*"/>
  <p:tag name="KSO_WM_SLIDE_FIGMA_DIAGRAM" val="1"/>
  <p:tag name="KSO_WM_UNIT_INDEX" val="1_4_2"/>
  <p:tag name="KSO_WM_UNIT_TYPE" val="l_h_i"/>
  <p:tag name="KSO_WM_CARDGROUP_LAYOUT_DATA" val="{&quot;cardRct&quot;:[11408.4,2776,2958.8,5867],&quot;lytRct&quot;:[1572,2776,16074,5867],&quot;rct&quot;:[1572,2776,16074,5867],&quot;spRct&quot;:[10835,463,11795,1423]}"/>
</p:tagLst>
</file>

<file path=ppt/tags/tag66.xml><?xml version="1.0" encoding="utf-8"?>
<p:tagLst xmlns:p="http://schemas.openxmlformats.org/presentationml/2006/main">
  <p:tag name="KSO_WM_ICON_DRAW_MD4" val="9c71d6262f650ec50bb98816cd1f9bdd"/>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4_1"/>
  <p:tag name="KSO_WM_UNIT_TYPE" val="l_h_x"/>
  <p:tag name="KSO_WM_UNIT_PRESET_IMAGE_MD4" val="cbwHvT+ET3bH5kKp584ugg=="/>
  <p:tag name="KSO_WM_CARDGROUP_LAYOUT_DATA" val="{&quot;cardRct&quot;:[11408.4,2776,2958.8,5867],&quot;lytRct&quot;:[1572,2776,16074,5867],&quot;rct&quot;:[1572,2776,16074,5867],&quot;spRct&quot;:[11035,663,11595,1223]}"/>
</p:tagLst>
</file>

<file path=ppt/tags/tag67.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4_1"/>
  <p:tag name="KSO_WM_UNIT_PRESET_TEXT" val="请在此输入您的标题"/>
  <p:tag name="KSO_WM_UNIT_TYPE" val="l_h_a"/>
  <p:tag name="KSO_WM_CARDGROUP_LAYOUT_DATA" val="{&quot;cardRct&quot;:[11408.4,2776,2958.8,5867],&quot;lytRct&quot;:[1572,2776,16074,5867],&quot;rct&quot;:[1572,2776,16074,5867],&quot;spRct&quot;:[10196,1743,12435,2303]}"/>
</p:tagLst>
</file>

<file path=ppt/tags/tag68.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4_1"/>
  <p:tag name="KSO_WM_UNIT_PRESET_TEXT" val="请在此输入您的文本。"/>
  <p:tag name="KSO_WM_UNIT_TYPE" val="l_h_f"/>
  <p:tag name="KSO_WM_CARDGROUP_LAYOUT_DATA" val="{&quot;cardRct&quot;:[11408.4,2776,2958.8,5867],&quot;lytRct&quot;:[1572,2776,16074,5867],&quot;rct&quot;:[1572,2776,16074,5867],&quot;spRct&quot;:[10196,2463,12435,5403]}"/>
</p:tagLst>
</file>

<file path=ppt/tags/tag69.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5_1*l_h_y*"/>
  <p:tag name="KSO_WM_SLIDE_FIGMA_DIAGRAM" val="1"/>
  <p:tag name="KSO_WM_UNIT_INDEX" val="1_5_1"/>
  <p:tag name="KSO_WM_UNIT_TYPE" val="l_h_i"/>
  <p:tag name="KSO_WM_CARDGROUP_LAYOUT_DATA" val="{&quot;cardRct&quot;:[14687.2,2776,2958.8,5867],&quot;lytRct&quot;:[1572,2776,16074,5867],&quot;rct&quot;:[1572,2776,16074,5867],&quot;spRct&quot;:[13115,0,16073,5866]}"/>
</p:tagLst>
</file>

<file path=ppt/tags/tag70.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5_1*l_h_x*"/>
  <p:tag name="KSO_WM_SLIDE_FIGMA_DIAGRAM" val="1"/>
  <p:tag name="KSO_WM_UNIT_INDEX" val="1_5_2"/>
  <p:tag name="KSO_WM_UNIT_TYPE" val="l_h_i"/>
  <p:tag name="KSO_WM_CARDGROUP_LAYOUT_DATA" val="{&quot;cardRct&quot;:[14687.2,2776,2958.8,5867],&quot;lytRct&quot;:[1572,2776,16074,5867],&quot;rct&quot;:[1572,2776,16074,5867],&quot;spRct&quot;:[14114,463,15074,1423]}"/>
</p:tagLst>
</file>

<file path=ppt/tags/tag71.xml><?xml version="1.0" encoding="utf-8"?>
<p:tagLst xmlns:p="http://schemas.openxmlformats.org/presentationml/2006/main">
  <p:tag name="KSO_WM_ICON_DRAW_MD4" val="d118318a5d4fec95287df5fdb28d7341"/>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5_1"/>
  <p:tag name="KSO_WM_UNIT_TYPE" val="l_h_x"/>
  <p:tag name="KSO_WM_UNIT_PRESET_IMAGE_MD4" val="EpurToVs2tDUmdtAtX2HjA=="/>
  <p:tag name="KSO_WM_CARDGROUP_LAYOUT_DATA" val="{&quot;cardRct&quot;:[14687.2,2776,2958.8,5867],&quot;lytRct&quot;:[1572,2776,16074,5867],&quot;rct&quot;:[1572,2776,16074,5867],&quot;spRct&quot;:[14314,663,14874,1223]}"/>
</p:tagLst>
</file>

<file path=ppt/tags/tag72.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5_1"/>
  <p:tag name="KSO_WM_UNIT_PRESET_TEXT" val="请在此输入您的标题"/>
  <p:tag name="KSO_WM_UNIT_TYPE" val="l_h_a"/>
  <p:tag name="KSO_WM_CARDGROUP_LAYOUT_DATA" val="{&quot;cardRct&quot;:[14687.2,2776,2958.8,5867],&quot;lytRct&quot;:[1572,2776,16074,5867],&quot;rct&quot;:[1572,2776,16074,5867],&quot;spRct&quot;:[13475,1743,15713,2303]}"/>
</p:tagLst>
</file>

<file path=ppt/tags/tag73.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5_1"/>
  <p:tag name="KSO_WM_UNIT_PRESET_TEXT" val="请在此输入您的文本。"/>
  <p:tag name="KSO_WM_UNIT_TYPE" val="l_h_f"/>
  <p:tag name="KSO_WM_CARDGROUP_LAYOUT_DATA" val="{&quot;cardRct&quot;:[14687.2,2776,2958.8,5867],&quot;lytRct&quot;:[1572,2776,16074,5867],&quot;rct&quot;:[1572,2776,16074,5867],&quot;spRct&quot;:[13475,2463,15713,5403]}"/>
</p:tagLst>
</file>

<file path=ppt/tags/tag74.xml><?xml version="1.0" encoding="utf-8"?>
<p:tagLst xmlns:p="http://schemas.openxmlformats.org/presentationml/2006/main">
  <p:tag name="KSO_WM_SLIDE_ITEM_CNT" val="2"/>
</p:tagLst>
</file>

<file path=ppt/tags/tag75.xml><?xml version="1.0" encoding="utf-8"?>
<p:tagLst xmlns:p="http://schemas.openxmlformats.org/presentationml/2006/main">
  <p:tag name="KSO_WM_DIAGRAM_VIRTUALLY_FRAME" val="{&quot;height&quot;:319.4429130554199,&quot;left&quot;:255.25,&quot;top&quot;:157.15,&quot;width&quot;:560.5}"/>
</p:tagLst>
</file>

<file path=ppt/tags/tag76.xml><?xml version="1.0" encoding="utf-8"?>
<p:tagLst xmlns:p="http://schemas.openxmlformats.org/presentationml/2006/main">
  <p:tag name="KSO_WM_DIAGRAM_VIRTUALLY_FRAME" val="{&quot;height&quot;:319.4429130554199,&quot;left&quot;:255.25,&quot;top&quot;:157.15,&quot;width&quot;:560.5}"/>
</p:tagLst>
</file>

<file path=ppt/tags/tag77.xml><?xml version="1.0" encoding="utf-8"?>
<p:tagLst xmlns:p="http://schemas.openxmlformats.org/presentationml/2006/main">
  <p:tag name="KSO_WM_DIAGRAM_VIRTUALLY_FRAME" val="{&quot;height&quot;:319.4429130554199,&quot;left&quot;:255.25,&quot;top&quot;:157.15,&quot;width&quot;:560.5}"/>
</p:tagLst>
</file>

<file path=ppt/tags/tag78.xml><?xml version="1.0" encoding="utf-8"?>
<p:tagLst xmlns:p="http://schemas.openxmlformats.org/presentationml/2006/main">
  <p:tag name="KSO_WM_DIAGRAM_VIRTUALLY_FRAME" val="{&quot;height&quot;:319.4429130554199,&quot;left&quot;:255.25,&quot;top&quot;:157.15,&quot;width&quot;:560.5}"/>
</p:tagLst>
</file>

<file path=ppt/tags/tag79.xml><?xml version="1.0" encoding="utf-8"?>
<p:tagLst xmlns:p="http://schemas.openxmlformats.org/presentationml/2006/main">
  <p:tag name="KSO_WM_DIAGRAM_VIRTUALLY_FRAME" val="{&quot;height&quot;:319.4429130554199,&quot;left&quot;:255.25,&quot;top&quot;:157.15,&quot;width&quot;:560.5}"/>
</p:tagLst>
</file>

<file path=ppt/tags/tag80.xml><?xml version="1.0" encoding="utf-8"?>
<p:tagLst xmlns:p="http://schemas.openxmlformats.org/presentationml/2006/main">
  <p:tag name="KSO_WM_DIAGRAM_VIRTUALLY_FRAME" val="{&quot;height&quot;:319.4429130554199,&quot;left&quot;:255.25,&quot;top&quot;:157.15,&quot;width&quot;:560.5}"/>
</p:tagLst>
</file>

<file path=ppt/tags/tag81.xml><?xml version="1.0" encoding="utf-8"?>
<p:tagLst xmlns:p="http://schemas.openxmlformats.org/presentationml/2006/main">
  <p:tag name="KSO_WM_DIAGRAM_VIRTUALLY_FRAME" val="{&quot;height&quot;:319.4429130554199,&quot;left&quot;:255.25,&quot;top&quot;:157.15,&quot;width&quot;:560.5}"/>
</p:tagLst>
</file>

<file path=ppt/tags/tag82.xml><?xml version="1.0" encoding="utf-8"?>
<p:tagLst xmlns:p="http://schemas.openxmlformats.org/presentationml/2006/main">
  <p:tag name="KSO_WM_DIAGRAM_VIRTUALLY_FRAME" val="{&quot;height&quot;:319.4429130554199,&quot;left&quot;:255.25,&quot;top&quot;:157.15,&quot;width&quot;:560.5}"/>
</p:tagLst>
</file>

<file path=ppt/tags/tag83.xml><?xml version="1.0" encoding="utf-8"?>
<p:tagLst xmlns:p="http://schemas.openxmlformats.org/presentationml/2006/main">
  <p:tag name="KSO_WM_DIAGRAM_VIRTUALLY_FRAME" val="{&quot;height&quot;:319.4429130554199,&quot;left&quot;:255.25,&quot;top&quot;:157.15,&quot;width&quot;:560.5}"/>
</p:tagLst>
</file>

<file path=ppt/tags/tag84.xml><?xml version="1.0" encoding="utf-8"?>
<p:tagLst xmlns:p="http://schemas.openxmlformats.org/presentationml/2006/main">
  <p:tag name="KSO_WM_DIAGRAM_VIRTUALLY_FRAME" val="{&quot;height&quot;:319.4429130554199,&quot;left&quot;:255.25,&quot;top&quot;:157.15,&quot;width&quot;:560.5}"/>
</p:tagLst>
</file>

<file path=ppt/tags/tag85.xml><?xml version="1.0" encoding="utf-8"?>
<p:tagLst xmlns:p="http://schemas.openxmlformats.org/presentationml/2006/main">
  <p:tag name="KSO_WM_DIAGRAM_VIRTUALLY_FRAME" val="{&quot;height&quot;:319.4429130554199,&quot;left&quot;:255.25,&quot;top&quot;:157.15,&quot;width&quot;:560.5}"/>
</p:tagLst>
</file>

<file path=ppt/tags/tag86.xml><?xml version="1.0" encoding="utf-8"?>
<p:tagLst xmlns:p="http://schemas.openxmlformats.org/presentationml/2006/main">
  <p:tag name="KSO_WM_DIAGRAM_VIRTUALLY_FRAME" val="{&quot;height&quot;:319.4429130554199,&quot;left&quot;:255.25,&quot;top&quot;:157.15,&quot;width&quot;:560.5}"/>
</p:tagLst>
</file>

<file path=ppt/tags/tag87.xml><?xml version="1.0" encoding="utf-8"?>
<p:tagLst xmlns:p="http://schemas.openxmlformats.org/presentationml/2006/main">
  <p:tag name="KSO_WM_DIAGRAM_VIRTUALLY_FRAME" val="{&quot;height&quot;:319.4429130554199,&quot;left&quot;:255.25,&quot;top&quot;:157.15,&quot;width&quot;:560.5}"/>
</p:tagLst>
</file>

<file path=ppt/tags/tag88.xml><?xml version="1.0" encoding="utf-8"?>
<p:tagLst xmlns:p="http://schemas.openxmlformats.org/presentationml/2006/main">
  <p:tag name="KSO_WM_DIAGRAM_VIRTUALLY_FRAME" val="{&quot;height&quot;:319.4429130554199,&quot;left&quot;:255.25,&quot;top&quot;:157.15,&quot;width&quot;:560.5}"/>
</p:tagLst>
</file>

<file path=ppt/tags/tag89.xml><?xml version="1.0" encoding="utf-8"?>
<p:tagLst xmlns:p="http://schemas.openxmlformats.org/presentationml/2006/main">
  <p:tag name="KSO_WM_DIAGRAM_VIRTUALLY_FRAME" val="{&quot;height&quot;:319.4429130554199,&quot;left&quot;:255.25,&quot;top&quot;:157.15,&quot;width&quot;:560.5}"/>
</p:tagLst>
</file>

<file path=ppt/tags/tag90.xml><?xml version="1.0" encoding="utf-8"?>
<p:tagLst xmlns:p="http://schemas.openxmlformats.org/presentationml/2006/main">
  <p:tag name="KSO_WM_DIAGRAM_VIRTUALLY_FRAME" val="{&quot;height&quot;:319.4429130554199,&quot;left&quot;:255.25,&quot;top&quot;:157.15,&quot;width&quot;:560.5}"/>
</p:tagLst>
</file>

<file path=ppt/tags/tag91.xml><?xml version="1.0" encoding="utf-8"?>
<p:tagLst xmlns:p="http://schemas.openxmlformats.org/presentationml/2006/main">
  <p:tag name="KSO_WM_DIAGRAM_VIRTUALLY_FRAME" val="{&quot;height&quot;:319.4429130554199,&quot;left&quot;:255.25,&quot;top&quot;:157.15,&quot;width&quot;:560.5}"/>
</p:tagLst>
</file>

<file path=ppt/tags/tag92.xml><?xml version="1.0" encoding="utf-8"?>
<p:tagLst xmlns:p="http://schemas.openxmlformats.org/presentationml/2006/main">
  <p:tag name="KSO_WM_DIAGRAM_VIRTUALLY_FRAME" val="{&quot;height&quot;:319.4429130554199,&quot;left&quot;:255.25,&quot;top&quot;:157.15,&quot;width&quot;:560.5}"/>
</p:tagLst>
</file>

<file path=ppt/tags/tag93.xml><?xml version="1.0" encoding="utf-8"?>
<p:tagLst xmlns:p="http://schemas.openxmlformats.org/presentationml/2006/main">
  <p:tag name="KSO_WM_DIAGRAM_VIRTUALLY_FRAME" val="{&quot;height&quot;:319.4429130554199,&quot;left&quot;:255.25,&quot;top&quot;:157.15,&quot;width&quot;:560.5}"/>
</p:tagLst>
</file>

<file path=ppt/tags/tag94.xml><?xml version="1.0" encoding="utf-8"?>
<p:tagLst xmlns:p="http://schemas.openxmlformats.org/presentationml/2006/main">
  <p:tag name="KSO_WM_DIAGRAM_VIRTUALLY_FRAME" val="{&quot;height&quot;:319.4429130554199,&quot;left&quot;:255.25,&quot;top&quot;:157.15,&quot;width&quot;:560.5}"/>
</p:tagLst>
</file>

<file path=ppt/tags/tag95.xml><?xml version="1.0" encoding="utf-8"?>
<p:tagLst xmlns:p="http://schemas.openxmlformats.org/presentationml/2006/main">
  <p:tag name="KSO_WM_FULL_TEXT_BEAUTIFY_COPY_ID" val="9"/>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FULL_TEXT_BEAUTIFY_COPY_ID" val="9"/>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FULL_TEXT_BEAUTIFY_COPY_ID" val="9"/>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DIAGRAM_VIRTUALLY_FRAME" val="{&quot;height&quot;:319.4429130554199,&quot;left&quot;:255.25,&quot;top&quot;:157.15,&quot;width&quot;:560.5}"/>
</p:tagLst>
</file>

<file path=ppt/tags/tag105.xml><?xml version="1.0" encoding="utf-8"?>
<p:tagLst xmlns:p="http://schemas.openxmlformats.org/presentationml/2006/main">
  <p:tag name="KSO_WM_DIAGRAM_VIRTUALLY_FRAME" val="{&quot;height&quot;:319.4429130554199,&quot;left&quot;:255.25,&quot;top&quot;:157.15,&quot;width&quot;:560.5}"/>
</p:tagLst>
</file>

<file path=ppt/tags/tag106.xml><?xml version="1.0" encoding="utf-8"?>
<p:tagLst xmlns:p="http://schemas.openxmlformats.org/presentationml/2006/main">
  <p:tag name="KSO_WM_DIAGRAM_VIRTUALLY_FRAME" val="{&quot;height&quot;:319.4429130554199,&quot;left&quot;:255.25,&quot;top&quot;:157.15,&quot;width&quot;:560.5}"/>
</p:tagLst>
</file>

<file path=ppt/tags/tag107.xml><?xml version="1.0" encoding="utf-8"?>
<p:tagLst xmlns:p="http://schemas.openxmlformats.org/presentationml/2006/main">
  <p:tag name="KSO_WM_DIAGRAM_VIRTUALLY_FRAME" val="{&quot;height&quot;:319.4429130554199,&quot;left&quot;:255.25,&quot;top&quot;:157.15,&quot;width&quot;:560.5}"/>
</p:tagLst>
</file>

<file path=ppt/tags/tag108.xml><?xml version="1.0" encoding="utf-8"?>
<p:tagLst xmlns:p="http://schemas.openxmlformats.org/presentationml/2006/main">
  <p:tag name="KSO_WM_DIAGRAM_VIRTUALLY_FRAME" val="{&quot;height&quot;:319.4429130554199,&quot;left&quot;:255.25,&quot;top&quot;:157.15,&quot;width&quot;:560.5}"/>
</p:tagLst>
</file>

<file path=ppt/tags/tag109.xml><?xml version="1.0" encoding="utf-8"?>
<p:tagLst xmlns:p="http://schemas.openxmlformats.org/presentationml/2006/main">
  <p:tag name="KSO_WM_DIAGRAM_VIRTUALLY_FRAME" val="{&quot;height&quot;:319.4429130554199,&quot;left&quot;:255.25,&quot;top&quot;:157.15,&quot;width&quot;:560.5}"/>
</p:tagLst>
</file>

<file path=ppt/tags/tag110.xml><?xml version="1.0" encoding="utf-8"?>
<p:tagLst xmlns:p="http://schemas.openxmlformats.org/presentationml/2006/main">
  <p:tag name="KSO_WM_DIAGRAM_VIRTUALLY_FRAME" val="{&quot;height&quot;:319.4429130554199,&quot;left&quot;:255.25,&quot;top&quot;:157.15,&quot;width&quot;:560.5}"/>
</p:tagLst>
</file>

<file path=ppt/tags/tag111.xml><?xml version="1.0" encoding="utf-8"?>
<p:tagLst xmlns:p="http://schemas.openxmlformats.org/presentationml/2006/main">
  <p:tag name="KSO_WM_DIAGRAM_VIRTUALLY_FRAME" val="{&quot;height&quot;:319.4429130554199,&quot;left&quot;:255.25,&quot;top&quot;:157.15,&quot;width&quot;:560.5}"/>
</p:tagLst>
</file>

<file path=ppt/tags/tag112.xml><?xml version="1.0" encoding="utf-8"?>
<p:tagLst xmlns:p="http://schemas.openxmlformats.org/presentationml/2006/main">
  <p:tag name="KSO_WM_DIAGRAM_VIRTUALLY_FRAME" val="{&quot;height&quot;:319.4429130554199,&quot;left&quot;:255.25,&quot;top&quot;:157.15,&quot;width&quot;:560.5}"/>
</p:tagLst>
</file>

<file path=ppt/tags/tag113.xml><?xml version="1.0" encoding="utf-8"?>
<p:tagLst xmlns:p="http://schemas.openxmlformats.org/presentationml/2006/main">
  <p:tag name="KSO_WM_DIAGRAM_VIRTUALLY_FRAME" val="{&quot;height&quot;:319.4429130554199,&quot;left&quot;:255.25,&quot;top&quot;:157.15,&quot;width&quot;:560.5}"/>
</p:tagLst>
</file>

<file path=ppt/tags/tag114.xml><?xml version="1.0" encoding="utf-8"?>
<p:tagLst xmlns:p="http://schemas.openxmlformats.org/presentationml/2006/main">
  <p:tag name="KSO_WM_DIAGRAM_VIRTUALLY_FRAME" val="{&quot;height&quot;:319.4429130554199,&quot;left&quot;:255.25,&quot;top&quot;:157.15,&quot;width&quot;:560.5}"/>
</p:tagLst>
</file>

<file path=ppt/tags/tag115.xml><?xml version="1.0" encoding="utf-8"?>
<p:tagLst xmlns:p="http://schemas.openxmlformats.org/presentationml/2006/main">
  <p:tag name="KSO_WM_DIAGRAM_VIRTUALLY_FRAME" val="{&quot;height&quot;:319.4429130554199,&quot;left&quot;:255.25,&quot;top&quot;:157.15,&quot;width&quot;:560.5}"/>
</p:tagLst>
</file>

<file path=ppt/tags/tag116.xml><?xml version="1.0" encoding="utf-8"?>
<p:tagLst xmlns:p="http://schemas.openxmlformats.org/presentationml/2006/main">
  <p:tag name="KSO_WM_DIAGRAM_VIRTUALLY_FRAME" val="{&quot;height&quot;:319.4429130554199,&quot;left&quot;:255.25,&quot;top&quot;:157.15,&quot;width&quot;:560.5}"/>
</p:tagLst>
</file>

<file path=ppt/tags/tag117.xml><?xml version="1.0" encoding="utf-8"?>
<p:tagLst xmlns:p="http://schemas.openxmlformats.org/presentationml/2006/main">
  <p:tag name="KSO_WM_DIAGRAM_VIRTUALLY_FRAME" val="{&quot;height&quot;:319.4429130554199,&quot;left&quot;:255.25,&quot;top&quot;:157.15,&quot;width&quot;:560.5}"/>
</p:tagLst>
</file>

<file path=ppt/tags/tag118.xml><?xml version="1.0" encoding="utf-8"?>
<p:tagLst xmlns:p="http://schemas.openxmlformats.org/presentationml/2006/main">
  <p:tag name="KSO_WM_DIAGRAM_VIRTUALLY_FRAME" val="{&quot;height&quot;:319.4429130554199,&quot;left&quot;:255.25,&quot;top&quot;:157.15,&quot;width&quot;:560.5}"/>
</p:tagLst>
</file>

<file path=ppt/tags/tag119.xml><?xml version="1.0" encoding="utf-8"?>
<p:tagLst xmlns:p="http://schemas.openxmlformats.org/presentationml/2006/main">
  <p:tag name="KSO_WM_DIAGRAM_VIRTUALLY_FRAME" val="{&quot;height&quot;:319.4429130554199,&quot;left&quot;:255.25,&quot;top&quot;:157.15,&quot;width&quot;:560.5}"/>
</p:tagLst>
</file>

<file path=ppt/tags/tag120.xml><?xml version="1.0" encoding="utf-8"?>
<p:tagLst xmlns:p="http://schemas.openxmlformats.org/presentationml/2006/main">
  <p:tag name="KSO_WM_DIAGRAM_VIRTUALLY_FRAME" val="{&quot;height&quot;:319.4429130554199,&quot;left&quot;:255.25,&quot;top&quot;:157.15,&quot;width&quot;:560.5}"/>
</p:tagLst>
</file>

<file path=ppt/tags/tag121.xml><?xml version="1.0" encoding="utf-8"?>
<p:tagLst xmlns:p="http://schemas.openxmlformats.org/presentationml/2006/main">
  <p:tag name="KSO_WM_DIAGRAM_VIRTUALLY_FRAME" val="{&quot;height&quot;:319.4429130554199,&quot;left&quot;:255.25,&quot;top&quot;:157.15,&quot;width&quot;:560.5}"/>
</p:tagLst>
</file>

<file path=ppt/tags/tag122.xml><?xml version="1.0" encoding="utf-8"?>
<p:tagLst xmlns:p="http://schemas.openxmlformats.org/presentationml/2006/main">
  <p:tag name="KSO_WM_DIAGRAM_VIRTUALLY_FRAME" val="{&quot;height&quot;:319.4429130554199,&quot;left&quot;:255.25,&quot;top&quot;:157.15,&quot;width&quot;:560.5}"/>
</p:tagLst>
</file>

<file path=ppt/tags/tag123.xml><?xml version="1.0" encoding="utf-8"?>
<p:tagLst xmlns:p="http://schemas.openxmlformats.org/presentationml/2006/main">
  <p:tag name="KSO_WM_DIAGRAM_VIRTUALLY_FRAME" val="{&quot;height&quot;:319.4429130554199,&quot;left&quot;:255.25,&quot;top&quot;:157.15,&quot;width&quot;:560.5}"/>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FULL_TEXT_BEAUTIFY_COPY_ID" val="9"/>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FULL_TEXT_BEAUTIFY_COPY_ID" val="9"/>
  <p:tag name="KSO_WM_BEAUTIFY_FLAG" val=""/>
</p:tagLst>
</file>

<file path=ppt/tags/tag128.xml><?xml version="1.0" encoding="utf-8"?>
<p:tagLst xmlns:p="http://schemas.openxmlformats.org/presentationml/2006/main">
  <p:tag name="KSO_WM_DIAGRAM_VIRTUALLY_FRAME" val="{&quot;height&quot;:319.4429130554199,&quot;left&quot;:255.25,&quot;top&quot;:157.15,&quot;width&quot;:560.5}"/>
</p:tagLst>
</file>

<file path=ppt/tags/tag129.xml><?xml version="1.0" encoding="utf-8"?>
<p:tagLst xmlns:p="http://schemas.openxmlformats.org/presentationml/2006/main">
  <p:tag name="KSO_WM_DIAGRAM_VIRTUALLY_FRAME" val="{&quot;height&quot;:319.4429130554199,&quot;left&quot;:255.25,&quot;top&quot;:157.15,&quot;width&quot;:560.5}"/>
</p:tagLst>
</file>

<file path=ppt/tags/tag130.xml><?xml version="1.0" encoding="utf-8"?>
<p:tagLst xmlns:p="http://schemas.openxmlformats.org/presentationml/2006/main">
  <p:tag name="KSO_WM_DIAGRAM_VIRTUALLY_FRAME" val="{&quot;height&quot;:319.4429130554199,&quot;left&quot;:255.25,&quot;top&quot;:157.15,&quot;width&quot;:560.5}"/>
</p:tagLst>
</file>

<file path=ppt/tags/tag131.xml><?xml version="1.0" encoding="utf-8"?>
<p:tagLst xmlns:p="http://schemas.openxmlformats.org/presentationml/2006/main">
  <p:tag name="KSO_WM_DIAGRAM_VIRTUALLY_FRAME" val="{&quot;height&quot;:319.4429130554199,&quot;left&quot;:255.25,&quot;top&quot;:157.15,&quot;width&quot;:560.5}"/>
</p:tagLst>
</file>

<file path=ppt/tags/tag132.xml><?xml version="1.0" encoding="utf-8"?>
<p:tagLst xmlns:p="http://schemas.openxmlformats.org/presentationml/2006/main">
  <p:tag name="KSO_WM_DIAGRAM_VIRTUALLY_FRAME" val="{&quot;height&quot;:319.4429130554199,&quot;left&quot;:255.25,&quot;top&quot;:157.15,&quot;width&quot;:560.5}"/>
</p:tagLst>
</file>

<file path=ppt/tags/tag133.xml><?xml version="1.0" encoding="utf-8"?>
<p:tagLst xmlns:p="http://schemas.openxmlformats.org/presentationml/2006/main">
  <p:tag name="KSO_WM_DIAGRAM_VIRTUALLY_FRAME" val="{&quot;height&quot;:319.4429130554199,&quot;left&quot;:255.25,&quot;top&quot;:157.15,&quot;width&quot;:560.5}"/>
</p:tagLst>
</file>

<file path=ppt/tags/tag134.xml><?xml version="1.0" encoding="utf-8"?>
<p:tagLst xmlns:p="http://schemas.openxmlformats.org/presentationml/2006/main">
  <p:tag name="KSO_WM_DIAGRAM_VIRTUALLY_FRAME" val="{&quot;height&quot;:319.4429130554199,&quot;left&quot;:255.25,&quot;top&quot;:157.15,&quot;width&quot;:560.5}"/>
</p:tagLst>
</file>

<file path=ppt/tags/tag135.xml><?xml version="1.0" encoding="utf-8"?>
<p:tagLst xmlns:p="http://schemas.openxmlformats.org/presentationml/2006/main">
  <p:tag name="KSO_WM_DIAGRAM_VIRTUALLY_FRAME" val="{&quot;height&quot;:319.4429130554199,&quot;left&quot;:255.25,&quot;top&quot;:157.15,&quot;width&quot;:560.5}"/>
</p:tagLst>
</file>

<file path=ppt/tags/tag136.xml><?xml version="1.0" encoding="utf-8"?>
<p:tagLst xmlns:p="http://schemas.openxmlformats.org/presentationml/2006/main">
  <p:tag name="KSO_WM_DIAGRAM_VIRTUALLY_FRAME" val="{&quot;height&quot;:319.4429130554199,&quot;left&quot;:255.25,&quot;top&quot;:157.15,&quot;width&quot;:560.5}"/>
</p:tagLst>
</file>

<file path=ppt/tags/tag137.xml><?xml version="1.0" encoding="utf-8"?>
<p:tagLst xmlns:p="http://schemas.openxmlformats.org/presentationml/2006/main">
  <p:tag name="KSO_WM_DIAGRAM_VIRTUALLY_FRAME" val="{&quot;height&quot;:319.4429130554199,&quot;left&quot;:255.25,&quot;top&quot;:157.15,&quot;width&quot;:560.5}"/>
</p:tagLst>
</file>

<file path=ppt/tags/tag138.xml><?xml version="1.0" encoding="utf-8"?>
<p:tagLst xmlns:p="http://schemas.openxmlformats.org/presentationml/2006/main">
  <p:tag name="KSO_WM_DIAGRAM_VIRTUALLY_FRAME" val="{&quot;height&quot;:319.4429130554199,&quot;left&quot;:255.25,&quot;top&quot;:157.15,&quot;width&quot;:560.5}"/>
</p:tagLst>
</file>

<file path=ppt/tags/tag139.xml><?xml version="1.0" encoding="utf-8"?>
<p:tagLst xmlns:p="http://schemas.openxmlformats.org/presentationml/2006/main">
  <p:tag name="KSO_WM_DIAGRAM_VIRTUALLY_FRAME" val="{&quot;height&quot;:319.4429130554199,&quot;left&quot;:255.25,&quot;top&quot;:157.15,&quot;width&quot;:560.5}"/>
</p:tagLst>
</file>

<file path=ppt/tags/tag140.xml><?xml version="1.0" encoding="utf-8"?>
<p:tagLst xmlns:p="http://schemas.openxmlformats.org/presentationml/2006/main">
  <p:tag name="KSO_WM_DIAGRAM_VIRTUALLY_FRAME" val="{&quot;height&quot;:319.4429130554199,&quot;left&quot;:255.25,&quot;top&quot;:157.15,&quot;width&quot;:560.5}"/>
</p:tagLst>
</file>

<file path=ppt/tags/tag141.xml><?xml version="1.0" encoding="utf-8"?>
<p:tagLst xmlns:p="http://schemas.openxmlformats.org/presentationml/2006/main">
  <p:tag name="KSO_WM_DIAGRAM_VIRTUALLY_FRAME" val="{&quot;height&quot;:319.4429130554199,&quot;left&quot;:255.25,&quot;top&quot;:157.15,&quot;width&quot;:560.5}"/>
</p:tagLst>
</file>

<file path=ppt/tags/tag142.xml><?xml version="1.0" encoding="utf-8"?>
<p:tagLst xmlns:p="http://schemas.openxmlformats.org/presentationml/2006/main">
  <p:tag name="KSO_WM_DIAGRAM_VIRTUALLY_FRAME" val="{&quot;height&quot;:319.4429130554199,&quot;left&quot;:255.25,&quot;top&quot;:157.15,&quot;width&quot;:560.5}"/>
</p:tagLst>
</file>

<file path=ppt/tags/tag143.xml><?xml version="1.0" encoding="utf-8"?>
<p:tagLst xmlns:p="http://schemas.openxmlformats.org/presentationml/2006/main">
  <p:tag name="KSO_WM_DIAGRAM_VIRTUALLY_FRAME" val="{&quot;height&quot;:319.4429130554199,&quot;left&quot;:255.25,&quot;top&quot;:157.15,&quot;width&quot;:560.5}"/>
</p:tagLst>
</file>

<file path=ppt/tags/tag144.xml><?xml version="1.0" encoding="utf-8"?>
<p:tagLst xmlns:p="http://schemas.openxmlformats.org/presentationml/2006/main">
  <p:tag name="KSO_WM_DIAGRAM_VIRTUALLY_FRAME" val="{&quot;height&quot;:319.4429130554199,&quot;left&quot;:255.25,&quot;top&quot;:157.15,&quot;width&quot;:560.5}"/>
</p:tagLst>
</file>

<file path=ppt/tags/tag145.xml><?xml version="1.0" encoding="utf-8"?>
<p:tagLst xmlns:p="http://schemas.openxmlformats.org/presentationml/2006/main">
  <p:tag name="KSO_WM_DIAGRAM_VIRTUALLY_FRAME" val="{&quot;height&quot;:319.4429130554199,&quot;left&quot;:255.25,&quot;top&quot;:157.15,&quot;width&quot;:560.5}"/>
</p:tagLst>
</file>

<file path=ppt/tags/tag146.xml><?xml version="1.0" encoding="utf-8"?>
<p:tagLst xmlns:p="http://schemas.openxmlformats.org/presentationml/2006/main">
  <p:tag name="KSO_WM_DIAGRAM_VIRTUALLY_FRAME" val="{&quot;height&quot;:319.4429130554199,&quot;left&quot;:255.25,&quot;top&quot;:157.15,&quot;width&quot;:560.5}"/>
</p:tagLst>
</file>

<file path=ppt/tags/tag147.xml><?xml version="1.0" encoding="utf-8"?>
<p:tagLst xmlns:p="http://schemas.openxmlformats.org/presentationml/2006/main">
  <p:tag name="KSO_WM_DIAGRAM_VIRTUALLY_FRAME" val="{&quot;height&quot;:319.4429130554199,&quot;left&quot;:255.25,&quot;top&quot;:157.15,&quot;width&quot;:560.5}"/>
</p:tagLst>
</file>

<file path=ppt/tags/tag148.xml><?xml version="1.0" encoding="utf-8"?>
<p:tagLst xmlns:p="http://schemas.openxmlformats.org/presentationml/2006/main">
  <p:tag name="KSO_WM_FULL_TEXT_BEAUTIFY_COPY_ID" val="9"/>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1_1*l_h_y*"/>
  <p:tag name="KSO_WM_SLIDE_FIGMA_DIAGRAM" val="1"/>
  <p:tag name="KSO_WM_UNIT_INDEX" val="1_1_1"/>
  <p:tag name="KSO_WM_UNIT_TYPE" val="l_h_i"/>
  <p:tag name="KSO_WM_CARDGROUP_LAYOUT_DATA" val="{&quot;cardRct&quot;:[1572,2776,2958.8,5867],&quot;lytRct&quot;:[1572,2776,16074,5867],&quot;rct&quot;:[1572,2776,16074,5867],&quot;spRct&quot;:[0,0,2958,5866]}"/>
</p:tagLst>
</file>

<file path=ppt/tags/tag152.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1_1*l_h_x*"/>
  <p:tag name="KSO_WM_SLIDE_FIGMA_DIAGRAM" val="1"/>
  <p:tag name="KSO_WM_UNIT_INDEX" val="1_1_2"/>
  <p:tag name="KSO_WM_UNIT_TYPE" val="l_h_i"/>
  <p:tag name="KSO_WM_CARDGROUP_LAYOUT_DATA" val="{&quot;cardRct&quot;:[1572,2776,2958.8,5867],&quot;lytRct&quot;:[1572,2776,16074,5867],&quot;rct&quot;:[1572,2776,16074,5867],&quot;spRct&quot;:[999,463,1959,1423]}"/>
</p:tagLst>
</file>

<file path=ppt/tags/tag153.xml><?xml version="1.0" encoding="utf-8"?>
<p:tagLst xmlns:p="http://schemas.openxmlformats.org/presentationml/2006/main">
  <p:tag name="KSO_WM_ICON_DRAW_MD4" val="04df74c3ad947ed48a84bfef5acddbcb"/>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1_1"/>
  <p:tag name="KSO_WM_UNIT_TYPE" val="l_h_x"/>
  <p:tag name="KSO_WM_UNIT_PRESET_IMAGE_MD4" val="UnK8N9z9rDHEwV7wllurfw=="/>
  <p:tag name="KSO_WM_CARDGROUP_LAYOUT_DATA" val="{&quot;cardRct&quot;:[1572,2776,2958.8,5867],&quot;lytRct&quot;:[1572,2776,16074,5867],&quot;rct&quot;:[1572,2776,16074,5867],&quot;spRct&quot;:[1199,663,1759,1223]}"/>
</p:tagLst>
</file>

<file path=ppt/tags/tag154.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1_1"/>
  <p:tag name="KSO_WM_UNIT_PRESET_TEXT" val="请在此输入您的标题"/>
  <p:tag name="KSO_WM_UNIT_TYPE" val="l_h_a"/>
  <p:tag name="KSO_WM_CARDGROUP_LAYOUT_DATA" val="{&quot;cardRct&quot;:[1572,2776,2958.8,5867],&quot;lytRct&quot;:[1572,2776,16074,5867],&quot;rct&quot;:[1572,2776,16074,5867],&quot;spRct&quot;:[360,1743,2598,2303]}"/>
</p:tagLst>
</file>

<file path=ppt/tags/tag155.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1_1"/>
  <p:tag name="KSO_WM_UNIT_PRESET_TEXT" val="请在此输入您的文本。"/>
  <p:tag name="KSO_WM_UNIT_TYPE" val="l_h_f"/>
  <p:tag name="KSO_WM_CARDGROUP_LAYOUT_DATA" val="{&quot;cardRct&quot;:[1572,2776,2958.8,5867],&quot;lytRct&quot;:[1572,2776,16074,5867],&quot;rct&quot;:[1572,2776,16074,5867],&quot;spRct&quot;:[360,2463,2598,5403]}"/>
</p:tagLst>
</file>

<file path=ppt/tags/tag156.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2_1*l_h_y*"/>
  <p:tag name="KSO_WM_SLIDE_FIGMA_DIAGRAM" val="1"/>
  <p:tag name="KSO_WM_UNIT_INDEX" val="1_2_1"/>
  <p:tag name="KSO_WM_UNIT_TYPE" val="l_h_i"/>
  <p:tag name="KSO_WM_CARDGROUP_LAYOUT_DATA" val="{&quot;cardRct&quot;:[4850.8,2776,2958.8,5867],&quot;lytRct&quot;:[1572,2776,16074,5867],&quot;rct&quot;:[1572,2776,16074,5867],&quot;spRct&quot;:[3278,0,6237,5866]}"/>
</p:tagLst>
</file>

<file path=ppt/tags/tag157.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2_1*l_h_x*"/>
  <p:tag name="KSO_WM_SLIDE_FIGMA_DIAGRAM" val="1"/>
  <p:tag name="KSO_WM_UNIT_INDEX" val="1_2_2"/>
  <p:tag name="KSO_WM_UNIT_TYPE" val="l_h_i"/>
  <p:tag name="KSO_WM_CARDGROUP_LAYOUT_DATA" val="{&quot;cardRct&quot;:[4850.8,2776,2958.8,5867],&quot;lytRct&quot;:[1572,2776,16074,5867],&quot;rct&quot;:[1572,2776,16074,5867],&quot;spRct&quot;:[4278,463,5238,1423]}"/>
</p:tagLst>
</file>

<file path=ppt/tags/tag158.xml><?xml version="1.0" encoding="utf-8"?>
<p:tagLst xmlns:p="http://schemas.openxmlformats.org/presentationml/2006/main">
  <p:tag name="KSO_WM_ICON_DRAW_MD4" val="057bc861ae2130e01d64a328f0666989"/>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2_1"/>
  <p:tag name="KSO_WM_UNIT_TYPE" val="l_h_x"/>
  <p:tag name="KSO_WM_UNIT_PRESET_IMAGE_MD4" val="aZHlZBa7wA9TeNtkAyawww=="/>
  <p:tag name="KSO_WM_CARDGROUP_LAYOUT_DATA" val="{&quot;cardRct&quot;:[4850.8,2776,2958.8,5867],&quot;lytRct&quot;:[1572,2776,16074,5867],&quot;rct&quot;:[1572,2776,16074,5867],&quot;spRct&quot;:[4478,663,5038,1223]}"/>
</p:tagLst>
</file>

<file path=ppt/tags/tag159.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2_1"/>
  <p:tag name="KSO_WM_UNIT_PRESET_TEXT" val="请在此输入您的标题"/>
  <p:tag name="KSO_WM_UNIT_TYPE" val="l_h_a"/>
  <p:tag name="KSO_WM_CARDGROUP_LAYOUT_DATA" val="{&quot;cardRct&quot;:[4850.8,2776,2958.8,5867],&quot;lytRct&quot;:[1572,2776,16074,5867],&quot;rct&quot;:[1572,2776,16074,5867],&quot;spRct&quot;:[3638,1743,5877,2303]}"/>
</p:tagLst>
</file>

<file path=ppt/tags/tag160.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2_1"/>
  <p:tag name="KSO_WM_UNIT_PRESET_TEXT" val="请在此输入您的文本。"/>
  <p:tag name="KSO_WM_UNIT_TYPE" val="l_h_f"/>
  <p:tag name="KSO_WM_CARDGROUP_LAYOUT_DATA" val="{&quot;cardRct&quot;:[4850.8,2776,2958.8,5867],&quot;lytRct&quot;:[1572,2776,16074,5867],&quot;rct&quot;:[1572,2776,16074,5867],&quot;spRct&quot;:[3638,2463,5877,5403]}"/>
</p:tagLst>
</file>

<file path=ppt/tags/tag161.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3_1*l_h_y*"/>
  <p:tag name="KSO_WM_SLIDE_FIGMA_DIAGRAM" val="1"/>
  <p:tag name="KSO_WM_UNIT_INDEX" val="1_3_1"/>
  <p:tag name="KSO_WM_UNIT_TYPE" val="l_h_i"/>
  <p:tag name="KSO_WM_CARDGROUP_LAYOUT_DATA" val="{&quot;cardRct&quot;:[8129.6,2776,2958.8,5867],&quot;lytRct&quot;:[1572,2776,16074,5867],&quot;rct&quot;:[1572,2776,16074,5867],&quot;spRct&quot;:[6557,0,9516,5866]}"/>
</p:tagLst>
</file>

<file path=ppt/tags/tag162.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FOLLOW_SHAPE_UNIT_TAG" val="1_3_1*l_h_x*"/>
  <p:tag name="KSO_WM_SLIDE_FIGMA_DIAGRAM" val="1"/>
  <p:tag name="KSO_WM_UNIT_INDEX" val="1_3_2"/>
  <p:tag name="KSO_WM_UNIT_TYPE" val="l_h_i"/>
  <p:tag name="KSO_WM_CARDGROUP_LAYOUT_DATA" val="{&quot;cardRct&quot;:[8129.6,2776,2958.8,5867],&quot;lytRct&quot;:[1572,2776,16074,5867],&quot;rct&quot;:[1572,2776,16074,5867],&quot;spRct&quot;:[7557,463,8516,1423]}"/>
</p:tagLst>
</file>

<file path=ppt/tags/tag163.xml><?xml version="1.0" encoding="utf-8"?>
<p:tagLst xmlns:p="http://schemas.openxmlformats.org/presentationml/2006/main">
  <p:tag name="KSO_WM_ICON_DRAW_MD4" val="25857cf22980ec3213e59aba32425a66"/>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3_1"/>
  <p:tag name="KSO_WM_UNIT_TYPE" val="l_h_x"/>
  <p:tag name="KSO_WM_UNIT_PRESET_IMAGE_MD4" val="0Y3SQrsWwTwd7cPjDTZYqg=="/>
  <p:tag name="KSO_WM_CARDGROUP_LAYOUT_DATA" val="{&quot;cardRct&quot;:[8129.6,2776,2958.8,5867],&quot;lytRct&quot;:[1572,2776,16074,5867],&quot;rct&quot;:[1572,2776,16074,5867],&quot;spRct&quot;:[7757,663,8317,1223]}"/>
</p:tagLst>
</file>

<file path=ppt/tags/tag164.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3_1"/>
  <p:tag name="KSO_WM_UNIT_PRESET_TEXT" val="请在此输入您的标题"/>
  <p:tag name="KSO_WM_UNIT_TYPE" val="l_h_a"/>
  <p:tag name="KSO_WM_CARDGROUP_LAYOUT_DATA" val="{&quot;cardRct&quot;:[8129.6,2776,2958.8,5867],&quot;lytRct&quot;:[1572,2776,16074,5867],&quot;rct&quot;:[1572,2776,16074,5867],&quot;spRct&quot;:[6917,1743,9156,2303]}"/>
</p:tagLst>
</file>

<file path=ppt/tags/tag165.xml><?xml version="1.0" encoding="utf-8"?>
<p:tagLst xmlns:p="http://schemas.openxmlformats.org/presentationml/2006/main">
  <p:tag name="KSO_WM_BEAUTIFY_FLAG" val="#wm#"/>
  <p:tag name="KSO_WM_CARDGROUP_FEATURE" val="2*3*6*1*1"/>
  <p:tag name="KSO_WM_CARDGROUP_ID" val="fcf8259bea7341d5a020d3dfac1be0b4"/>
  <p:tag name="KSO_WM_CARDGROUP_REVERSE_POSITION" val="0"/>
  <p:tag name="KSO_WM_CARDGROUP_STYLE_INFO" val="C2_sc_p1*rounded*0"/>
  <p:tag name="KSO_WM_FIGMA_FLAG" val="#fgm#"/>
  <p:tag name="KSO_WM_SLIDE_FIGMA_DIAGRAM" val="1"/>
  <p:tag name="KSO_WM_UNIT_INDEX" val="1_3_1"/>
  <p:tag name="KSO_WM_UNIT_PRESET_TEXT" val="请在此输入您的文本。"/>
  <p:tag name="KSO_WM_UNIT_TYPE" val="l_h_f"/>
  <p:tag name="KSO_WM_CARDGROUP_LAYOUT_DATA" val="{&quot;cardRct&quot;:[8129.6,2776,2958.8,5867],&quot;lytRct&quot;:[1572,2776,16074,5867],&quot;rct&quot;:[1572,2776,16074,5867],&quot;spRct&quot;:[6917,2463,9156,5403]}"/>
</p:tagLst>
</file>

<file path=ppt/tags/tag166.xml><?xml version="1.0" encoding="utf-8"?>
<p:tagLst xmlns:p="http://schemas.openxmlformats.org/presentationml/2006/main">
  <p:tag name="KSO_WM_SLIDE_ITEM_CNT" val="2"/>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5419</Words>
  <Application>WPS 演示</Application>
  <PresentationFormat/>
  <Paragraphs>437</Paragraphs>
  <Slides>26</Slides>
  <Notes>0</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26</vt:i4>
      </vt:variant>
    </vt:vector>
  </HeadingPairs>
  <TitlesOfParts>
    <vt:vector size="43" baseType="lpstr">
      <vt:lpstr>Arial</vt:lpstr>
      <vt:lpstr>宋体</vt:lpstr>
      <vt:lpstr>Wingdings</vt:lpstr>
      <vt:lpstr>Arial</vt:lpstr>
      <vt:lpstr>微软雅黑</vt:lpstr>
      <vt:lpstr>Noto Sans SC</vt:lpstr>
      <vt:lpstr>黑体</vt:lpstr>
      <vt:lpstr>Times New Roman</vt:lpstr>
      <vt:lpstr>方正仿宋_GBK</vt:lpstr>
      <vt:lpstr>Arial Unicode MS</vt:lpstr>
      <vt:lpstr>Wingdings</vt:lpstr>
      <vt:lpstr>等线</vt:lpstr>
      <vt:lpstr>等线 Light</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良书</cp:lastModifiedBy>
  <cp:revision>11</cp:revision>
  <dcterms:created xsi:type="dcterms:W3CDTF">2026-05-13T07:17:00Z</dcterms:created>
  <dcterms:modified xsi:type="dcterms:W3CDTF">2026-05-19T07:30:30Z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52330483DE3148CD94324843FBFB59EF_12</vt:lpwstr>
  </property>
</Properties>
</file>